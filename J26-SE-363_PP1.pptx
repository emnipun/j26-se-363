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Lst>
  <p:notesMasterIdLst>
    <p:notesMasterId r:id="rId23"/>
  </p:notesMasterIdLst>
  <p:sldSz cx="12191695" cy="6858000"/>
  <p:notesSz cx="6858000" cy="12191695"/>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notesMaster" Target="notesMasters/notesMaster1.xml"/><Relationship Id="rId24" Type="http://schemas.openxmlformats.org/officeDocument/2006/relationships/presProps" Target="presProps.xml"/><Relationship Id="rId25" Type="http://schemas.openxmlformats.org/officeDocument/2006/relationships/viewProps" Target="viewProps.xml"/><Relationship Id="rId26" Type="http://schemas.openxmlformats.org/officeDocument/2006/relationships/theme" Target="theme/theme1.xml"/><Relationship Id="rId27"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morning. We are group J26-SE-363, presenting Progress Presentation 1 on a multi-agent generative-AI framework that supports software-engineering project-based learning and lecturer monitoring. I am [your name]; with me are my team members. Our supervisor is Dr. Kalpani Manathunga and our co-supervisor is Ms. Aparna Jayawardane. Over the next five minutes we cover the overall project, then each of us presents our individual component for two minutes. (~20s)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At the proposal viva the panel’s main challenge was whether this is genuinely multi-agent or just static workflows. We now define each component as an autonomous agent with its own goal, tools, memory and decision-making, coordinated over a message bus — the architecture slide makes that explicit. We also added a concrete validation plan, scoped MCP to controlled tool access, clarified the LLM-as-Judge placement, and rebuilt the deck to be explained rather than read. (~45s)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Team software-engineering projects break down in four recurring ways. First, students write untestable requirements and plan poorly. Second, they have no context-aware help when they hit blockers. Third, team grading hides who actually did the work. Fourth, security is barely assessed, so vulnerabilities ship. The impact compounds across every team: lower learning quality, unfair accountability, and graduates who are less industry-ready. (~50s)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Three groups feel this problem. Students face unguided planning and unfair grading, and gain context-aware support and fairer, evidence-based grades. Instructors carry a heavy monitoring load and struggle to assess individuals; they gain automated Git and Scrum evidence and faster decisions. Higher-ed and industry struggle with grading scale and weak security focus, and benefit from scalable, objective evaluation and security-aware, industry-ready graduates. (~40s)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Our solution is one coordinated framework of four autonomous agents — requirements and planning, adaptive tutor, performance assessment, and security — that communicate over an agent message bus. Crucially, they all read and write a single shared project context: requirements, plans, sprint tasks, GitHub activity, source code, docs and assessment data. That shared context is what makes the framework integrated, context-aware, evidence-based and scalable — and what distinguishes true agents from isolated scripts. (~55s)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a short demo of the current prototype. [Play the 1–2 minute video, or ask the panel to scan the QR code.] Replace the placeholder with your final video link and generated QR before the viva. (~20s)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That completes the overall project. We now move to the individual components — two minutes each, in this order: requirements and planning, performance assessment, adaptive tutor, and security.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My component improves requirement quality and project planning. Students often write untestable requirements and plan without proper decomposition. My agents analyse requirement quality, decompose work, and estimate effort. The novelty is DART — a Diagnostic Arbitration Routing Technique that decides which specialist agent should handle each diagnostic. (~40s)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sub-problem is weak requirements and planning. I meet user needs with testable-requirement checks, structured decomposition and industry-style effort estimation. The design excellence is DART arbitration plus a quality gate that blocks weak requirements before planning — and, answering the panel, these are autonomous agents with their own tools and decisions, not static workflows. So far the quality and decomposition agents are prototyped, DART routing is defined, and I validate against the TAWOS dataset. (~80s across these two slides)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flow. A student requirement enters the DART router, which performs diagnostic arbitration — deciding which specialist agent handles each issue. The Quality Agent validates testable requirements as a quality gate, the Decomposition Agent breaks work into structured tasks, and the Effort Estimation Agent predicts effort and story points. The output is a planning-ready, testable requirement set. The key point for the panel: these are autonomous agents coordinated by DART, not a fixed script. (~40s)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My component is automated individual performance assessment. Team grading hides who actually did the work. I mine Git and Scrum evidence across seven standardized factors and add active code-comprehension probes. The novelty is hybrid passive–active assessment: passive mining shows what was contributed, active probing shows whether the student understands it. (~40s)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sub-problem is that team grades mask individuals. I meet the need for a fair, explainable per-student grade built from GitHub and Scrum evidence, with the instructor as final decision-maker. The design excellence is the seven-factor model with cohort standardization and learned weights, plus a code-ownership probe using Tree-sitter and CodeBERT at r=0.81. The UI, comprehension interface and dashboard are built; the mining pipeline and models are in progress. On the panel’s point, LLM-as-Judge is used specifically for requirement–code semantic alignment. (~80s)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pipeline mines evidence from GitHub and Scrum, extracts structured feature vectors, scores seven performance factors — effort, consistency, requirement fulfillment, collaboration, task complexity, behavioral pattern, and the novel code-ownership factor — then synthesizes them. We standardize each factor with a z-score, fuse them with empirically learned weights, and produce an explainable individual score with a full breakdown. (~40s)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My component is an adaptive AI tutor. Software-engineering students have continuously changing needs, and current tutors give generic or fragmented help. My tutor builds an evolving, multi-dimensional learner model and uses it to decide the next intervention. The novelty is continuous multi-dimensional personalization across learning, guidance and assessment. (~40s)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sub-problem is fragmented personalization. I meet the need for personalized learning paths, project-aware sprint guidance and adaptive quizzes. The learner state combines knowledge, assessment, behaviour, trends and project context, modelled with Neo4j knowledge graphs and Bayesian Knowledge Tracing, with RAG-grounded content. The learner model and graph schema are designed and the adaptation engine is in progress. Answering the panel, I added a concrete validation plan — pre/post gains, adaptive-vs-non-adaptive, AUC/F1/RMSE — and scoped MCP to controlled tool and data access. (~80s)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Evidence from learning activity, assessment, behaviour and project context feeds a dynamic learner model built on Neo4j knowledge graphs and Bayesian Knowledge Tracing. That evolving, multi-dimensional state drives three adaptive outputs: personalized learning paths, project-aware guidance, and adaptive assessment. It is a continuous loop — each interaction updates the model and changes the next intervention. (~40s)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My component is the security-aware subsystem. Today, scanners report code, dependency and secret issues separately, with no link to the project, and the framework itself reads untrusted repository text. I detect vulnerabilities, trace each to its owner, and protect the agents. The novelty is project-context traceability combined with hybrid deterministic and semantic detection. (~40s)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sub-problem is isolated, untraceable findings and unsafe agents. I meet the need for prioritized findings linked to requirement, sprint, commit and student, with evidence-backed fixes and verified closure on a lecturer dashboard. The design excellence is that deterministic scanners supply the evidence while the LLM only explains and prioritizes, plus governance that protects every agent. Literature review and scope are complete and the threat model is in progress. On the panel’s point, this is genuinely multi-agent — separate detection, understanding and governance agents. (~80s)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subsystem works in three agent stages. Detect: deterministic scanners — CodeQL, dependency and secret scanning — collect normalized evidence. Understand: only relevant code reaches the LLM, which confirms exploitability, maps each finding to its requirement, commit and owner, and builds a comprehension probe. Act: it scores risk, gives an evidence-backed fix, shows a lecturer dashboard, and verifies closure by re-scanning. Scanners decide what is real; the model decides what it means and how to fix it. These are distinct, coordinated agents — which answers the panel’s multi-agent question. (~40s)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Commercially this is a B2B EdTech SaaS. The buyers are deans, department heads and module leaders managing large cohorts with departmental budgets. The market is higher-ed CS and SE programs worldwide, plus bootcamps and corporate upskilling. What is unique is the coordinated framework — DART arbitration, seven-factor explainable scoring with the ownership probe, and project-context security traceability. Cost is recovered through tiered SaaS pricing at over 75% gross margin, breaking even within 18–24 months across 8–10 university pilots. (~45s)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Thank you. We are happy to take questions.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Slide-1-image-1.png"/><Relationship Id="rId2" Type="http://schemas.openxmlformats.org/officeDocument/2006/relationships/image" Target="../media/image-1-2.jpg"/><Relationship Id="rId3" Type="http://schemas.openxmlformats.org/officeDocument/2006/relationships/image" Target="../media/image-1-3.png"/><Relationship Id="rId4" Type="http://schemas.openxmlformats.org/officeDocument/2006/relationships/image" Target="../media/image-1-4.jpg"/><Relationship Id="rId5" Type="http://schemas.openxmlformats.org/officeDocument/2006/relationships/image" Target="../media/image-1-5.jpg"/><Relationship Id="rId6" Type="http://schemas.openxmlformats.org/officeDocument/2006/relationships/image" Target="../media/image-1-6.jpg"/><Relationship Id="rId7" Type="http://schemas.openxmlformats.org/officeDocument/2006/relationships/image" Target="../media/image-1-7.jpg"/><Relationship Id="rId8" Type="http://schemas.openxmlformats.org/officeDocument/2006/relationships/image" Target="../media/image-1-8.jpg"/><Relationship Id="rId9" Type="http://schemas.openxmlformats.org/officeDocument/2006/relationships/image" Target="../media/image-1-9.jpg"/><Relationship Id="rId10" Type="http://schemas.openxmlformats.org/officeDocument/2006/relationships/slideLayout" Target="../slideLayouts/slideLayout1.xml"/><Relationship Id="rId11"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Slide-2-image-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image" Target="../media/image-2-4.png"/><Relationship Id="rId5" Type="http://schemas.openxmlformats.org/officeDocument/2006/relationships/image" Target="../media/image-2-3.png"/><Relationship Id="rId6" Type="http://schemas.openxmlformats.org/officeDocument/2006/relationships/image" Target="../media/image-2-6.png"/><Relationship Id="rId7" Type="http://schemas.openxmlformats.org/officeDocument/2006/relationships/image" Target="../media/image-2-3.png"/><Relationship Id="rId8" Type="http://schemas.openxmlformats.org/officeDocument/2006/relationships/image" Target="../media/image-2-8.png"/><Relationship Id="rId9" Type="http://schemas.openxmlformats.org/officeDocument/2006/relationships/image" Target="../media/image-2-3.png"/><Relationship Id="rId10" Type="http://schemas.openxmlformats.org/officeDocument/2006/relationships/slideLayout" Target="../slideLayouts/slideLayout1.xml"/><Relationship Id="rId11"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Slide-3-image-1.png"/><Relationship Id="rId2" Type="http://schemas.openxmlformats.org/officeDocument/2006/relationships/image" Target="../media/image-3-2.png"/><Relationship Id="rId3" Type="http://schemas.openxmlformats.org/officeDocument/2006/relationships/image" Target="../media/image-3-3.png"/><Relationship Id="rId4" Type="http://schemas.openxmlformats.org/officeDocument/2006/relationships/image" Target="../media/image-3-4.png"/><Relationship Id="rId5" Type="http://schemas.openxmlformats.org/officeDocument/2006/relationships/image" Target="../media/image-3-5.png"/><Relationship Id="rId6" Type="http://schemas.openxmlformats.org/officeDocument/2006/relationships/image" Target="../media/image-3-6.png"/><Relationship Id="rId7" Type="http://schemas.openxmlformats.org/officeDocument/2006/relationships/slideLayout" Target="../slideLayouts/slideLayout1.xml"/><Relationship Id="rId8"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Slide-4-image-1.png"/><Relationship Id="rId2" Type="http://schemas.openxmlformats.org/officeDocument/2006/relationships/image" Target="../media/image-4-2.png"/><Relationship Id="rId3" Type="http://schemas.openxmlformats.org/officeDocument/2006/relationships/image" Target="../media/image-4-3.png"/><Relationship Id="rId4" Type="http://schemas.openxmlformats.org/officeDocument/2006/relationships/image" Target="../media/image-4-3.png"/><Relationship Id="rId5" Type="http://schemas.openxmlformats.org/officeDocument/2006/relationships/image" Target="../media/image-4-5.png"/><Relationship Id="rId6" Type="http://schemas.openxmlformats.org/officeDocument/2006/relationships/image" Target="../media/image-4-3.png"/><Relationship Id="rId7" Type="http://schemas.openxmlformats.org/officeDocument/2006/relationships/image" Target="../media/image-4-3.png"/><Relationship Id="rId8" Type="http://schemas.openxmlformats.org/officeDocument/2006/relationships/image" Target="../media/image-4-8.png"/><Relationship Id="rId9" Type="http://schemas.openxmlformats.org/officeDocument/2006/relationships/image" Target="../media/image-4-3.png"/><Relationship Id="rId10" Type="http://schemas.openxmlformats.org/officeDocument/2006/relationships/image" Target="../media/image-4-3.png"/><Relationship Id="rId11" Type="http://schemas.openxmlformats.org/officeDocument/2006/relationships/slideLayout" Target="../slideLayouts/slideLayout1.xml"/><Relationship Id="rId1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Slide-5-image-1.png"/><Relationship Id="rId2" Type="http://schemas.openxmlformats.org/officeDocument/2006/relationships/image" Target="../media/image-5-2.png"/><Relationship Id="rId3" Type="http://schemas.openxmlformats.org/officeDocument/2006/relationships/image" Target="../media/image-5-3.png"/><Relationship Id="rId4" Type="http://schemas.openxmlformats.org/officeDocument/2006/relationships/image" Target="../media/image-5-4.png"/><Relationship Id="rId5" Type="http://schemas.openxmlformats.org/officeDocument/2006/relationships/image" Target="../media/image-5-5.png"/><Relationship Id="rId6" Type="http://schemas.openxmlformats.org/officeDocument/2006/relationships/image" Target="../media/image-5-6.png"/><Relationship Id="rId7" Type="http://schemas.openxmlformats.org/officeDocument/2006/relationships/image" Target="../media/image-5-7.png"/><Relationship Id="rId8" Type="http://schemas.openxmlformats.org/officeDocument/2006/relationships/image" Target="../media/image-5-8.png"/><Relationship Id="rId9" Type="http://schemas.openxmlformats.org/officeDocument/2006/relationships/image" Target="../media/image-5-9.png"/><Relationship Id="rId10" Type="http://schemas.openxmlformats.org/officeDocument/2006/relationships/image" Target="../media/image-5-10.png"/><Relationship Id="rId11" Type="http://schemas.openxmlformats.org/officeDocument/2006/relationships/slideLayout" Target="../slideLayouts/slideLayout1.xml"/><Relationship Id="rId1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Slide-6-image-1.png"/><Relationship Id="rId2" Type="http://schemas.openxmlformats.org/officeDocument/2006/relationships/image" Target="../media/image-6-2.png"/><Relationship Id="rId3" Type="http://schemas.openxmlformats.org/officeDocument/2006/relationships/image" Target="../media/image-6-3.png"/><Relationship Id="rId4" Type="http://schemas.openxmlformats.org/officeDocument/2006/relationships/slideLayout" Target="../slideLayouts/slideLayout1.xml"/><Relationship Id="rId5"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Slide-7-image-1.png"/><Relationship Id="rId2" Type="http://schemas.openxmlformats.org/officeDocument/2006/relationships/image" Target="../media/image-7-2.png"/><Relationship Id="rId3" Type="http://schemas.openxmlformats.org/officeDocument/2006/relationships/image" Target="../media/image-7-3.jpg"/><Relationship Id="rId4" Type="http://schemas.openxmlformats.org/officeDocument/2006/relationships/image" Target="../media/image-7-2.png"/><Relationship Id="rId5" Type="http://schemas.openxmlformats.org/officeDocument/2006/relationships/image" Target="../media/image-7-5.jpg"/><Relationship Id="rId6" Type="http://schemas.openxmlformats.org/officeDocument/2006/relationships/image" Target="../media/image-7-2.png"/><Relationship Id="rId7" Type="http://schemas.openxmlformats.org/officeDocument/2006/relationships/image" Target="../media/image-7-7.jpg"/><Relationship Id="rId8" Type="http://schemas.openxmlformats.org/officeDocument/2006/relationships/image" Target="../media/image-7-2.png"/><Relationship Id="rId9" Type="http://schemas.openxmlformats.org/officeDocument/2006/relationships/image" Target="../media/image-7-9.jpg"/><Relationship Id="rId10" Type="http://schemas.openxmlformats.org/officeDocument/2006/relationships/slideLayout" Target="../slideLayouts/slideLayout1.xml"/><Relationship Id="rId11"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Slide-8-image-1.png"/><Relationship Id="rId2" Type="http://schemas.openxmlformats.org/officeDocument/2006/relationships/image" Target="../media/image-8-2.jpg"/><Relationship Id="rId3" Type="http://schemas.openxmlformats.org/officeDocument/2006/relationships/image" Target="../media/image-8-3.png"/><Relationship Id="rId4" Type="http://schemas.openxmlformats.org/officeDocument/2006/relationships/image" Target="../media/image-8-4.png"/><Relationship Id="rId5" Type="http://schemas.openxmlformats.org/officeDocument/2006/relationships/image" Target="../media/image-8-5.png"/><Relationship Id="rId6" Type="http://schemas.openxmlformats.org/officeDocument/2006/relationships/image" Target="../media/image-8-6.png"/><Relationship Id="rId7" Type="http://schemas.openxmlformats.org/officeDocument/2006/relationships/slideLayout" Target="../slideLayouts/slideLayout1.xml"/><Relationship Id="rId8"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Slide-9-image-1.png"/><Relationship Id="rId2" Type="http://schemas.openxmlformats.org/officeDocument/2006/relationships/image" Target="../media/image-9-2.jpg"/><Relationship Id="rId3" Type="http://schemas.openxmlformats.org/officeDocument/2006/relationships/image" Target="../media/image-9-3.png"/><Relationship Id="rId4" Type="http://schemas.openxmlformats.org/officeDocument/2006/relationships/image" Target="../media/image-9-4.png"/><Relationship Id="rId5" Type="http://schemas.openxmlformats.org/officeDocument/2006/relationships/image" Target="../media/image-9-5.png"/><Relationship Id="rId6" Type="http://schemas.openxmlformats.org/officeDocument/2006/relationships/image" Target="../media/image-9-5.png"/><Relationship Id="rId7" Type="http://schemas.openxmlformats.org/officeDocument/2006/relationships/image" Target="../media/image-9-5.png"/><Relationship Id="rId8" Type="http://schemas.openxmlformats.org/officeDocument/2006/relationships/image" Target="../media/image-9-8.png"/><Relationship Id="rId9" Type="http://schemas.openxmlformats.org/officeDocument/2006/relationships/image" Target="../media/image-9-5.png"/><Relationship Id="rId10" Type="http://schemas.openxmlformats.org/officeDocument/2006/relationships/image" Target="../media/image-9-5.png"/><Relationship Id="rId11" Type="http://schemas.openxmlformats.org/officeDocument/2006/relationships/image" Target="../media/image-9-5.png"/><Relationship Id="rId12" Type="http://schemas.openxmlformats.org/officeDocument/2006/relationships/image" Target="../media/image-9-12.png"/><Relationship Id="rId13" Type="http://schemas.openxmlformats.org/officeDocument/2006/relationships/image" Target="../media/image-9-13.png"/><Relationship Id="rId14" Type="http://schemas.openxmlformats.org/officeDocument/2006/relationships/image" Target="../media/image-9-13.png"/><Relationship Id="rId15" Type="http://schemas.openxmlformats.org/officeDocument/2006/relationships/image" Target="../media/image-9-13.png"/><Relationship Id="rId16" Type="http://schemas.openxmlformats.org/officeDocument/2006/relationships/slideLayout" Target="../slideLayouts/slideLayout1.xml"/><Relationship Id="rId17"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Slide-10-image-1.png"/><Relationship Id="rId2" Type="http://schemas.openxmlformats.org/officeDocument/2006/relationships/image" Target="../media/image-10-2.jpg"/><Relationship Id="rId3" Type="http://schemas.openxmlformats.org/officeDocument/2006/relationships/image" Target="../media/image-10-3.png"/><Relationship Id="rId4" Type="http://schemas.openxmlformats.org/officeDocument/2006/relationships/image" Target="../media/image-10-4.png"/><Relationship Id="rId5" Type="http://schemas.openxmlformats.org/officeDocument/2006/relationships/image" Target="../media/image-10-5.png"/><Relationship Id="rId6" Type="http://schemas.openxmlformats.org/officeDocument/2006/relationships/image" Target="../media/image-10-6.png"/><Relationship Id="rId7" Type="http://schemas.openxmlformats.org/officeDocument/2006/relationships/image" Target="../media/image-10-7.png"/><Relationship Id="rId8" Type="http://schemas.openxmlformats.org/officeDocument/2006/relationships/image" Target="../media/image-10-8.png"/><Relationship Id="rId9" Type="http://schemas.openxmlformats.org/officeDocument/2006/relationships/slideLayout" Target="../slideLayouts/slideLayout1.xml"/><Relationship Id="rId10"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Slide-11-image-1.png"/><Relationship Id="rId2" Type="http://schemas.openxmlformats.org/officeDocument/2006/relationships/image" Target="../media/image-11-2.jpg"/><Relationship Id="rId3" Type="http://schemas.openxmlformats.org/officeDocument/2006/relationships/image" Target="../media/image-11-3.png"/><Relationship Id="rId4" Type="http://schemas.openxmlformats.org/officeDocument/2006/relationships/image" Target="../media/image-11-4.png"/><Relationship Id="rId5" Type="http://schemas.openxmlformats.org/officeDocument/2006/relationships/image" Target="../media/image-11-5.png"/><Relationship Id="rId6" Type="http://schemas.openxmlformats.org/officeDocument/2006/relationships/image" Target="../media/image-11-6.png"/><Relationship Id="rId7" Type="http://schemas.openxmlformats.org/officeDocument/2006/relationships/slideLayout" Target="../slideLayouts/slideLayout1.xml"/><Relationship Id="rId8"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Slide-12-image-1.png"/><Relationship Id="rId2" Type="http://schemas.openxmlformats.org/officeDocument/2006/relationships/image" Target="../media/image-12-2.jpg"/><Relationship Id="rId3" Type="http://schemas.openxmlformats.org/officeDocument/2006/relationships/image" Target="../media/image-12-3.png"/><Relationship Id="rId4" Type="http://schemas.openxmlformats.org/officeDocument/2006/relationships/image" Target="../media/image-12-4.png"/><Relationship Id="rId5" Type="http://schemas.openxmlformats.org/officeDocument/2006/relationships/image" Target="../media/image-12-5.png"/><Relationship Id="rId6" Type="http://schemas.openxmlformats.org/officeDocument/2006/relationships/image" Target="../media/image-12-5.png"/><Relationship Id="rId7" Type="http://schemas.openxmlformats.org/officeDocument/2006/relationships/image" Target="../media/image-12-5.png"/><Relationship Id="rId8" Type="http://schemas.openxmlformats.org/officeDocument/2006/relationships/image" Target="../media/image-12-8.png"/><Relationship Id="rId9" Type="http://schemas.openxmlformats.org/officeDocument/2006/relationships/image" Target="../media/image-12-5.png"/><Relationship Id="rId10" Type="http://schemas.openxmlformats.org/officeDocument/2006/relationships/image" Target="../media/image-12-5.png"/><Relationship Id="rId11" Type="http://schemas.openxmlformats.org/officeDocument/2006/relationships/image" Target="../media/image-12-5.png"/><Relationship Id="rId12" Type="http://schemas.openxmlformats.org/officeDocument/2006/relationships/image" Target="../media/image-12-12.png"/><Relationship Id="rId13" Type="http://schemas.openxmlformats.org/officeDocument/2006/relationships/image" Target="../media/image-12-13.png"/><Relationship Id="rId14" Type="http://schemas.openxmlformats.org/officeDocument/2006/relationships/image" Target="../media/image-12-13.png"/><Relationship Id="rId15" Type="http://schemas.openxmlformats.org/officeDocument/2006/relationships/image" Target="../media/image-12-13.png"/><Relationship Id="rId16" Type="http://schemas.openxmlformats.org/officeDocument/2006/relationships/slideLayout" Target="../slideLayouts/slideLayout1.xml"/><Relationship Id="rId17"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Slide-13-image-1.png"/><Relationship Id="rId2" Type="http://schemas.openxmlformats.org/officeDocument/2006/relationships/image" Target="../media/image-13-2.jpg"/><Relationship Id="rId3" Type="http://schemas.openxmlformats.org/officeDocument/2006/relationships/image" Target="../media/image-13-3.png"/><Relationship Id="rId4" Type="http://schemas.openxmlformats.org/officeDocument/2006/relationships/image" Target="../media/image-13-4.png"/><Relationship Id="rId5" Type="http://schemas.openxmlformats.org/officeDocument/2006/relationships/image" Target="../media/image-13-5.png"/><Relationship Id="rId6" Type="http://schemas.openxmlformats.org/officeDocument/2006/relationships/image" Target="../media/image-13-6.png"/><Relationship Id="rId7" Type="http://schemas.openxmlformats.org/officeDocument/2006/relationships/slideLayout" Target="../slideLayouts/slideLayout1.xml"/><Relationship Id="rId8"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Slide-14-image-1.png"/><Relationship Id="rId2" Type="http://schemas.openxmlformats.org/officeDocument/2006/relationships/image" Target="../media/image-14-2.jpg"/><Relationship Id="rId3" Type="http://schemas.openxmlformats.org/officeDocument/2006/relationships/image" Target="../media/image-14-3.png"/><Relationship Id="rId4" Type="http://schemas.openxmlformats.org/officeDocument/2006/relationships/image" Target="../media/image-14-4.png"/><Relationship Id="rId5" Type="http://schemas.openxmlformats.org/officeDocument/2006/relationships/image" Target="../media/image-14-5.png"/><Relationship Id="rId6" Type="http://schemas.openxmlformats.org/officeDocument/2006/relationships/image" Target="../media/image-14-6.png"/><Relationship Id="rId7" Type="http://schemas.openxmlformats.org/officeDocument/2006/relationships/slideLayout" Target="../slideLayouts/slideLayout1.xml"/><Relationship Id="rId8"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Slide-15-image-1.png"/><Relationship Id="rId2" Type="http://schemas.openxmlformats.org/officeDocument/2006/relationships/image" Target="../media/image-15-2.jpg"/><Relationship Id="rId3" Type="http://schemas.openxmlformats.org/officeDocument/2006/relationships/image" Target="../media/image-15-3.png"/><Relationship Id="rId4" Type="http://schemas.openxmlformats.org/officeDocument/2006/relationships/image" Target="../media/image-15-4.png"/><Relationship Id="rId5" Type="http://schemas.openxmlformats.org/officeDocument/2006/relationships/image" Target="../media/image-15-5.png"/><Relationship Id="rId6" Type="http://schemas.openxmlformats.org/officeDocument/2006/relationships/image" Target="../media/image-15-5.png"/><Relationship Id="rId7" Type="http://schemas.openxmlformats.org/officeDocument/2006/relationships/image" Target="../media/image-15-5.png"/><Relationship Id="rId8" Type="http://schemas.openxmlformats.org/officeDocument/2006/relationships/image" Target="../media/image-15-8.png"/><Relationship Id="rId9" Type="http://schemas.openxmlformats.org/officeDocument/2006/relationships/image" Target="../media/image-15-5.png"/><Relationship Id="rId10" Type="http://schemas.openxmlformats.org/officeDocument/2006/relationships/image" Target="../media/image-15-5.png"/><Relationship Id="rId11" Type="http://schemas.openxmlformats.org/officeDocument/2006/relationships/image" Target="../media/image-15-5.png"/><Relationship Id="rId12" Type="http://schemas.openxmlformats.org/officeDocument/2006/relationships/image" Target="../media/image-15-12.png"/><Relationship Id="rId13" Type="http://schemas.openxmlformats.org/officeDocument/2006/relationships/image" Target="../media/image-15-13.png"/><Relationship Id="rId14" Type="http://schemas.openxmlformats.org/officeDocument/2006/relationships/image" Target="../media/image-15-13.png"/><Relationship Id="rId15" Type="http://schemas.openxmlformats.org/officeDocument/2006/relationships/image" Target="../media/image-15-13.png"/><Relationship Id="rId16" Type="http://schemas.openxmlformats.org/officeDocument/2006/relationships/slideLayout" Target="../slideLayouts/slideLayout1.xml"/><Relationship Id="rId17"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Slide-16-image-1.png"/><Relationship Id="rId2" Type="http://schemas.openxmlformats.org/officeDocument/2006/relationships/image" Target="../media/image-16-2.jpg"/><Relationship Id="rId3" Type="http://schemas.openxmlformats.org/officeDocument/2006/relationships/image" Target="../media/image-16-3.png"/><Relationship Id="rId4" Type="http://schemas.openxmlformats.org/officeDocument/2006/relationships/image" Target="../media/image-16-4.png"/><Relationship Id="rId5" Type="http://schemas.openxmlformats.org/officeDocument/2006/relationships/image" Target="../media/image-16-5.png"/><Relationship Id="rId6" Type="http://schemas.openxmlformats.org/officeDocument/2006/relationships/image" Target="../media/image-16-6.png"/><Relationship Id="rId7" Type="http://schemas.openxmlformats.org/officeDocument/2006/relationships/image" Target="../media/image-16-7.png"/><Relationship Id="rId8" Type="http://schemas.openxmlformats.org/officeDocument/2006/relationships/slideLayout" Target="../slideLayouts/slideLayout1.xml"/><Relationship Id="rId9"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Slide-17-image-1.png"/><Relationship Id="rId2" Type="http://schemas.openxmlformats.org/officeDocument/2006/relationships/image" Target="../media/image-17-2.jpg"/><Relationship Id="rId3" Type="http://schemas.openxmlformats.org/officeDocument/2006/relationships/image" Target="../media/image-17-3.png"/><Relationship Id="rId4" Type="http://schemas.openxmlformats.org/officeDocument/2006/relationships/image" Target="../media/image-17-4.png"/><Relationship Id="rId5" Type="http://schemas.openxmlformats.org/officeDocument/2006/relationships/image" Target="../media/image-17-5.png"/><Relationship Id="rId6" Type="http://schemas.openxmlformats.org/officeDocument/2006/relationships/image" Target="../media/image-17-6.png"/><Relationship Id="rId7" Type="http://schemas.openxmlformats.org/officeDocument/2006/relationships/slideLayout" Target="../slideLayouts/slideLayout1.xml"/><Relationship Id="rId8"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Slide-18-image-1.png"/><Relationship Id="rId2" Type="http://schemas.openxmlformats.org/officeDocument/2006/relationships/image" Target="../media/image-18-2.jpg"/><Relationship Id="rId3" Type="http://schemas.openxmlformats.org/officeDocument/2006/relationships/image" Target="../media/image-18-3.png"/><Relationship Id="rId4" Type="http://schemas.openxmlformats.org/officeDocument/2006/relationships/image" Target="../media/image-18-4.png"/><Relationship Id="rId5" Type="http://schemas.openxmlformats.org/officeDocument/2006/relationships/image" Target="../media/image-18-5.png"/><Relationship Id="rId6" Type="http://schemas.openxmlformats.org/officeDocument/2006/relationships/image" Target="../media/image-18-5.png"/><Relationship Id="rId7" Type="http://schemas.openxmlformats.org/officeDocument/2006/relationships/image" Target="../media/image-18-5.png"/><Relationship Id="rId8" Type="http://schemas.openxmlformats.org/officeDocument/2006/relationships/image" Target="../media/image-18-8.png"/><Relationship Id="rId9" Type="http://schemas.openxmlformats.org/officeDocument/2006/relationships/image" Target="../media/image-18-5.png"/><Relationship Id="rId10" Type="http://schemas.openxmlformats.org/officeDocument/2006/relationships/image" Target="../media/image-18-5.png"/><Relationship Id="rId11" Type="http://schemas.openxmlformats.org/officeDocument/2006/relationships/image" Target="../media/image-18-5.png"/><Relationship Id="rId12" Type="http://schemas.openxmlformats.org/officeDocument/2006/relationships/image" Target="../media/image-18-12.png"/><Relationship Id="rId13" Type="http://schemas.openxmlformats.org/officeDocument/2006/relationships/image" Target="../media/image-18-13.png"/><Relationship Id="rId14" Type="http://schemas.openxmlformats.org/officeDocument/2006/relationships/image" Target="../media/image-18-13.png"/><Relationship Id="rId15" Type="http://schemas.openxmlformats.org/officeDocument/2006/relationships/image" Target="../media/image-18-13.png"/><Relationship Id="rId16" Type="http://schemas.openxmlformats.org/officeDocument/2006/relationships/slideLayout" Target="../slideLayouts/slideLayout1.xml"/><Relationship Id="rId17"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Slide-19-image-1.png"/><Relationship Id="rId2" Type="http://schemas.openxmlformats.org/officeDocument/2006/relationships/image" Target="../media/image-19-2.jpg"/><Relationship Id="rId3" Type="http://schemas.openxmlformats.org/officeDocument/2006/relationships/image" Target="../media/image-19-3.png"/><Relationship Id="rId4" Type="http://schemas.openxmlformats.org/officeDocument/2006/relationships/image" Target="../media/image-19-4.png"/><Relationship Id="rId5" Type="http://schemas.openxmlformats.org/officeDocument/2006/relationships/image" Target="../media/image-19-5.png"/><Relationship Id="rId6" Type="http://schemas.openxmlformats.org/officeDocument/2006/relationships/slideLayout" Target="../slideLayouts/slideLayout1.xml"/><Relationship Id="rId7"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image" Target="../media/Slide-20-image-1.png"/><Relationship Id="rId2" Type="http://schemas.openxmlformats.org/officeDocument/2006/relationships/image" Target="../media/image-20-2.png"/><Relationship Id="rId3" Type="http://schemas.openxmlformats.org/officeDocument/2006/relationships/image" Target="../media/image-20-3.png"/><Relationship Id="rId4" Type="http://schemas.openxmlformats.org/officeDocument/2006/relationships/image" Target="../media/image-20-3.png"/><Relationship Id="rId5" Type="http://schemas.openxmlformats.org/officeDocument/2006/relationships/image" Target="../media/image-20-3.png"/><Relationship Id="rId6" Type="http://schemas.openxmlformats.org/officeDocument/2006/relationships/image" Target="../media/image-20-6.png"/><Relationship Id="rId7" Type="http://schemas.openxmlformats.org/officeDocument/2006/relationships/image" Target="../media/image-20-3.png"/><Relationship Id="rId8" Type="http://schemas.openxmlformats.org/officeDocument/2006/relationships/image" Target="../media/image-20-3.png"/><Relationship Id="rId9" Type="http://schemas.openxmlformats.org/officeDocument/2006/relationships/image" Target="../media/image-20-3.png"/><Relationship Id="rId10" Type="http://schemas.openxmlformats.org/officeDocument/2006/relationships/image" Target="../media/image-20-10.png"/><Relationship Id="rId11" Type="http://schemas.openxmlformats.org/officeDocument/2006/relationships/image" Target="../media/image-20-3.png"/><Relationship Id="rId12" Type="http://schemas.openxmlformats.org/officeDocument/2006/relationships/image" Target="../media/image-20-3.png"/><Relationship Id="rId13" Type="http://schemas.openxmlformats.org/officeDocument/2006/relationships/image" Target="../media/image-20-3.png"/><Relationship Id="rId14" Type="http://schemas.openxmlformats.org/officeDocument/2006/relationships/image" Target="../media/image-20-14.png"/><Relationship Id="rId15" Type="http://schemas.openxmlformats.org/officeDocument/2006/relationships/image" Target="../media/image-20-3.png"/><Relationship Id="rId16" Type="http://schemas.openxmlformats.org/officeDocument/2006/relationships/image" Target="../media/image-20-3.png"/><Relationship Id="rId17" Type="http://schemas.openxmlformats.org/officeDocument/2006/relationships/image" Target="../media/image-20-3.png"/><Relationship Id="rId18" Type="http://schemas.openxmlformats.org/officeDocument/2006/relationships/slideLayout" Target="../slideLayouts/slideLayout1.xml"/><Relationship Id="rId19"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image" Target="../media/Slide-21-image-1.png"/><Relationship Id="rId2" Type="http://schemas.openxmlformats.org/officeDocument/2006/relationships/image" Target="../media/image-21-2.jpg"/><Relationship Id="rId3" Type="http://schemas.openxmlformats.org/officeDocument/2006/relationships/image" Target="../media/image-21-3.jpg"/><Relationship Id="rId4" Type="http://schemas.openxmlformats.org/officeDocument/2006/relationships/image" Target="../media/image-21-4.jpg"/><Relationship Id="rId5" Type="http://schemas.openxmlformats.org/officeDocument/2006/relationships/image" Target="../media/image-21-5.jpg"/><Relationship Id="rId6" Type="http://schemas.openxmlformats.org/officeDocument/2006/relationships/slideLayout" Target="../slideLayouts/slideLayout1.xml"/><Relationship Id="rId7" Type="http://schemas.openxmlformats.org/officeDocument/2006/relationships/notesSlide" Target="../notesSlides/notesSlide2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Shape 0"/>
          <p:cNvSpPr/>
          <p:nvPr/>
        </p:nvSpPr>
        <p:spPr>
          <a:xfrm>
            <a:off x="566928" y="457200"/>
            <a:ext cx="3246120" cy="914400"/>
          </a:xfrm>
          <a:prstGeom prst="roundRect">
            <a:avLst>
              <a:gd name="adj" fmla="val 12000"/>
            </a:avLst>
          </a:prstGeom>
          <a:solidFill>
            <a:srgbClr val="FFFFFF"/>
          </a:solidFill>
          <a:ln/>
          <a:effectLst>
            <a:outerShdw sx="100000" sy="100000" kx="0" ky="0" algn="bl" rotWithShape="0" blurRad="177800" dist="63500" dir="5400000">
              <a:srgbClr val="0B0920">
                <a:alpha val="45000"/>
              </a:srgbClr>
            </a:outerShdw>
          </a:effectLst>
        </p:spPr>
      </p:sp>
      <p:pic>
        <p:nvPicPr>
          <p:cNvPr id="3" name="Image 0" descr="assets/crest.jpg">    </p:cNvPr>
          <p:cNvPicPr>
            <a:picLocks noChangeAspect="1"/>
          </p:cNvPicPr>
          <p:nvPr/>
        </p:nvPicPr>
        <p:blipFill>
          <a:blip r:embed="rId2"/>
          <a:stretch>
            <a:fillRect/>
          </a:stretch>
        </p:blipFill>
        <p:spPr>
          <a:xfrm>
            <a:off x="731520" y="585216"/>
            <a:ext cx="658368" cy="658368"/>
          </a:xfrm>
          <a:prstGeom prst="rect">
            <a:avLst/>
          </a:prstGeom>
        </p:spPr>
      </p:pic>
      <p:pic>
        <p:nvPicPr>
          <p:cNvPr id="4" name="Image 1" descr="assets/faculty.png">    </p:cNvPr>
          <p:cNvPicPr>
            <a:picLocks noChangeAspect="1"/>
          </p:cNvPicPr>
          <p:nvPr/>
        </p:nvPicPr>
        <p:blipFill>
          <a:blip r:embed="rId3"/>
          <a:stretch>
            <a:fillRect/>
          </a:stretch>
        </p:blipFill>
        <p:spPr>
          <a:xfrm>
            <a:off x="1517904" y="786384"/>
            <a:ext cx="2103120" cy="256032"/>
          </a:xfrm>
          <a:prstGeom prst="rect">
            <a:avLst/>
          </a:prstGeom>
        </p:spPr>
      </p:pic>
      <p:sp>
        <p:nvSpPr>
          <p:cNvPr id="5" name="Shape 1"/>
          <p:cNvSpPr/>
          <p:nvPr/>
        </p:nvSpPr>
        <p:spPr>
          <a:xfrm>
            <a:off x="8686800" y="566928"/>
            <a:ext cx="2926080" cy="457200"/>
          </a:xfrm>
          <a:prstGeom prst="roundRect">
            <a:avLst>
              <a:gd name="adj" fmla="val 50000"/>
            </a:avLst>
          </a:prstGeom>
          <a:solidFill>
            <a:srgbClr val="FFFFFF">
              <a:alpha val="12000"/>
            </a:srgbClr>
          </a:solidFill>
          <a:ln w="12700">
            <a:solidFill>
              <a:srgbClr val="FFFFFF">
                <a:alpha val="40000"/>
              </a:srgbClr>
            </a:solidFill>
            <a:prstDash val="solid"/>
          </a:ln>
        </p:spPr>
      </p:sp>
      <p:sp>
        <p:nvSpPr>
          <p:cNvPr id="6" name="Text 2"/>
          <p:cNvSpPr txBox="1"/>
          <p:nvPr/>
        </p:nvSpPr>
        <p:spPr>
          <a:xfrm>
            <a:off x="8686800" y="566928"/>
            <a:ext cx="2926080" cy="457200"/>
          </a:xfrm>
          <a:prstGeom prst="rect">
            <a:avLst/>
          </a:prstGeom>
          <a:noFill/>
          <a:ln/>
        </p:spPr>
        <p:txBody>
          <a:bodyPr wrap="square" lIns="0" tIns="0" rIns="0" bIns="0" rtlCol="0" anchor="ctr"/>
          <a:lstStyle/>
          <a:p>
            <a:pPr algn="ctr" indent="0" marL="0">
              <a:lnSpc>
                <a:spcPct val="100000"/>
              </a:lnSpc>
              <a:buNone/>
            </a:pPr>
            <a:r>
              <a:rPr lang="en-US" sz="1000" b="1" spc="100" kern="0" dirty="0">
                <a:solidFill>
                  <a:srgbClr val="E7E3FF"/>
                </a:solidFill>
                <a:latin typeface="Calibri" pitchFamily="34" charset="0"/>
                <a:ea typeface="Calibri" pitchFamily="34" charset="-122"/>
                <a:cs typeface="Calibri" pitchFamily="34" charset="-120"/>
              </a:rPr>
              <a:t>PROGRESS PRESENTATION 1  ·  SE-P05</a:t>
            </a:r>
            <a:endParaRPr lang="en-US" sz="1000" dirty="0"/>
          </a:p>
        </p:txBody>
      </p:sp>
      <p:sp>
        <p:nvSpPr>
          <p:cNvPr id="7" name="Text 3"/>
          <p:cNvSpPr txBox="1"/>
          <p:nvPr/>
        </p:nvSpPr>
        <p:spPr>
          <a:xfrm>
            <a:off x="594360" y="1828800"/>
            <a:ext cx="10058400" cy="274320"/>
          </a:xfrm>
          <a:prstGeom prst="rect">
            <a:avLst/>
          </a:prstGeom>
          <a:noFill/>
          <a:ln/>
        </p:spPr>
        <p:txBody>
          <a:bodyPr wrap="square" lIns="0" tIns="0" rIns="0" bIns="0" rtlCol="0" anchor="ctr"/>
          <a:lstStyle/>
          <a:p>
            <a:pPr indent="0" marL="0">
              <a:lnSpc>
                <a:spcPct val="100000"/>
              </a:lnSpc>
              <a:buNone/>
            </a:pPr>
            <a:r>
              <a:rPr lang="en-US" sz="1100" b="1" spc="260" kern="0" dirty="0">
                <a:solidFill>
                  <a:srgbClr val="9FE7C9"/>
                </a:solidFill>
                <a:latin typeface="Calibri" pitchFamily="34" charset="0"/>
                <a:ea typeface="Calibri" pitchFamily="34" charset="-122"/>
                <a:cs typeface="Calibri" pitchFamily="34" charset="-120"/>
              </a:rPr>
              <a:t>PROJECT J26-SE-363   ·   SOFTWARE ENGINEERING</a:t>
            </a:r>
            <a:endParaRPr lang="en-US" sz="1100" dirty="0"/>
          </a:p>
        </p:txBody>
      </p:sp>
      <p:sp>
        <p:nvSpPr>
          <p:cNvPr id="8" name="Text 4"/>
          <p:cNvSpPr txBox="1"/>
          <p:nvPr/>
        </p:nvSpPr>
        <p:spPr>
          <a:xfrm>
            <a:off x="566928" y="2148840"/>
            <a:ext cx="10881360" cy="1463040"/>
          </a:xfrm>
          <a:prstGeom prst="rect">
            <a:avLst/>
          </a:prstGeom>
          <a:noFill/>
          <a:ln/>
        </p:spPr>
        <p:txBody>
          <a:bodyPr wrap="square" lIns="0" tIns="0" rIns="0" bIns="0" rtlCol="0" anchor="ctr"/>
          <a:lstStyle/>
          <a:p>
            <a:pPr indent="0" marL="0">
              <a:lnSpc>
                <a:spcPct val="102000"/>
              </a:lnSpc>
              <a:buNone/>
            </a:pPr>
            <a:r>
              <a:rPr lang="en-US" sz="3300" b="1" dirty="0">
                <a:solidFill>
                  <a:srgbClr val="FFFFFF"/>
                </a:solidFill>
                <a:latin typeface="Calibri" pitchFamily="34" charset="0"/>
                <a:ea typeface="Calibri" pitchFamily="34" charset="-122"/>
                <a:cs typeface="Calibri" pitchFamily="34" charset="-120"/>
              </a:rPr>
              <a:t>A Multi-Agent Generative AI Framework for</a:t>
            </a:r>
            <a:endParaRPr lang="en-US" sz="3300" dirty="0"/>
          </a:p>
          <a:p>
            <a:pPr indent="0" marL="0">
              <a:lnSpc>
                <a:spcPct val="102000"/>
              </a:lnSpc>
              <a:buNone/>
            </a:pPr>
            <a:r>
              <a:rPr lang="en-US" sz="3300" b="1" dirty="0">
                <a:solidFill>
                  <a:srgbClr val="FFFFFF"/>
                </a:solidFill>
                <a:latin typeface="Calibri" pitchFamily="34" charset="0"/>
                <a:ea typeface="Calibri" pitchFamily="34" charset="-122"/>
                <a:cs typeface="Calibri" pitchFamily="34" charset="-120"/>
              </a:rPr>
              <a:t>Project-Based Learning &amp; Lecturer Monitoring</a:t>
            </a:r>
            <a:endParaRPr lang="en-US" sz="3300" dirty="0"/>
          </a:p>
        </p:txBody>
      </p:sp>
      <p:sp>
        <p:nvSpPr>
          <p:cNvPr id="9" name="Text 5"/>
          <p:cNvSpPr txBox="1"/>
          <p:nvPr/>
        </p:nvSpPr>
        <p:spPr>
          <a:xfrm>
            <a:off x="585216" y="3611880"/>
            <a:ext cx="9692640" cy="457200"/>
          </a:xfrm>
          <a:prstGeom prst="rect">
            <a:avLst/>
          </a:prstGeom>
          <a:noFill/>
          <a:ln/>
        </p:spPr>
        <p:txBody>
          <a:bodyPr wrap="square" lIns="0" tIns="0" rIns="0" bIns="0" rtlCol="0" anchor="ctr"/>
          <a:lstStyle/>
          <a:p>
            <a:pPr indent="0" marL="0">
              <a:lnSpc>
                <a:spcPct val="100000"/>
              </a:lnSpc>
              <a:buNone/>
            </a:pPr>
            <a:r>
              <a:rPr lang="en-US" sz="1350" dirty="0">
                <a:solidFill>
                  <a:srgbClr val="C9C5EC"/>
                </a:solidFill>
                <a:latin typeface="Calibri" pitchFamily="34" charset="0"/>
                <a:ea typeface="Calibri" pitchFamily="34" charset="-122"/>
                <a:cs typeface="Calibri" pitchFamily="34" charset="-120"/>
              </a:rPr>
              <a:t>Supporting software-engineering project-based learning and assessment through coordinated AI agents and learning analytics.</a:t>
            </a:r>
            <a:endParaRPr lang="en-US" sz="1350" dirty="0"/>
          </a:p>
        </p:txBody>
      </p:sp>
      <p:sp>
        <p:nvSpPr>
          <p:cNvPr id="10" name="Shape 6"/>
          <p:cNvSpPr/>
          <p:nvPr/>
        </p:nvSpPr>
        <p:spPr>
          <a:xfrm>
            <a:off x="9966960" y="1783080"/>
            <a:ext cx="658368" cy="658368"/>
          </a:xfrm>
          <a:prstGeom prst="ellipse">
            <a:avLst/>
          </a:prstGeom>
          <a:solidFill>
            <a:srgbClr val="1A1640"/>
          </a:solidFill>
          <a:ln w="25400">
            <a:solidFill>
              <a:srgbClr val="8B7FE0"/>
            </a:solidFill>
            <a:prstDash val="solid"/>
          </a:ln>
          <a:effectLst>
            <a:outerShdw sx="100000" sy="100000" kx="0" ky="0" algn="bl" rotWithShape="0" blurRad="127000" dist="50800" dir="5400000">
              <a:srgbClr val="4A3DC2">
                <a:alpha val="45000"/>
              </a:srgbClr>
            </a:outerShdw>
          </a:effectLst>
        </p:spPr>
      </p:sp>
      <p:pic>
        <p:nvPicPr>
          <p:cNvPr id="11" name="Image 2" descr="assets/kalpani.jpg">    </p:cNvPr>
          <p:cNvPicPr>
            <a:picLocks noChangeAspect="1"/>
          </p:cNvPicPr>
          <p:nvPr/>
        </p:nvPicPr>
        <p:blipFill>
          <a:blip r:embed="rId4"/>
          <a:stretch>
            <a:fillRect/>
          </a:stretch>
        </p:blipFill>
        <p:spPr>
          <a:xfrm>
            <a:off x="10012680" y="1828800"/>
            <a:ext cx="566928" cy="566928"/>
          </a:xfrm>
          <a:prstGeom prst="ellipse">
            <a:avLst/>
          </a:prstGeom>
        </p:spPr>
      </p:pic>
      <p:sp>
        <p:nvSpPr>
          <p:cNvPr id="12" name="Text 7"/>
          <p:cNvSpPr txBox="1"/>
          <p:nvPr/>
        </p:nvSpPr>
        <p:spPr>
          <a:xfrm>
            <a:off x="9857232" y="2432304"/>
            <a:ext cx="1005840" cy="182880"/>
          </a:xfrm>
          <a:prstGeom prst="rect">
            <a:avLst/>
          </a:prstGeom>
          <a:noFill/>
          <a:ln/>
        </p:spPr>
        <p:txBody>
          <a:bodyPr wrap="square" lIns="0" tIns="0" rIns="0" bIns="0" rtlCol="0" anchor="ctr"/>
          <a:lstStyle/>
          <a:p>
            <a:pPr algn="ctr" indent="0" marL="0">
              <a:lnSpc>
                <a:spcPct val="100000"/>
              </a:lnSpc>
              <a:buNone/>
            </a:pPr>
            <a:r>
              <a:rPr lang="en-US" sz="800" dirty="0">
                <a:solidFill>
                  <a:srgbClr val="9FE7C9"/>
                </a:solidFill>
                <a:latin typeface="Calibri" pitchFamily="34" charset="0"/>
                <a:ea typeface="Calibri" pitchFamily="34" charset="-122"/>
                <a:cs typeface="Calibri" pitchFamily="34" charset="-120"/>
              </a:rPr>
              <a:t>Supervisor</a:t>
            </a:r>
            <a:endParaRPr lang="en-US" sz="800" dirty="0"/>
          </a:p>
        </p:txBody>
      </p:sp>
      <p:sp>
        <p:nvSpPr>
          <p:cNvPr id="13" name="Text 8"/>
          <p:cNvSpPr txBox="1"/>
          <p:nvPr/>
        </p:nvSpPr>
        <p:spPr>
          <a:xfrm>
            <a:off x="9646920" y="2596896"/>
            <a:ext cx="1417320" cy="457200"/>
          </a:xfrm>
          <a:prstGeom prst="rect">
            <a:avLst/>
          </a:prstGeom>
          <a:noFill/>
          <a:ln/>
        </p:spPr>
        <p:txBody>
          <a:bodyPr wrap="square" lIns="0" tIns="0" rIns="0" bIns="0" rtlCol="0" anchor="ctr"/>
          <a:lstStyle/>
          <a:p>
            <a:pPr algn="ctr" indent="0" marL="0">
              <a:lnSpc>
                <a:spcPct val="95000"/>
              </a:lnSpc>
              <a:buNone/>
            </a:pPr>
            <a:r>
              <a:rPr lang="en-US" sz="900" b="1" dirty="0">
                <a:solidFill>
                  <a:srgbClr val="E6E3FA"/>
                </a:solidFill>
                <a:latin typeface="Calibri" pitchFamily="34" charset="0"/>
                <a:ea typeface="Calibri" pitchFamily="34" charset="-122"/>
                <a:cs typeface="Calibri" pitchFamily="34" charset="-120"/>
              </a:rPr>
              <a:t>Dr. Kalpani</a:t>
            </a:r>
            <a:endParaRPr lang="en-US" sz="900" dirty="0"/>
          </a:p>
          <a:p>
            <a:pPr algn="ctr" indent="0" marL="0">
              <a:lnSpc>
                <a:spcPct val="95000"/>
              </a:lnSpc>
              <a:buNone/>
            </a:pPr>
            <a:r>
              <a:rPr lang="en-US" sz="900" b="1" dirty="0">
                <a:solidFill>
                  <a:srgbClr val="E6E3FA"/>
                </a:solidFill>
                <a:latin typeface="Calibri" pitchFamily="34" charset="0"/>
                <a:ea typeface="Calibri" pitchFamily="34" charset="-122"/>
                <a:cs typeface="Calibri" pitchFamily="34" charset="-120"/>
              </a:rPr>
              <a:t>Manathunga</a:t>
            </a:r>
            <a:endParaRPr lang="en-US" sz="900" dirty="0"/>
          </a:p>
        </p:txBody>
      </p:sp>
      <p:sp>
        <p:nvSpPr>
          <p:cNvPr id="14" name="Shape 9"/>
          <p:cNvSpPr/>
          <p:nvPr/>
        </p:nvSpPr>
        <p:spPr>
          <a:xfrm>
            <a:off x="10881360" y="1783080"/>
            <a:ext cx="658368" cy="658368"/>
          </a:xfrm>
          <a:prstGeom prst="ellipse">
            <a:avLst/>
          </a:prstGeom>
          <a:solidFill>
            <a:srgbClr val="1A1640"/>
          </a:solidFill>
          <a:ln w="25400">
            <a:solidFill>
              <a:srgbClr val="8B7FE0"/>
            </a:solidFill>
            <a:prstDash val="solid"/>
          </a:ln>
          <a:effectLst>
            <a:outerShdw sx="100000" sy="100000" kx="0" ky="0" algn="bl" rotWithShape="0" blurRad="127000" dist="50800" dir="5400000">
              <a:srgbClr val="4A3DC2">
                <a:alpha val="45000"/>
              </a:srgbClr>
            </a:outerShdw>
          </a:effectLst>
        </p:spPr>
      </p:sp>
      <p:pic>
        <p:nvPicPr>
          <p:cNvPr id="15" name="Image 3" descr="assets/aparna.jpg">    </p:cNvPr>
          <p:cNvPicPr>
            <a:picLocks noChangeAspect="1"/>
          </p:cNvPicPr>
          <p:nvPr/>
        </p:nvPicPr>
        <p:blipFill>
          <a:blip r:embed="rId5"/>
          <a:stretch>
            <a:fillRect/>
          </a:stretch>
        </p:blipFill>
        <p:spPr>
          <a:xfrm>
            <a:off x="10927080" y="1828800"/>
            <a:ext cx="566928" cy="566928"/>
          </a:xfrm>
          <a:prstGeom prst="ellipse">
            <a:avLst/>
          </a:prstGeom>
        </p:spPr>
      </p:pic>
      <p:sp>
        <p:nvSpPr>
          <p:cNvPr id="16" name="Text 10"/>
          <p:cNvSpPr txBox="1"/>
          <p:nvPr/>
        </p:nvSpPr>
        <p:spPr>
          <a:xfrm>
            <a:off x="10698480" y="2432304"/>
            <a:ext cx="1188720" cy="182880"/>
          </a:xfrm>
          <a:prstGeom prst="rect">
            <a:avLst/>
          </a:prstGeom>
          <a:noFill/>
          <a:ln/>
        </p:spPr>
        <p:txBody>
          <a:bodyPr wrap="square" lIns="0" tIns="0" rIns="0" bIns="0" rtlCol="0" anchor="ctr"/>
          <a:lstStyle/>
          <a:p>
            <a:pPr algn="ctr" indent="0" marL="0">
              <a:lnSpc>
                <a:spcPct val="100000"/>
              </a:lnSpc>
              <a:buNone/>
            </a:pPr>
            <a:r>
              <a:rPr lang="en-US" sz="800" dirty="0">
                <a:solidFill>
                  <a:srgbClr val="9FE7C9"/>
                </a:solidFill>
                <a:latin typeface="Calibri" pitchFamily="34" charset="0"/>
                <a:ea typeface="Calibri" pitchFamily="34" charset="-122"/>
                <a:cs typeface="Calibri" pitchFamily="34" charset="-120"/>
              </a:rPr>
              <a:t>Co-Supervisor</a:t>
            </a:r>
            <a:endParaRPr lang="en-US" sz="800" dirty="0"/>
          </a:p>
        </p:txBody>
      </p:sp>
      <p:sp>
        <p:nvSpPr>
          <p:cNvPr id="17" name="Text 11"/>
          <p:cNvSpPr txBox="1"/>
          <p:nvPr/>
        </p:nvSpPr>
        <p:spPr>
          <a:xfrm>
            <a:off x="10561320" y="2596896"/>
            <a:ext cx="1417320" cy="457200"/>
          </a:xfrm>
          <a:prstGeom prst="rect">
            <a:avLst/>
          </a:prstGeom>
          <a:noFill/>
          <a:ln/>
        </p:spPr>
        <p:txBody>
          <a:bodyPr wrap="square" lIns="0" tIns="0" rIns="0" bIns="0" rtlCol="0" anchor="ctr"/>
          <a:lstStyle/>
          <a:p>
            <a:pPr algn="ctr" indent="0" marL="0">
              <a:lnSpc>
                <a:spcPct val="95000"/>
              </a:lnSpc>
              <a:buNone/>
            </a:pPr>
            <a:r>
              <a:rPr lang="en-US" sz="900" b="1" dirty="0">
                <a:solidFill>
                  <a:srgbClr val="E6E3FA"/>
                </a:solidFill>
                <a:latin typeface="Calibri" pitchFamily="34" charset="0"/>
                <a:ea typeface="Calibri" pitchFamily="34" charset="-122"/>
                <a:cs typeface="Calibri" pitchFamily="34" charset="-120"/>
              </a:rPr>
              <a:t>Ms. Aparna</a:t>
            </a:r>
            <a:endParaRPr lang="en-US" sz="900" dirty="0"/>
          </a:p>
          <a:p>
            <a:pPr algn="ctr" indent="0" marL="0">
              <a:lnSpc>
                <a:spcPct val="95000"/>
              </a:lnSpc>
              <a:buNone/>
            </a:pPr>
            <a:r>
              <a:rPr lang="en-US" sz="900" b="1" dirty="0">
                <a:solidFill>
                  <a:srgbClr val="E6E3FA"/>
                </a:solidFill>
                <a:latin typeface="Calibri" pitchFamily="34" charset="0"/>
                <a:ea typeface="Calibri" pitchFamily="34" charset="-122"/>
                <a:cs typeface="Calibri" pitchFamily="34" charset="-120"/>
              </a:rPr>
              <a:t>Jayawardane</a:t>
            </a:r>
            <a:endParaRPr lang="en-US" sz="900" dirty="0"/>
          </a:p>
        </p:txBody>
      </p:sp>
      <p:sp>
        <p:nvSpPr>
          <p:cNvPr id="18" name="Shape 12"/>
          <p:cNvSpPr/>
          <p:nvPr/>
        </p:nvSpPr>
        <p:spPr>
          <a:xfrm>
            <a:off x="1360170" y="4480560"/>
            <a:ext cx="1143000" cy="1143000"/>
          </a:xfrm>
          <a:prstGeom prst="ellipse">
            <a:avLst/>
          </a:prstGeom>
          <a:solidFill>
            <a:srgbClr val="1A1640"/>
          </a:solidFill>
          <a:ln w="25400">
            <a:solidFill>
              <a:srgbClr val="A99FF0"/>
            </a:solidFill>
            <a:prstDash val="solid"/>
          </a:ln>
          <a:effectLst>
            <a:outerShdw sx="100000" sy="100000" kx="0" ky="0" algn="bl" rotWithShape="0" blurRad="127000" dist="50800" dir="5400000">
              <a:srgbClr val="4A3DC2">
                <a:alpha val="45000"/>
              </a:srgbClr>
            </a:outerShdw>
          </a:effectLst>
        </p:spPr>
      </p:sp>
      <p:pic>
        <p:nvPicPr>
          <p:cNvPr id="19" name="Image 4" descr="assets/rajapaksha.jpg">    </p:cNvPr>
          <p:cNvPicPr>
            <a:picLocks noChangeAspect="1"/>
          </p:cNvPicPr>
          <p:nvPr/>
        </p:nvPicPr>
        <p:blipFill>
          <a:blip r:embed="rId6"/>
          <a:stretch>
            <a:fillRect/>
          </a:stretch>
        </p:blipFill>
        <p:spPr>
          <a:xfrm>
            <a:off x="1405890" y="4526280"/>
            <a:ext cx="1051560" cy="1051560"/>
          </a:xfrm>
          <a:prstGeom prst="ellipse">
            <a:avLst/>
          </a:prstGeom>
        </p:spPr>
      </p:pic>
      <p:sp>
        <p:nvSpPr>
          <p:cNvPr id="20" name="Text 13"/>
          <p:cNvSpPr txBox="1"/>
          <p:nvPr/>
        </p:nvSpPr>
        <p:spPr>
          <a:xfrm>
            <a:off x="548640" y="5650992"/>
            <a:ext cx="2766060" cy="274320"/>
          </a:xfrm>
          <a:prstGeom prst="rect">
            <a:avLst/>
          </a:prstGeom>
          <a:noFill/>
          <a:ln/>
        </p:spPr>
        <p:txBody>
          <a:bodyPr wrap="square" lIns="0" tIns="0" rIns="0" bIns="0" rtlCol="0" anchor="ctr"/>
          <a:lstStyle/>
          <a:p>
            <a:pPr algn="ctr" indent="0" marL="0">
              <a:lnSpc>
                <a:spcPct val="100000"/>
              </a:lnSpc>
              <a:buNone/>
            </a:pPr>
            <a:r>
              <a:rPr lang="en-US" sz="1200" b="1" dirty="0">
                <a:solidFill>
                  <a:srgbClr val="FFFFFF"/>
                </a:solidFill>
                <a:latin typeface="Calibri" pitchFamily="34" charset="0"/>
                <a:ea typeface="Calibri" pitchFamily="34" charset="-122"/>
                <a:cs typeface="Calibri" pitchFamily="34" charset="-120"/>
              </a:rPr>
              <a:t>Rajapaksha R W V C V</a:t>
            </a:r>
            <a:endParaRPr lang="en-US" sz="1200" dirty="0"/>
          </a:p>
        </p:txBody>
      </p:sp>
      <p:sp>
        <p:nvSpPr>
          <p:cNvPr id="21" name="Text 14"/>
          <p:cNvSpPr txBox="1"/>
          <p:nvPr/>
        </p:nvSpPr>
        <p:spPr>
          <a:xfrm>
            <a:off x="548640" y="5916168"/>
            <a:ext cx="2766060" cy="228600"/>
          </a:xfrm>
          <a:prstGeom prst="rect">
            <a:avLst/>
          </a:prstGeom>
          <a:noFill/>
          <a:ln/>
        </p:spPr>
        <p:txBody>
          <a:bodyPr wrap="square" lIns="0" tIns="0" rIns="0" bIns="0" rtlCol="0" anchor="ctr"/>
          <a:lstStyle/>
          <a:p>
            <a:pPr algn="ctr" indent="0" marL="0">
              <a:lnSpc>
                <a:spcPct val="100000"/>
              </a:lnSpc>
              <a:buNone/>
            </a:pPr>
            <a:r>
              <a:rPr lang="en-US" sz="1050" b="1" dirty="0">
                <a:solidFill>
                  <a:srgbClr val="5FD6A8"/>
                </a:solidFill>
                <a:latin typeface="Calibri" pitchFamily="34" charset="0"/>
                <a:ea typeface="Calibri" pitchFamily="34" charset="-122"/>
                <a:cs typeface="Calibri" pitchFamily="34" charset="-120"/>
              </a:rPr>
              <a:t>IT23152878</a:t>
            </a:r>
            <a:endParaRPr lang="en-US" sz="1050" dirty="0"/>
          </a:p>
        </p:txBody>
      </p:sp>
      <p:sp>
        <p:nvSpPr>
          <p:cNvPr id="22" name="Text 15"/>
          <p:cNvSpPr txBox="1"/>
          <p:nvPr/>
        </p:nvSpPr>
        <p:spPr>
          <a:xfrm>
            <a:off x="548640" y="6144768"/>
            <a:ext cx="2766060" cy="228600"/>
          </a:xfrm>
          <a:prstGeom prst="rect">
            <a:avLst/>
          </a:prstGeom>
          <a:noFill/>
          <a:ln/>
        </p:spPr>
        <p:txBody>
          <a:bodyPr wrap="square" lIns="0" tIns="0" rIns="0" bIns="0" rtlCol="0" anchor="ctr"/>
          <a:lstStyle/>
          <a:p>
            <a:pPr algn="ctr" indent="0" marL="0">
              <a:lnSpc>
                <a:spcPct val="100000"/>
              </a:lnSpc>
              <a:buNone/>
            </a:pPr>
            <a:r>
              <a:rPr lang="en-US" sz="900" dirty="0">
                <a:solidFill>
                  <a:srgbClr val="B9B5DE"/>
                </a:solidFill>
                <a:latin typeface="Calibri" pitchFamily="34" charset="0"/>
                <a:ea typeface="Calibri" pitchFamily="34" charset="-122"/>
                <a:cs typeface="Calibri" pitchFamily="34" charset="-120"/>
              </a:rPr>
              <a:t>Software Engineering</a:t>
            </a:r>
            <a:endParaRPr lang="en-US" sz="900" dirty="0"/>
          </a:p>
        </p:txBody>
      </p:sp>
      <p:sp>
        <p:nvSpPr>
          <p:cNvPr id="23" name="Shape 16"/>
          <p:cNvSpPr/>
          <p:nvPr/>
        </p:nvSpPr>
        <p:spPr>
          <a:xfrm>
            <a:off x="4126230" y="4480560"/>
            <a:ext cx="1143000" cy="1143000"/>
          </a:xfrm>
          <a:prstGeom prst="ellipse">
            <a:avLst/>
          </a:prstGeom>
          <a:solidFill>
            <a:srgbClr val="1A1640"/>
          </a:solidFill>
          <a:ln w="25400">
            <a:solidFill>
              <a:srgbClr val="A99FF0"/>
            </a:solidFill>
            <a:prstDash val="solid"/>
          </a:ln>
          <a:effectLst>
            <a:outerShdw sx="100000" sy="100000" kx="0" ky="0" algn="bl" rotWithShape="0" blurRad="127000" dist="50800" dir="5400000">
              <a:srgbClr val="4A3DC2">
                <a:alpha val="45000"/>
              </a:srgbClr>
            </a:outerShdw>
          </a:effectLst>
        </p:spPr>
      </p:sp>
      <p:pic>
        <p:nvPicPr>
          <p:cNvPr id="24" name="Image 5" descr="assets/kumbukage.jpg">    </p:cNvPr>
          <p:cNvPicPr>
            <a:picLocks noChangeAspect="1"/>
          </p:cNvPicPr>
          <p:nvPr/>
        </p:nvPicPr>
        <p:blipFill>
          <a:blip r:embed="rId7"/>
          <a:stretch>
            <a:fillRect/>
          </a:stretch>
        </p:blipFill>
        <p:spPr>
          <a:xfrm>
            <a:off x="4171950" y="4526280"/>
            <a:ext cx="1051560" cy="1051560"/>
          </a:xfrm>
          <a:prstGeom prst="ellipse">
            <a:avLst/>
          </a:prstGeom>
        </p:spPr>
      </p:pic>
      <p:sp>
        <p:nvSpPr>
          <p:cNvPr id="25" name="Text 17"/>
          <p:cNvSpPr txBox="1"/>
          <p:nvPr/>
        </p:nvSpPr>
        <p:spPr>
          <a:xfrm>
            <a:off x="3314700" y="5650992"/>
            <a:ext cx="2766060" cy="274320"/>
          </a:xfrm>
          <a:prstGeom prst="rect">
            <a:avLst/>
          </a:prstGeom>
          <a:noFill/>
          <a:ln/>
        </p:spPr>
        <p:txBody>
          <a:bodyPr wrap="square" lIns="0" tIns="0" rIns="0" bIns="0" rtlCol="0" anchor="ctr"/>
          <a:lstStyle/>
          <a:p>
            <a:pPr algn="ctr" indent="0" marL="0">
              <a:lnSpc>
                <a:spcPct val="100000"/>
              </a:lnSpc>
              <a:buNone/>
            </a:pPr>
            <a:r>
              <a:rPr lang="en-US" sz="1200" b="1" dirty="0">
                <a:solidFill>
                  <a:srgbClr val="FFFFFF"/>
                </a:solidFill>
                <a:latin typeface="Calibri" pitchFamily="34" charset="0"/>
                <a:ea typeface="Calibri" pitchFamily="34" charset="-122"/>
                <a:cs typeface="Calibri" pitchFamily="34" charset="-120"/>
              </a:rPr>
              <a:t>Kumbukage S S</a:t>
            </a:r>
            <a:endParaRPr lang="en-US" sz="1200" dirty="0"/>
          </a:p>
        </p:txBody>
      </p:sp>
      <p:sp>
        <p:nvSpPr>
          <p:cNvPr id="26" name="Text 18"/>
          <p:cNvSpPr txBox="1"/>
          <p:nvPr/>
        </p:nvSpPr>
        <p:spPr>
          <a:xfrm>
            <a:off x="3314700" y="5916168"/>
            <a:ext cx="2766060" cy="228600"/>
          </a:xfrm>
          <a:prstGeom prst="rect">
            <a:avLst/>
          </a:prstGeom>
          <a:noFill/>
          <a:ln/>
        </p:spPr>
        <p:txBody>
          <a:bodyPr wrap="square" lIns="0" tIns="0" rIns="0" bIns="0" rtlCol="0" anchor="ctr"/>
          <a:lstStyle/>
          <a:p>
            <a:pPr algn="ctr" indent="0" marL="0">
              <a:lnSpc>
                <a:spcPct val="100000"/>
              </a:lnSpc>
              <a:buNone/>
            </a:pPr>
            <a:r>
              <a:rPr lang="en-US" sz="1050" b="1" dirty="0">
                <a:solidFill>
                  <a:srgbClr val="5FD6A8"/>
                </a:solidFill>
                <a:latin typeface="Calibri" pitchFamily="34" charset="0"/>
                <a:ea typeface="Calibri" pitchFamily="34" charset="-122"/>
                <a:cs typeface="Calibri" pitchFamily="34" charset="-120"/>
              </a:rPr>
              <a:t>IT23155534</a:t>
            </a:r>
            <a:endParaRPr lang="en-US" sz="1050" dirty="0"/>
          </a:p>
        </p:txBody>
      </p:sp>
      <p:sp>
        <p:nvSpPr>
          <p:cNvPr id="27" name="Text 19"/>
          <p:cNvSpPr txBox="1"/>
          <p:nvPr/>
        </p:nvSpPr>
        <p:spPr>
          <a:xfrm>
            <a:off x="3314700" y="6144768"/>
            <a:ext cx="2766060" cy="228600"/>
          </a:xfrm>
          <a:prstGeom prst="rect">
            <a:avLst/>
          </a:prstGeom>
          <a:noFill/>
          <a:ln/>
        </p:spPr>
        <p:txBody>
          <a:bodyPr wrap="square" lIns="0" tIns="0" rIns="0" bIns="0" rtlCol="0" anchor="ctr"/>
          <a:lstStyle/>
          <a:p>
            <a:pPr algn="ctr" indent="0" marL="0">
              <a:lnSpc>
                <a:spcPct val="100000"/>
              </a:lnSpc>
              <a:buNone/>
            </a:pPr>
            <a:r>
              <a:rPr lang="en-US" sz="900" dirty="0">
                <a:solidFill>
                  <a:srgbClr val="B9B5DE"/>
                </a:solidFill>
                <a:latin typeface="Calibri" pitchFamily="34" charset="0"/>
                <a:ea typeface="Calibri" pitchFamily="34" charset="-122"/>
                <a:cs typeface="Calibri" pitchFamily="34" charset="-120"/>
              </a:rPr>
              <a:t>Software Engineering</a:t>
            </a:r>
            <a:endParaRPr lang="en-US" sz="900" dirty="0"/>
          </a:p>
        </p:txBody>
      </p:sp>
      <p:sp>
        <p:nvSpPr>
          <p:cNvPr id="28" name="Shape 20"/>
          <p:cNvSpPr/>
          <p:nvPr/>
        </p:nvSpPr>
        <p:spPr>
          <a:xfrm>
            <a:off x="6892290" y="4480560"/>
            <a:ext cx="1143000" cy="1143000"/>
          </a:xfrm>
          <a:prstGeom prst="ellipse">
            <a:avLst/>
          </a:prstGeom>
          <a:solidFill>
            <a:srgbClr val="1A1640"/>
          </a:solidFill>
          <a:ln w="25400">
            <a:solidFill>
              <a:srgbClr val="A99FF0"/>
            </a:solidFill>
            <a:prstDash val="solid"/>
          </a:ln>
          <a:effectLst>
            <a:outerShdw sx="100000" sy="100000" kx="0" ky="0" algn="bl" rotWithShape="0" blurRad="127000" dist="50800" dir="5400000">
              <a:srgbClr val="4A3DC2">
                <a:alpha val="45000"/>
              </a:srgbClr>
            </a:outerShdw>
          </a:effectLst>
        </p:spPr>
      </p:sp>
      <p:pic>
        <p:nvPicPr>
          <p:cNvPr id="29" name="Image 6" descr="assets/ekanayake.jpg">    </p:cNvPr>
          <p:cNvPicPr>
            <a:picLocks noChangeAspect="1"/>
          </p:cNvPicPr>
          <p:nvPr/>
        </p:nvPicPr>
        <p:blipFill>
          <a:blip r:embed="rId8"/>
          <a:stretch>
            <a:fillRect/>
          </a:stretch>
        </p:blipFill>
        <p:spPr>
          <a:xfrm>
            <a:off x="6938010" y="4526280"/>
            <a:ext cx="1051560" cy="1051560"/>
          </a:xfrm>
          <a:prstGeom prst="ellipse">
            <a:avLst/>
          </a:prstGeom>
        </p:spPr>
      </p:pic>
      <p:sp>
        <p:nvSpPr>
          <p:cNvPr id="30" name="Text 21"/>
          <p:cNvSpPr txBox="1"/>
          <p:nvPr/>
        </p:nvSpPr>
        <p:spPr>
          <a:xfrm>
            <a:off x="6080760" y="5650992"/>
            <a:ext cx="2766060" cy="274320"/>
          </a:xfrm>
          <a:prstGeom prst="rect">
            <a:avLst/>
          </a:prstGeom>
          <a:noFill/>
          <a:ln/>
        </p:spPr>
        <p:txBody>
          <a:bodyPr wrap="square" lIns="0" tIns="0" rIns="0" bIns="0" rtlCol="0" anchor="ctr"/>
          <a:lstStyle/>
          <a:p>
            <a:pPr algn="ctr" indent="0" marL="0">
              <a:lnSpc>
                <a:spcPct val="100000"/>
              </a:lnSpc>
              <a:buNone/>
            </a:pPr>
            <a:r>
              <a:rPr lang="en-US" sz="1200" b="1" dirty="0">
                <a:solidFill>
                  <a:srgbClr val="FFFFFF"/>
                </a:solidFill>
                <a:latin typeface="Calibri" pitchFamily="34" charset="0"/>
                <a:ea typeface="Calibri" pitchFamily="34" charset="-122"/>
                <a:cs typeface="Calibri" pitchFamily="34" charset="-120"/>
              </a:rPr>
              <a:t>Ekanayake E M N D</a:t>
            </a:r>
            <a:endParaRPr lang="en-US" sz="1200" dirty="0"/>
          </a:p>
        </p:txBody>
      </p:sp>
      <p:sp>
        <p:nvSpPr>
          <p:cNvPr id="31" name="Text 22"/>
          <p:cNvSpPr txBox="1"/>
          <p:nvPr/>
        </p:nvSpPr>
        <p:spPr>
          <a:xfrm>
            <a:off x="6080760" y="5916168"/>
            <a:ext cx="2766060" cy="228600"/>
          </a:xfrm>
          <a:prstGeom prst="rect">
            <a:avLst/>
          </a:prstGeom>
          <a:noFill/>
          <a:ln/>
        </p:spPr>
        <p:txBody>
          <a:bodyPr wrap="square" lIns="0" tIns="0" rIns="0" bIns="0" rtlCol="0" anchor="ctr"/>
          <a:lstStyle/>
          <a:p>
            <a:pPr algn="ctr" indent="0" marL="0">
              <a:lnSpc>
                <a:spcPct val="100000"/>
              </a:lnSpc>
              <a:buNone/>
            </a:pPr>
            <a:r>
              <a:rPr lang="en-US" sz="1050" b="1" dirty="0">
                <a:solidFill>
                  <a:srgbClr val="5FD6A8"/>
                </a:solidFill>
                <a:latin typeface="Calibri" pitchFamily="34" charset="0"/>
                <a:ea typeface="Calibri" pitchFamily="34" charset="-122"/>
                <a:cs typeface="Calibri" pitchFamily="34" charset="-120"/>
              </a:rPr>
              <a:t>IT23283930</a:t>
            </a:r>
            <a:endParaRPr lang="en-US" sz="1050" dirty="0"/>
          </a:p>
        </p:txBody>
      </p:sp>
      <p:sp>
        <p:nvSpPr>
          <p:cNvPr id="32" name="Text 23"/>
          <p:cNvSpPr txBox="1"/>
          <p:nvPr/>
        </p:nvSpPr>
        <p:spPr>
          <a:xfrm>
            <a:off x="6080760" y="6144768"/>
            <a:ext cx="2766060" cy="228600"/>
          </a:xfrm>
          <a:prstGeom prst="rect">
            <a:avLst/>
          </a:prstGeom>
          <a:noFill/>
          <a:ln/>
        </p:spPr>
        <p:txBody>
          <a:bodyPr wrap="square" lIns="0" tIns="0" rIns="0" bIns="0" rtlCol="0" anchor="ctr"/>
          <a:lstStyle/>
          <a:p>
            <a:pPr algn="ctr" indent="0" marL="0">
              <a:lnSpc>
                <a:spcPct val="100000"/>
              </a:lnSpc>
              <a:buNone/>
            </a:pPr>
            <a:r>
              <a:rPr lang="en-US" sz="900" dirty="0">
                <a:solidFill>
                  <a:srgbClr val="B9B5DE"/>
                </a:solidFill>
                <a:latin typeface="Calibri" pitchFamily="34" charset="0"/>
                <a:ea typeface="Calibri" pitchFamily="34" charset="-122"/>
                <a:cs typeface="Calibri" pitchFamily="34" charset="-120"/>
              </a:rPr>
              <a:t>Software Engineering</a:t>
            </a:r>
            <a:endParaRPr lang="en-US" sz="900" dirty="0"/>
          </a:p>
        </p:txBody>
      </p:sp>
      <p:sp>
        <p:nvSpPr>
          <p:cNvPr id="33" name="Shape 24"/>
          <p:cNvSpPr/>
          <p:nvPr/>
        </p:nvSpPr>
        <p:spPr>
          <a:xfrm>
            <a:off x="9658350" y="4480560"/>
            <a:ext cx="1143000" cy="1143000"/>
          </a:xfrm>
          <a:prstGeom prst="ellipse">
            <a:avLst/>
          </a:prstGeom>
          <a:solidFill>
            <a:srgbClr val="1A1640"/>
          </a:solidFill>
          <a:ln w="25400">
            <a:solidFill>
              <a:srgbClr val="A99FF0"/>
            </a:solidFill>
            <a:prstDash val="solid"/>
          </a:ln>
          <a:effectLst>
            <a:outerShdw sx="100000" sy="100000" kx="0" ky="0" algn="bl" rotWithShape="0" blurRad="127000" dist="50800" dir="5400000">
              <a:srgbClr val="4A3DC2">
                <a:alpha val="45000"/>
              </a:srgbClr>
            </a:outerShdw>
          </a:effectLst>
        </p:spPr>
      </p:sp>
      <p:pic>
        <p:nvPicPr>
          <p:cNvPr id="34" name="Image 7" descr="assets/croos.jpg">    </p:cNvPr>
          <p:cNvPicPr>
            <a:picLocks noChangeAspect="1"/>
          </p:cNvPicPr>
          <p:nvPr/>
        </p:nvPicPr>
        <p:blipFill>
          <a:blip r:embed="rId9"/>
          <a:stretch>
            <a:fillRect/>
          </a:stretch>
        </p:blipFill>
        <p:spPr>
          <a:xfrm>
            <a:off x="9704070" y="4526280"/>
            <a:ext cx="1051560" cy="1051560"/>
          </a:xfrm>
          <a:prstGeom prst="ellipse">
            <a:avLst/>
          </a:prstGeom>
        </p:spPr>
      </p:pic>
      <p:sp>
        <p:nvSpPr>
          <p:cNvPr id="35" name="Text 25"/>
          <p:cNvSpPr txBox="1"/>
          <p:nvPr/>
        </p:nvSpPr>
        <p:spPr>
          <a:xfrm>
            <a:off x="8846820" y="5650992"/>
            <a:ext cx="2766060" cy="274320"/>
          </a:xfrm>
          <a:prstGeom prst="rect">
            <a:avLst/>
          </a:prstGeom>
          <a:noFill/>
          <a:ln/>
        </p:spPr>
        <p:txBody>
          <a:bodyPr wrap="square" lIns="0" tIns="0" rIns="0" bIns="0" rtlCol="0" anchor="ctr"/>
          <a:lstStyle/>
          <a:p>
            <a:pPr algn="ctr" indent="0" marL="0">
              <a:lnSpc>
                <a:spcPct val="100000"/>
              </a:lnSpc>
              <a:buNone/>
            </a:pPr>
            <a:r>
              <a:rPr lang="en-US" sz="1200" b="1" dirty="0">
                <a:solidFill>
                  <a:srgbClr val="FFFFFF"/>
                </a:solidFill>
                <a:latin typeface="Calibri" pitchFamily="34" charset="0"/>
                <a:ea typeface="Calibri" pitchFamily="34" charset="-122"/>
                <a:cs typeface="Calibri" pitchFamily="34" charset="-120"/>
              </a:rPr>
              <a:t>Croos E D</a:t>
            </a:r>
            <a:endParaRPr lang="en-US" sz="1200" dirty="0"/>
          </a:p>
        </p:txBody>
      </p:sp>
      <p:sp>
        <p:nvSpPr>
          <p:cNvPr id="36" name="Text 26"/>
          <p:cNvSpPr txBox="1"/>
          <p:nvPr/>
        </p:nvSpPr>
        <p:spPr>
          <a:xfrm>
            <a:off x="8846820" y="5916168"/>
            <a:ext cx="2766060" cy="228600"/>
          </a:xfrm>
          <a:prstGeom prst="rect">
            <a:avLst/>
          </a:prstGeom>
          <a:noFill/>
          <a:ln/>
        </p:spPr>
        <p:txBody>
          <a:bodyPr wrap="square" lIns="0" tIns="0" rIns="0" bIns="0" rtlCol="0" anchor="ctr"/>
          <a:lstStyle/>
          <a:p>
            <a:pPr algn="ctr" indent="0" marL="0">
              <a:lnSpc>
                <a:spcPct val="100000"/>
              </a:lnSpc>
              <a:buNone/>
            </a:pPr>
            <a:r>
              <a:rPr lang="en-US" sz="1050" b="1" dirty="0">
                <a:solidFill>
                  <a:srgbClr val="5FD6A8"/>
                </a:solidFill>
                <a:latin typeface="Calibri" pitchFamily="34" charset="0"/>
                <a:ea typeface="Calibri" pitchFamily="34" charset="-122"/>
                <a:cs typeface="Calibri" pitchFamily="34" charset="-120"/>
              </a:rPr>
              <a:t>IT23314238</a:t>
            </a:r>
            <a:endParaRPr lang="en-US" sz="1050" dirty="0"/>
          </a:p>
        </p:txBody>
      </p:sp>
      <p:sp>
        <p:nvSpPr>
          <p:cNvPr id="37" name="Text 27"/>
          <p:cNvSpPr txBox="1"/>
          <p:nvPr/>
        </p:nvSpPr>
        <p:spPr>
          <a:xfrm>
            <a:off x="8846820" y="6144768"/>
            <a:ext cx="2766060" cy="228600"/>
          </a:xfrm>
          <a:prstGeom prst="rect">
            <a:avLst/>
          </a:prstGeom>
          <a:noFill/>
          <a:ln/>
        </p:spPr>
        <p:txBody>
          <a:bodyPr wrap="square" lIns="0" tIns="0" rIns="0" bIns="0" rtlCol="0" anchor="ctr"/>
          <a:lstStyle/>
          <a:p>
            <a:pPr algn="ctr" indent="0" marL="0">
              <a:lnSpc>
                <a:spcPct val="100000"/>
              </a:lnSpc>
              <a:buNone/>
            </a:pPr>
            <a:r>
              <a:rPr lang="en-US" sz="900" dirty="0">
                <a:solidFill>
                  <a:srgbClr val="B9B5DE"/>
                </a:solidFill>
                <a:latin typeface="Calibri" pitchFamily="34" charset="0"/>
                <a:ea typeface="Calibri" pitchFamily="34" charset="-122"/>
                <a:cs typeface="Calibri" pitchFamily="34" charset="-120"/>
              </a:rPr>
              <a:t>Software Engineering</a:t>
            </a:r>
            <a:endParaRPr lang="en-US" sz="9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ext 0"/>
          <p:cNvSpPr txBox="1"/>
          <p:nvPr/>
        </p:nvSpPr>
        <p:spPr>
          <a:xfrm>
            <a:off x="603504" y="493776"/>
            <a:ext cx="10058400" cy="274320"/>
          </a:xfrm>
          <a:prstGeom prst="rect">
            <a:avLst/>
          </a:prstGeom>
          <a:noFill/>
          <a:ln/>
        </p:spPr>
        <p:txBody>
          <a:bodyPr wrap="square" lIns="0" tIns="0" rIns="0" bIns="0" rtlCol="0" anchor="ctr"/>
          <a:lstStyle/>
          <a:p>
            <a:pPr indent="0" marL="0">
              <a:lnSpc>
                <a:spcPct val="100000"/>
              </a:lnSpc>
              <a:buNone/>
            </a:pPr>
            <a:r>
              <a:rPr lang="en-US" sz="1100" b="1" spc="260" kern="0" dirty="0">
                <a:solidFill>
                  <a:srgbClr val="9FE7C9"/>
                </a:solidFill>
                <a:latin typeface="Calibri" pitchFamily="34" charset="0"/>
                <a:ea typeface="Calibri" pitchFamily="34" charset="-122"/>
                <a:cs typeface="Calibri" pitchFamily="34" charset="-120"/>
              </a:rPr>
              <a:t>PANEL SE-P05   ·   RESPONSE TO PROPOSAL COMMENTS</a:t>
            </a:r>
            <a:endParaRPr lang="en-US" sz="1100" dirty="0"/>
          </a:p>
        </p:txBody>
      </p:sp>
      <p:sp>
        <p:nvSpPr>
          <p:cNvPr id="3" name="Text 1"/>
          <p:cNvSpPr txBox="1"/>
          <p:nvPr/>
        </p:nvSpPr>
        <p:spPr>
          <a:xfrm>
            <a:off x="566928" y="749808"/>
            <a:ext cx="10607040" cy="777240"/>
          </a:xfrm>
          <a:prstGeom prst="rect">
            <a:avLst/>
          </a:prstGeom>
          <a:noFill/>
          <a:ln/>
        </p:spPr>
        <p:txBody>
          <a:bodyPr wrap="square" lIns="0" tIns="0" rIns="0" bIns="0" rtlCol="0" anchor="ctr"/>
          <a:lstStyle/>
          <a:p>
            <a:pPr indent="0" marL="0">
              <a:lnSpc>
                <a:spcPct val="98000"/>
              </a:lnSpc>
              <a:buNone/>
            </a:pPr>
            <a:r>
              <a:rPr lang="en-US" sz="2900" b="1" dirty="0">
                <a:solidFill>
                  <a:srgbClr val="FFFFFF"/>
                </a:solidFill>
                <a:latin typeface="Calibri" pitchFamily="34" charset="0"/>
                <a:ea typeface="Calibri" pitchFamily="34" charset="-122"/>
                <a:cs typeface="Calibri" pitchFamily="34" charset="-120"/>
              </a:rPr>
              <a:t>Proposal Feedback &amp; How We Addressed It</a:t>
            </a:r>
            <a:endParaRPr lang="en-US" sz="2900" dirty="0"/>
          </a:p>
        </p:txBody>
      </p:sp>
      <p:sp>
        <p:nvSpPr>
          <p:cNvPr id="4" name="Shape 2"/>
          <p:cNvSpPr/>
          <p:nvPr/>
        </p:nvSpPr>
        <p:spPr>
          <a:xfrm>
            <a:off x="566928" y="1792224"/>
            <a:ext cx="5440680" cy="1938528"/>
          </a:xfrm>
          <a:prstGeom prst="roundRect">
            <a:avLst>
              <a:gd name="adj" fmla="val 5189"/>
            </a:avLst>
          </a:prstGeom>
          <a:solidFill>
            <a:srgbClr val="FFFFFF">
              <a:alpha val="12000"/>
            </a:srgbClr>
          </a:solidFill>
          <a:ln w="12700">
            <a:solidFill>
              <a:srgbClr val="FFFFFF">
                <a:alpha val="18000"/>
              </a:srgbClr>
            </a:solidFill>
            <a:prstDash val="solid"/>
          </a:ln>
          <a:effectLst>
            <a:outerShdw sx="100000" sy="100000" kx="0" ky="0" algn="bl" rotWithShape="0" blurRad="177800" dist="63500" dir="5400000">
              <a:srgbClr val="0B0920">
                <a:alpha val="45000"/>
              </a:srgbClr>
            </a:outerShdw>
          </a:effectLst>
        </p:spPr>
      </p:sp>
      <p:sp>
        <p:nvSpPr>
          <p:cNvPr id="5" name="Shape 3"/>
          <p:cNvSpPr/>
          <p:nvPr/>
        </p:nvSpPr>
        <p:spPr>
          <a:xfrm>
            <a:off x="932688" y="1536192"/>
            <a:ext cx="2505456" cy="512064"/>
          </a:xfrm>
          <a:prstGeom prst="roundRect">
            <a:avLst>
              <a:gd name="adj" fmla="val 50000"/>
            </a:avLst>
          </a:prstGeom>
          <a:solidFill>
            <a:srgbClr val="7E6CF4"/>
          </a:solidFill>
          <a:ln/>
          <a:effectLst>
            <a:outerShdw sx="100000" sy="100000" kx="0" ky="0" algn="bl" rotWithShape="0" blurRad="127000" dist="50800" dir="5400000">
              <a:srgbClr val="7E6CF4">
                <a:alpha val="45000"/>
              </a:srgbClr>
            </a:outerShdw>
          </a:effectLst>
        </p:spPr>
      </p:sp>
      <p:sp>
        <p:nvSpPr>
          <p:cNvPr id="6" name="Shape 4"/>
          <p:cNvSpPr/>
          <p:nvPr/>
        </p:nvSpPr>
        <p:spPr>
          <a:xfrm>
            <a:off x="676656" y="1463040"/>
            <a:ext cx="676656" cy="676656"/>
          </a:xfrm>
          <a:prstGeom prst="ellipse">
            <a:avLst/>
          </a:prstGeom>
          <a:solidFill>
            <a:srgbClr val="5A47CE"/>
          </a:solidFill>
          <a:ln w="15240">
            <a:solidFill>
              <a:srgbClr val="FFFFFF">
                <a:alpha val="38000"/>
              </a:srgbClr>
            </a:solidFill>
            <a:prstDash val="solid"/>
          </a:ln>
          <a:effectLst>
            <a:outerShdw sx="100000" sy="100000" kx="0" ky="0" algn="bl" rotWithShape="0" blurRad="127000" dist="50800" dir="5400000">
              <a:srgbClr val="5A47CE">
                <a:alpha val="45000"/>
              </a:srgbClr>
            </a:outerShdw>
          </a:effectLst>
        </p:spPr>
      </p:sp>
      <p:pic>
        <p:nvPicPr>
          <p:cNvPr id="7" name="Image 0" descr="assets/icons/feedback_w.png">    </p:cNvPr>
          <p:cNvPicPr>
            <a:picLocks noChangeAspect="1"/>
          </p:cNvPicPr>
          <p:nvPr/>
        </p:nvPicPr>
        <p:blipFill>
          <a:blip r:embed="rId2"/>
          <a:stretch>
            <a:fillRect/>
          </a:stretch>
        </p:blipFill>
        <p:spPr>
          <a:xfrm>
            <a:off x="866120" y="1652504"/>
            <a:ext cx="297729" cy="297729"/>
          </a:xfrm>
          <a:prstGeom prst="rect">
            <a:avLst/>
          </a:prstGeom>
        </p:spPr>
      </p:pic>
      <p:sp>
        <p:nvSpPr>
          <p:cNvPr id="8" name="Text 5"/>
          <p:cNvSpPr txBox="1"/>
          <p:nvPr/>
        </p:nvSpPr>
        <p:spPr>
          <a:xfrm>
            <a:off x="1389888" y="1536192"/>
            <a:ext cx="2011680" cy="512064"/>
          </a:xfrm>
          <a:prstGeom prst="rect">
            <a:avLst/>
          </a:prstGeom>
          <a:noFill/>
          <a:ln/>
        </p:spPr>
        <p:txBody>
          <a:bodyPr wrap="square" lIns="0" tIns="0" rIns="0" bIns="0" rtlCol="0" anchor="ctr"/>
          <a:lstStyle/>
          <a:p>
            <a:pPr indent="0" marL="0">
              <a:lnSpc>
                <a:spcPct val="100000"/>
              </a:lnSpc>
              <a:buNone/>
            </a:pPr>
            <a:r>
              <a:rPr lang="en-US" sz="1150" b="1" dirty="0">
                <a:solidFill>
                  <a:srgbClr val="FFFFFF"/>
                </a:solidFill>
                <a:latin typeface="Calibri" pitchFamily="34" charset="0"/>
                <a:ea typeface="Calibri" pitchFamily="34" charset="-122"/>
                <a:cs typeface="Calibri" pitchFamily="34" charset="-120"/>
              </a:rPr>
              <a:t>Agents vs. workflows</a:t>
            </a:r>
            <a:endParaRPr lang="en-US" sz="1150" dirty="0"/>
          </a:p>
        </p:txBody>
      </p:sp>
      <p:sp>
        <p:nvSpPr>
          <p:cNvPr id="9" name="Text 6"/>
          <p:cNvSpPr txBox="1"/>
          <p:nvPr/>
        </p:nvSpPr>
        <p:spPr>
          <a:xfrm>
            <a:off x="822960" y="2267712"/>
            <a:ext cx="4928616" cy="457200"/>
          </a:xfrm>
          <a:prstGeom prst="rect">
            <a:avLst/>
          </a:prstGeom>
          <a:noFill/>
          <a:ln/>
        </p:spPr>
        <p:txBody>
          <a:bodyPr wrap="square" lIns="0" tIns="0" rIns="0" bIns="0" rtlCol="0" anchor="ctr"/>
          <a:lstStyle/>
          <a:p>
            <a:pPr indent="0" marL="0">
              <a:lnSpc>
                <a:spcPct val="98000"/>
              </a:lnSpc>
              <a:buNone/>
            </a:pPr>
            <a:r>
              <a:rPr lang="en-US" sz="1100" b="1" i="1" dirty="0">
                <a:solidFill>
                  <a:srgbClr val="EEECFF"/>
                </a:solidFill>
                <a:latin typeface="Calibri" pitchFamily="34" charset="0"/>
                <a:ea typeface="Calibri" pitchFamily="34" charset="-122"/>
                <a:cs typeface="Calibri" pitchFamily="34" charset="-120"/>
              </a:rPr>
              <a:t>“Are these really agents, or static workflows? Why call it multi-agent?”</a:t>
            </a:r>
            <a:endParaRPr lang="en-US" sz="1100" dirty="0"/>
          </a:p>
        </p:txBody>
      </p:sp>
      <p:sp>
        <p:nvSpPr>
          <p:cNvPr id="10" name="Shape 7"/>
          <p:cNvSpPr/>
          <p:nvPr/>
        </p:nvSpPr>
        <p:spPr>
          <a:xfrm>
            <a:off x="822960" y="2816352"/>
            <a:ext cx="4928616" cy="0"/>
          </a:xfrm>
          <a:prstGeom prst="line">
            <a:avLst/>
          </a:prstGeom>
          <a:noFill/>
          <a:ln w="12700">
            <a:solidFill>
              <a:srgbClr val="FFFFFF">
                <a:alpha val="18000"/>
              </a:srgbClr>
            </a:solidFill>
            <a:prstDash val="solid"/>
          </a:ln>
        </p:spPr>
      </p:sp>
      <p:pic>
        <p:nvPicPr>
          <p:cNvPr id="11" name="Image 1" descr="assets/icons/check_e.png">    </p:cNvPr>
          <p:cNvPicPr>
            <a:picLocks noChangeAspect="1"/>
          </p:cNvPicPr>
          <p:nvPr/>
        </p:nvPicPr>
        <p:blipFill>
          <a:blip r:embed="rId3"/>
          <a:stretch>
            <a:fillRect/>
          </a:stretch>
        </p:blipFill>
        <p:spPr>
          <a:xfrm>
            <a:off x="822960" y="2926080"/>
            <a:ext cx="182880" cy="182880"/>
          </a:xfrm>
          <a:prstGeom prst="rect">
            <a:avLst/>
          </a:prstGeom>
        </p:spPr>
      </p:pic>
      <p:sp>
        <p:nvSpPr>
          <p:cNvPr id="12" name="Text 8"/>
          <p:cNvSpPr txBox="1"/>
          <p:nvPr/>
        </p:nvSpPr>
        <p:spPr>
          <a:xfrm>
            <a:off x="1060704" y="2926080"/>
            <a:ext cx="4690872" cy="182880"/>
          </a:xfrm>
          <a:prstGeom prst="rect">
            <a:avLst/>
          </a:prstGeom>
          <a:noFill/>
          <a:ln/>
        </p:spPr>
        <p:txBody>
          <a:bodyPr wrap="square" lIns="0" tIns="0" rIns="0" bIns="0" rtlCol="0" anchor="ctr"/>
          <a:lstStyle/>
          <a:p>
            <a:pPr indent="0" marL="0">
              <a:lnSpc>
                <a:spcPct val="100000"/>
              </a:lnSpc>
              <a:buNone/>
            </a:pPr>
            <a:r>
              <a:rPr lang="en-US" sz="850" b="1" spc="120" kern="0" dirty="0">
                <a:solidFill>
                  <a:srgbClr val="16C78C"/>
                </a:solidFill>
                <a:latin typeface="Calibri" pitchFamily="34" charset="0"/>
                <a:ea typeface="Calibri" pitchFamily="34" charset="-122"/>
                <a:cs typeface="Calibri" pitchFamily="34" charset="-120"/>
              </a:rPr>
              <a:t>ACTION  </a:t>
            </a:r>
            <a:pPr indent="0" marL="0">
              <a:lnSpc>
                <a:spcPct val="100000"/>
              </a:lnSpc>
              <a:buNone/>
            </a:pPr>
            <a:r>
              <a:rPr lang="en-US" sz="850" b="1" dirty="0">
                <a:solidFill>
                  <a:srgbClr val="9C97CC"/>
                </a:solidFill>
                <a:latin typeface="Calibri" pitchFamily="34" charset="0"/>
                <a:ea typeface="Calibri" pitchFamily="34" charset="-122"/>
                <a:cs typeface="Calibri" pitchFamily="34" charset="-120"/>
              </a:rPr>
              <a:t>·  Rajapaksha, Croos</a:t>
            </a:r>
            <a:endParaRPr lang="en-US" sz="850" dirty="0"/>
          </a:p>
        </p:txBody>
      </p:sp>
      <p:sp>
        <p:nvSpPr>
          <p:cNvPr id="13" name="Text 9"/>
          <p:cNvSpPr txBox="1"/>
          <p:nvPr/>
        </p:nvSpPr>
        <p:spPr>
          <a:xfrm>
            <a:off x="822960" y="3163824"/>
            <a:ext cx="4946904" cy="512064"/>
          </a:xfrm>
          <a:prstGeom prst="rect">
            <a:avLst/>
          </a:prstGeom>
          <a:noFill/>
          <a:ln/>
        </p:spPr>
        <p:txBody>
          <a:bodyPr wrap="square" lIns="0" tIns="0" rIns="0" bIns="0" rtlCol="0" anchor="ctr"/>
          <a:lstStyle/>
          <a:p>
            <a:pPr indent="0" marL="0">
              <a:lnSpc>
                <a:spcPct val="98000"/>
              </a:lnSpc>
              <a:buNone/>
            </a:pPr>
            <a:r>
              <a:rPr lang="en-US" sz="950" dirty="0">
                <a:solidFill>
                  <a:srgbClr val="CFCBEF"/>
                </a:solidFill>
                <a:latin typeface="Calibri" pitchFamily="34" charset="0"/>
                <a:ea typeface="Calibri" pitchFamily="34" charset="-122"/>
                <a:cs typeface="Calibri" pitchFamily="34" charset="-120"/>
              </a:rPr>
              <a:t>Redefined each component as an autonomous agent — own goal, tools, memory, decisions — coordinated over a message bus.</a:t>
            </a:r>
            <a:endParaRPr lang="en-US" sz="950" dirty="0"/>
          </a:p>
        </p:txBody>
      </p:sp>
      <p:sp>
        <p:nvSpPr>
          <p:cNvPr id="14" name="Shape 10"/>
          <p:cNvSpPr/>
          <p:nvPr/>
        </p:nvSpPr>
        <p:spPr>
          <a:xfrm>
            <a:off x="6208776" y="1792224"/>
            <a:ext cx="5440680" cy="1938528"/>
          </a:xfrm>
          <a:prstGeom prst="roundRect">
            <a:avLst>
              <a:gd name="adj" fmla="val 5189"/>
            </a:avLst>
          </a:prstGeom>
          <a:solidFill>
            <a:srgbClr val="FFFFFF">
              <a:alpha val="12000"/>
            </a:srgbClr>
          </a:solidFill>
          <a:ln w="12700">
            <a:solidFill>
              <a:srgbClr val="FFFFFF">
                <a:alpha val="18000"/>
              </a:srgbClr>
            </a:solidFill>
            <a:prstDash val="solid"/>
          </a:ln>
          <a:effectLst>
            <a:outerShdw sx="100000" sy="100000" kx="0" ky="0" algn="bl" rotWithShape="0" blurRad="177800" dist="63500" dir="5400000">
              <a:srgbClr val="0B0920">
                <a:alpha val="45000"/>
              </a:srgbClr>
            </a:outerShdw>
          </a:effectLst>
        </p:spPr>
      </p:sp>
      <p:sp>
        <p:nvSpPr>
          <p:cNvPr id="15" name="Shape 11"/>
          <p:cNvSpPr/>
          <p:nvPr/>
        </p:nvSpPr>
        <p:spPr>
          <a:xfrm>
            <a:off x="6574536" y="1536192"/>
            <a:ext cx="3178454" cy="512064"/>
          </a:xfrm>
          <a:prstGeom prst="roundRect">
            <a:avLst>
              <a:gd name="adj" fmla="val 50000"/>
            </a:avLst>
          </a:prstGeom>
          <a:solidFill>
            <a:srgbClr val="16C78C"/>
          </a:solidFill>
          <a:ln/>
          <a:effectLst>
            <a:outerShdw sx="100000" sy="100000" kx="0" ky="0" algn="bl" rotWithShape="0" blurRad="127000" dist="50800" dir="5400000">
              <a:srgbClr val="16C78C">
                <a:alpha val="45000"/>
              </a:srgbClr>
            </a:outerShdw>
          </a:effectLst>
        </p:spPr>
      </p:sp>
      <p:sp>
        <p:nvSpPr>
          <p:cNvPr id="16" name="Shape 12"/>
          <p:cNvSpPr/>
          <p:nvPr/>
        </p:nvSpPr>
        <p:spPr>
          <a:xfrm>
            <a:off x="6318504" y="1463040"/>
            <a:ext cx="676656" cy="676656"/>
          </a:xfrm>
          <a:prstGeom prst="ellipse">
            <a:avLst/>
          </a:prstGeom>
          <a:solidFill>
            <a:srgbClr val="0E9E6E"/>
          </a:solidFill>
          <a:ln w="15240">
            <a:solidFill>
              <a:srgbClr val="FFFFFF">
                <a:alpha val="38000"/>
              </a:srgbClr>
            </a:solidFill>
            <a:prstDash val="solid"/>
          </a:ln>
          <a:effectLst>
            <a:outerShdw sx="100000" sy="100000" kx="0" ky="0" algn="bl" rotWithShape="0" blurRad="127000" dist="50800" dir="5400000">
              <a:srgbClr val="0E9E6E">
                <a:alpha val="45000"/>
              </a:srgbClr>
            </a:outerShdw>
          </a:effectLst>
        </p:spPr>
      </p:sp>
      <p:pic>
        <p:nvPicPr>
          <p:cNvPr id="17" name="Image 2" descr="assets/icons/target_w.png">    </p:cNvPr>
          <p:cNvPicPr>
            <a:picLocks noChangeAspect="1"/>
          </p:cNvPicPr>
          <p:nvPr/>
        </p:nvPicPr>
        <p:blipFill>
          <a:blip r:embed="rId4"/>
          <a:stretch>
            <a:fillRect/>
          </a:stretch>
        </p:blipFill>
        <p:spPr>
          <a:xfrm>
            <a:off x="6507968" y="1652504"/>
            <a:ext cx="297729" cy="297729"/>
          </a:xfrm>
          <a:prstGeom prst="rect">
            <a:avLst/>
          </a:prstGeom>
        </p:spPr>
      </p:pic>
      <p:sp>
        <p:nvSpPr>
          <p:cNvPr id="18" name="Text 13"/>
          <p:cNvSpPr txBox="1"/>
          <p:nvPr/>
        </p:nvSpPr>
        <p:spPr>
          <a:xfrm>
            <a:off x="7031736" y="1536192"/>
            <a:ext cx="2684678" cy="512064"/>
          </a:xfrm>
          <a:prstGeom prst="rect">
            <a:avLst/>
          </a:prstGeom>
          <a:noFill/>
          <a:ln/>
        </p:spPr>
        <p:txBody>
          <a:bodyPr wrap="square" lIns="0" tIns="0" rIns="0" bIns="0" rtlCol="0" anchor="ctr"/>
          <a:lstStyle/>
          <a:p>
            <a:pPr indent="0" marL="0">
              <a:lnSpc>
                <a:spcPct val="100000"/>
              </a:lnSpc>
              <a:buNone/>
            </a:pPr>
            <a:r>
              <a:rPr lang="en-US" sz="1150" b="1" dirty="0">
                <a:solidFill>
                  <a:srgbClr val="FFFFFF"/>
                </a:solidFill>
                <a:latin typeface="Calibri" pitchFamily="34" charset="0"/>
                <a:ea typeface="Calibri" pitchFamily="34" charset="-122"/>
                <a:cs typeface="Calibri" pitchFamily="34" charset="-120"/>
              </a:rPr>
              <a:t>Validation &amp; personalization</a:t>
            </a:r>
            <a:endParaRPr lang="en-US" sz="1150" dirty="0"/>
          </a:p>
        </p:txBody>
      </p:sp>
      <p:sp>
        <p:nvSpPr>
          <p:cNvPr id="19" name="Text 14"/>
          <p:cNvSpPr txBox="1"/>
          <p:nvPr/>
        </p:nvSpPr>
        <p:spPr>
          <a:xfrm>
            <a:off x="6464808" y="2267712"/>
            <a:ext cx="4928616" cy="457200"/>
          </a:xfrm>
          <a:prstGeom prst="rect">
            <a:avLst/>
          </a:prstGeom>
          <a:noFill/>
          <a:ln/>
        </p:spPr>
        <p:txBody>
          <a:bodyPr wrap="square" lIns="0" tIns="0" rIns="0" bIns="0" rtlCol="0" anchor="ctr"/>
          <a:lstStyle/>
          <a:p>
            <a:pPr indent="0" marL="0">
              <a:lnSpc>
                <a:spcPct val="98000"/>
              </a:lnSpc>
              <a:buNone/>
            </a:pPr>
            <a:r>
              <a:rPr lang="en-US" sz="1100" b="1" i="1" dirty="0">
                <a:solidFill>
                  <a:srgbClr val="EEECFF"/>
                </a:solidFill>
                <a:latin typeface="Calibri" pitchFamily="34" charset="0"/>
                <a:ea typeface="Calibri" pitchFamily="34" charset="-122"/>
                <a:cs typeface="Calibri" pitchFamily="34" charset="-120"/>
              </a:rPr>
              <a:t>“How will you validate outcomes and show real personalization?”</a:t>
            </a:r>
            <a:endParaRPr lang="en-US" sz="1100" dirty="0"/>
          </a:p>
        </p:txBody>
      </p:sp>
      <p:sp>
        <p:nvSpPr>
          <p:cNvPr id="20" name="Shape 15"/>
          <p:cNvSpPr/>
          <p:nvPr/>
        </p:nvSpPr>
        <p:spPr>
          <a:xfrm>
            <a:off x="6464808" y="2816352"/>
            <a:ext cx="4928616" cy="0"/>
          </a:xfrm>
          <a:prstGeom prst="line">
            <a:avLst/>
          </a:prstGeom>
          <a:noFill/>
          <a:ln w="12700">
            <a:solidFill>
              <a:srgbClr val="FFFFFF">
                <a:alpha val="18000"/>
              </a:srgbClr>
            </a:solidFill>
            <a:prstDash val="solid"/>
          </a:ln>
        </p:spPr>
      </p:sp>
      <p:pic>
        <p:nvPicPr>
          <p:cNvPr id="21" name="Image 3" descr="assets/icons/check_e.png">    </p:cNvPr>
          <p:cNvPicPr>
            <a:picLocks noChangeAspect="1"/>
          </p:cNvPicPr>
          <p:nvPr/>
        </p:nvPicPr>
        <p:blipFill>
          <a:blip r:embed="rId5"/>
          <a:stretch>
            <a:fillRect/>
          </a:stretch>
        </p:blipFill>
        <p:spPr>
          <a:xfrm>
            <a:off x="6464808" y="2926080"/>
            <a:ext cx="182880" cy="182880"/>
          </a:xfrm>
          <a:prstGeom prst="rect">
            <a:avLst/>
          </a:prstGeom>
        </p:spPr>
      </p:pic>
      <p:sp>
        <p:nvSpPr>
          <p:cNvPr id="22" name="Text 16"/>
          <p:cNvSpPr txBox="1"/>
          <p:nvPr/>
        </p:nvSpPr>
        <p:spPr>
          <a:xfrm>
            <a:off x="6702552" y="2926080"/>
            <a:ext cx="4690872" cy="182880"/>
          </a:xfrm>
          <a:prstGeom prst="rect">
            <a:avLst/>
          </a:prstGeom>
          <a:noFill/>
          <a:ln/>
        </p:spPr>
        <p:txBody>
          <a:bodyPr wrap="square" lIns="0" tIns="0" rIns="0" bIns="0" rtlCol="0" anchor="ctr"/>
          <a:lstStyle/>
          <a:p>
            <a:pPr indent="0" marL="0">
              <a:lnSpc>
                <a:spcPct val="100000"/>
              </a:lnSpc>
              <a:buNone/>
            </a:pPr>
            <a:r>
              <a:rPr lang="en-US" sz="850" b="1" spc="120" kern="0" dirty="0">
                <a:solidFill>
                  <a:srgbClr val="16C78C"/>
                </a:solidFill>
                <a:latin typeface="Calibri" pitchFamily="34" charset="0"/>
                <a:ea typeface="Calibri" pitchFamily="34" charset="-122"/>
                <a:cs typeface="Calibri" pitchFamily="34" charset="-120"/>
              </a:rPr>
              <a:t>ACTION  </a:t>
            </a:r>
            <a:pPr indent="0" marL="0">
              <a:lnSpc>
                <a:spcPct val="100000"/>
              </a:lnSpc>
              <a:buNone/>
            </a:pPr>
            <a:r>
              <a:rPr lang="en-US" sz="850" b="1" dirty="0">
                <a:solidFill>
                  <a:srgbClr val="9C97CC"/>
                </a:solidFill>
                <a:latin typeface="Calibri" pitchFamily="34" charset="0"/>
                <a:ea typeface="Calibri" pitchFamily="34" charset="-122"/>
                <a:cs typeface="Calibri" pitchFamily="34" charset="-120"/>
              </a:rPr>
              <a:t>·  Ekanayake</a:t>
            </a:r>
            <a:endParaRPr lang="en-US" sz="850" dirty="0"/>
          </a:p>
        </p:txBody>
      </p:sp>
      <p:sp>
        <p:nvSpPr>
          <p:cNvPr id="23" name="Text 17"/>
          <p:cNvSpPr txBox="1"/>
          <p:nvPr/>
        </p:nvSpPr>
        <p:spPr>
          <a:xfrm>
            <a:off x="6464808" y="3163824"/>
            <a:ext cx="4946904" cy="512064"/>
          </a:xfrm>
          <a:prstGeom prst="rect">
            <a:avLst/>
          </a:prstGeom>
          <a:noFill/>
          <a:ln/>
        </p:spPr>
        <p:txBody>
          <a:bodyPr wrap="square" lIns="0" tIns="0" rIns="0" bIns="0" rtlCol="0" anchor="ctr"/>
          <a:lstStyle/>
          <a:p>
            <a:pPr indent="0" marL="0">
              <a:lnSpc>
                <a:spcPct val="98000"/>
              </a:lnSpc>
              <a:buNone/>
            </a:pPr>
            <a:r>
              <a:rPr lang="en-US" sz="950" dirty="0">
                <a:solidFill>
                  <a:srgbClr val="CFCBEF"/>
                </a:solidFill>
                <a:latin typeface="Calibri" pitchFamily="34" charset="0"/>
                <a:ea typeface="Calibri" pitchFamily="34" charset="-122"/>
                <a:cs typeface="Calibri" pitchFamily="34" charset="-120"/>
              </a:rPr>
              <a:t>Added a validation plan: pre/post learning-gain, adaptive-vs-non-adaptive, and mastery metrics (AUC/F1/RMSE) vs ground truth.</a:t>
            </a:r>
            <a:endParaRPr lang="en-US" sz="950" dirty="0"/>
          </a:p>
        </p:txBody>
      </p:sp>
      <p:sp>
        <p:nvSpPr>
          <p:cNvPr id="24" name="Shape 18"/>
          <p:cNvSpPr/>
          <p:nvPr/>
        </p:nvSpPr>
        <p:spPr>
          <a:xfrm>
            <a:off x="566928" y="4187952"/>
            <a:ext cx="5440680" cy="1938528"/>
          </a:xfrm>
          <a:prstGeom prst="roundRect">
            <a:avLst>
              <a:gd name="adj" fmla="val 5189"/>
            </a:avLst>
          </a:prstGeom>
          <a:solidFill>
            <a:srgbClr val="FFFFFF">
              <a:alpha val="12000"/>
            </a:srgbClr>
          </a:solidFill>
          <a:ln w="12700">
            <a:solidFill>
              <a:srgbClr val="FFFFFF">
                <a:alpha val="18000"/>
              </a:srgbClr>
            </a:solidFill>
            <a:prstDash val="solid"/>
          </a:ln>
          <a:effectLst>
            <a:outerShdw sx="100000" sy="100000" kx="0" ky="0" algn="bl" rotWithShape="0" blurRad="177800" dist="63500" dir="5400000">
              <a:srgbClr val="0B0920">
                <a:alpha val="45000"/>
              </a:srgbClr>
            </a:outerShdw>
          </a:effectLst>
        </p:spPr>
      </p:sp>
      <p:sp>
        <p:nvSpPr>
          <p:cNvPr id="25" name="Shape 19"/>
          <p:cNvSpPr/>
          <p:nvPr/>
        </p:nvSpPr>
        <p:spPr>
          <a:xfrm>
            <a:off x="932688" y="3931920"/>
            <a:ext cx="1411834" cy="512064"/>
          </a:xfrm>
          <a:prstGeom prst="roundRect">
            <a:avLst>
              <a:gd name="adj" fmla="val 50000"/>
            </a:avLst>
          </a:prstGeom>
          <a:solidFill>
            <a:srgbClr val="F2A740"/>
          </a:solidFill>
          <a:ln/>
          <a:effectLst>
            <a:outerShdw sx="100000" sy="100000" kx="0" ky="0" algn="bl" rotWithShape="0" blurRad="127000" dist="50800" dir="5400000">
              <a:srgbClr val="F2A740">
                <a:alpha val="45000"/>
              </a:srgbClr>
            </a:outerShdw>
          </a:effectLst>
        </p:spPr>
      </p:sp>
      <p:sp>
        <p:nvSpPr>
          <p:cNvPr id="26" name="Shape 20"/>
          <p:cNvSpPr/>
          <p:nvPr/>
        </p:nvSpPr>
        <p:spPr>
          <a:xfrm>
            <a:off x="676656" y="3858768"/>
            <a:ext cx="676656" cy="676656"/>
          </a:xfrm>
          <a:prstGeom prst="ellipse">
            <a:avLst/>
          </a:prstGeom>
          <a:solidFill>
            <a:srgbClr val="E0891C"/>
          </a:solidFill>
          <a:ln w="15240">
            <a:solidFill>
              <a:srgbClr val="FFFFFF">
                <a:alpha val="38000"/>
              </a:srgbClr>
            </a:solidFill>
            <a:prstDash val="solid"/>
          </a:ln>
          <a:effectLst>
            <a:outerShdw sx="100000" sy="100000" kx="0" ky="0" algn="bl" rotWithShape="0" blurRad="127000" dist="50800" dir="5400000">
              <a:srgbClr val="E0891C">
                <a:alpha val="45000"/>
              </a:srgbClr>
            </a:outerShdw>
          </a:effectLst>
        </p:spPr>
      </p:sp>
      <p:pic>
        <p:nvPicPr>
          <p:cNvPr id="27" name="Image 4" descr="assets/icons/share_w.png">    </p:cNvPr>
          <p:cNvPicPr>
            <a:picLocks noChangeAspect="1"/>
          </p:cNvPicPr>
          <p:nvPr/>
        </p:nvPicPr>
        <p:blipFill>
          <a:blip r:embed="rId6"/>
          <a:stretch>
            <a:fillRect/>
          </a:stretch>
        </p:blipFill>
        <p:spPr>
          <a:xfrm>
            <a:off x="866120" y="4048232"/>
            <a:ext cx="297729" cy="297729"/>
          </a:xfrm>
          <a:prstGeom prst="rect">
            <a:avLst/>
          </a:prstGeom>
        </p:spPr>
      </p:pic>
      <p:sp>
        <p:nvSpPr>
          <p:cNvPr id="28" name="Text 21"/>
          <p:cNvSpPr txBox="1"/>
          <p:nvPr/>
        </p:nvSpPr>
        <p:spPr>
          <a:xfrm>
            <a:off x="1389888" y="3931920"/>
            <a:ext cx="918058" cy="512064"/>
          </a:xfrm>
          <a:prstGeom prst="rect">
            <a:avLst/>
          </a:prstGeom>
          <a:noFill/>
          <a:ln/>
        </p:spPr>
        <p:txBody>
          <a:bodyPr wrap="square" lIns="0" tIns="0" rIns="0" bIns="0" rtlCol="0" anchor="ctr"/>
          <a:lstStyle/>
          <a:p>
            <a:pPr indent="0" marL="0">
              <a:lnSpc>
                <a:spcPct val="100000"/>
              </a:lnSpc>
              <a:buNone/>
            </a:pPr>
            <a:r>
              <a:rPr lang="en-US" sz="1150" b="1" dirty="0">
                <a:solidFill>
                  <a:srgbClr val="FFFFFF"/>
                </a:solidFill>
                <a:latin typeface="Calibri" pitchFamily="34" charset="0"/>
                <a:ea typeface="Calibri" pitchFamily="34" charset="-122"/>
                <a:cs typeface="Calibri" pitchFamily="34" charset="-120"/>
              </a:rPr>
              <a:t>Why MCP</a:t>
            </a:r>
            <a:endParaRPr lang="en-US" sz="1150" dirty="0"/>
          </a:p>
        </p:txBody>
      </p:sp>
      <p:sp>
        <p:nvSpPr>
          <p:cNvPr id="29" name="Text 22"/>
          <p:cNvSpPr txBox="1"/>
          <p:nvPr/>
        </p:nvSpPr>
        <p:spPr>
          <a:xfrm>
            <a:off x="822960" y="4663440"/>
            <a:ext cx="4928616" cy="457200"/>
          </a:xfrm>
          <a:prstGeom prst="rect">
            <a:avLst/>
          </a:prstGeom>
          <a:noFill/>
          <a:ln/>
        </p:spPr>
        <p:txBody>
          <a:bodyPr wrap="square" lIns="0" tIns="0" rIns="0" bIns="0" rtlCol="0" anchor="ctr"/>
          <a:lstStyle/>
          <a:p>
            <a:pPr indent="0" marL="0">
              <a:lnSpc>
                <a:spcPct val="98000"/>
              </a:lnSpc>
              <a:buNone/>
            </a:pPr>
            <a:r>
              <a:rPr lang="en-US" sz="1100" b="1" i="1" dirty="0">
                <a:solidFill>
                  <a:srgbClr val="EEECFF"/>
                </a:solidFill>
                <a:latin typeface="Calibri" pitchFamily="34" charset="0"/>
                <a:ea typeface="Calibri" pitchFamily="34" charset="-122"/>
                <a:cs typeface="Calibri" pitchFamily="34" charset="-120"/>
              </a:rPr>
              <a:t>“Why do you need MCP?”</a:t>
            </a:r>
            <a:endParaRPr lang="en-US" sz="1100" dirty="0"/>
          </a:p>
        </p:txBody>
      </p:sp>
      <p:sp>
        <p:nvSpPr>
          <p:cNvPr id="30" name="Shape 23"/>
          <p:cNvSpPr/>
          <p:nvPr/>
        </p:nvSpPr>
        <p:spPr>
          <a:xfrm>
            <a:off x="822960" y="5212080"/>
            <a:ext cx="4928616" cy="0"/>
          </a:xfrm>
          <a:prstGeom prst="line">
            <a:avLst/>
          </a:prstGeom>
          <a:noFill/>
          <a:ln w="12700">
            <a:solidFill>
              <a:srgbClr val="FFFFFF">
                <a:alpha val="18000"/>
              </a:srgbClr>
            </a:solidFill>
            <a:prstDash val="solid"/>
          </a:ln>
        </p:spPr>
      </p:sp>
      <p:pic>
        <p:nvPicPr>
          <p:cNvPr id="31" name="Image 5" descr="assets/icons/check_e.png">    </p:cNvPr>
          <p:cNvPicPr>
            <a:picLocks noChangeAspect="1"/>
          </p:cNvPicPr>
          <p:nvPr/>
        </p:nvPicPr>
        <p:blipFill>
          <a:blip r:embed="rId7"/>
          <a:stretch>
            <a:fillRect/>
          </a:stretch>
        </p:blipFill>
        <p:spPr>
          <a:xfrm>
            <a:off x="822960" y="5321808"/>
            <a:ext cx="182880" cy="182880"/>
          </a:xfrm>
          <a:prstGeom prst="rect">
            <a:avLst/>
          </a:prstGeom>
        </p:spPr>
      </p:pic>
      <p:sp>
        <p:nvSpPr>
          <p:cNvPr id="32" name="Text 24"/>
          <p:cNvSpPr txBox="1"/>
          <p:nvPr/>
        </p:nvSpPr>
        <p:spPr>
          <a:xfrm>
            <a:off x="1060704" y="5321808"/>
            <a:ext cx="4690872" cy="182880"/>
          </a:xfrm>
          <a:prstGeom prst="rect">
            <a:avLst/>
          </a:prstGeom>
          <a:noFill/>
          <a:ln/>
        </p:spPr>
        <p:txBody>
          <a:bodyPr wrap="square" lIns="0" tIns="0" rIns="0" bIns="0" rtlCol="0" anchor="ctr"/>
          <a:lstStyle/>
          <a:p>
            <a:pPr indent="0" marL="0">
              <a:lnSpc>
                <a:spcPct val="100000"/>
              </a:lnSpc>
              <a:buNone/>
            </a:pPr>
            <a:r>
              <a:rPr lang="en-US" sz="850" b="1" spc="120" kern="0" dirty="0">
                <a:solidFill>
                  <a:srgbClr val="16C78C"/>
                </a:solidFill>
                <a:latin typeface="Calibri" pitchFamily="34" charset="0"/>
                <a:ea typeface="Calibri" pitchFamily="34" charset="-122"/>
                <a:cs typeface="Calibri" pitchFamily="34" charset="-120"/>
              </a:rPr>
              <a:t>ACTION  </a:t>
            </a:r>
            <a:pPr indent="0" marL="0">
              <a:lnSpc>
                <a:spcPct val="100000"/>
              </a:lnSpc>
              <a:buNone/>
            </a:pPr>
            <a:r>
              <a:rPr lang="en-US" sz="850" b="1" dirty="0">
                <a:solidFill>
                  <a:srgbClr val="9C97CC"/>
                </a:solidFill>
                <a:latin typeface="Calibri" pitchFamily="34" charset="0"/>
                <a:ea typeface="Calibri" pitchFamily="34" charset="-122"/>
                <a:cs typeface="Calibri" pitchFamily="34" charset="-120"/>
              </a:rPr>
              <a:t>·  Ekanayake</a:t>
            </a:r>
            <a:endParaRPr lang="en-US" sz="850" dirty="0"/>
          </a:p>
        </p:txBody>
      </p:sp>
      <p:sp>
        <p:nvSpPr>
          <p:cNvPr id="33" name="Text 25"/>
          <p:cNvSpPr txBox="1"/>
          <p:nvPr/>
        </p:nvSpPr>
        <p:spPr>
          <a:xfrm>
            <a:off x="822960" y="5559552"/>
            <a:ext cx="4946904" cy="512064"/>
          </a:xfrm>
          <a:prstGeom prst="rect">
            <a:avLst/>
          </a:prstGeom>
          <a:noFill/>
          <a:ln/>
        </p:spPr>
        <p:txBody>
          <a:bodyPr wrap="square" lIns="0" tIns="0" rIns="0" bIns="0" rtlCol="0" anchor="ctr"/>
          <a:lstStyle/>
          <a:p>
            <a:pPr indent="0" marL="0">
              <a:lnSpc>
                <a:spcPct val="98000"/>
              </a:lnSpc>
              <a:buNone/>
            </a:pPr>
            <a:r>
              <a:rPr lang="en-US" sz="950" dirty="0">
                <a:solidFill>
                  <a:srgbClr val="CFCBEF"/>
                </a:solidFill>
                <a:latin typeface="Calibri" pitchFamily="34" charset="0"/>
                <a:ea typeface="Calibri" pitchFamily="34" charset="-122"/>
                <a:cs typeface="Calibri" pitchFamily="34" charset="-120"/>
              </a:rPr>
              <a:t>Scoped MCP to controlled agent access to external tools and data (LMS, GitHub); dropped where a direct call suffices.</a:t>
            </a:r>
            <a:endParaRPr lang="en-US" sz="950" dirty="0"/>
          </a:p>
        </p:txBody>
      </p:sp>
      <p:sp>
        <p:nvSpPr>
          <p:cNvPr id="34" name="Shape 26"/>
          <p:cNvSpPr/>
          <p:nvPr/>
        </p:nvSpPr>
        <p:spPr>
          <a:xfrm>
            <a:off x="6208776" y="4187952"/>
            <a:ext cx="5440680" cy="1938528"/>
          </a:xfrm>
          <a:prstGeom prst="roundRect">
            <a:avLst>
              <a:gd name="adj" fmla="val 5189"/>
            </a:avLst>
          </a:prstGeom>
          <a:solidFill>
            <a:srgbClr val="FFFFFF">
              <a:alpha val="12000"/>
            </a:srgbClr>
          </a:solidFill>
          <a:ln w="12700">
            <a:solidFill>
              <a:srgbClr val="FFFFFF">
                <a:alpha val="18000"/>
              </a:srgbClr>
            </a:solidFill>
            <a:prstDash val="solid"/>
          </a:ln>
          <a:effectLst>
            <a:outerShdw sx="100000" sy="100000" kx="0" ky="0" algn="bl" rotWithShape="0" blurRad="177800" dist="63500" dir="5400000">
              <a:srgbClr val="0B0920">
                <a:alpha val="45000"/>
              </a:srgbClr>
            </a:outerShdw>
          </a:effectLst>
        </p:spPr>
      </p:sp>
      <p:sp>
        <p:nvSpPr>
          <p:cNvPr id="35" name="Shape 27"/>
          <p:cNvSpPr/>
          <p:nvPr/>
        </p:nvSpPr>
        <p:spPr>
          <a:xfrm>
            <a:off x="6574536" y="3931920"/>
            <a:ext cx="2673706" cy="512064"/>
          </a:xfrm>
          <a:prstGeom prst="roundRect">
            <a:avLst>
              <a:gd name="adj" fmla="val 50000"/>
            </a:avLst>
          </a:prstGeom>
          <a:solidFill>
            <a:srgbClr val="38C6CC"/>
          </a:solidFill>
          <a:ln/>
          <a:effectLst>
            <a:outerShdw sx="100000" sy="100000" kx="0" ky="0" algn="bl" rotWithShape="0" blurRad="127000" dist="50800" dir="5400000">
              <a:srgbClr val="38C6CC">
                <a:alpha val="45000"/>
              </a:srgbClr>
            </a:outerShdw>
          </a:effectLst>
        </p:spPr>
      </p:sp>
      <p:sp>
        <p:nvSpPr>
          <p:cNvPr id="36" name="Shape 28"/>
          <p:cNvSpPr/>
          <p:nvPr/>
        </p:nvSpPr>
        <p:spPr>
          <a:xfrm>
            <a:off x="6318504" y="3858768"/>
            <a:ext cx="676656" cy="676656"/>
          </a:xfrm>
          <a:prstGeom prst="ellipse">
            <a:avLst/>
          </a:prstGeom>
          <a:solidFill>
            <a:srgbClr val="1E9BA1"/>
          </a:solidFill>
          <a:ln w="15240">
            <a:solidFill>
              <a:srgbClr val="FFFFFF">
                <a:alpha val="38000"/>
              </a:srgbClr>
            </a:solidFill>
            <a:prstDash val="solid"/>
          </a:ln>
          <a:effectLst>
            <a:outerShdw sx="100000" sy="100000" kx="0" ky="0" algn="bl" rotWithShape="0" blurRad="127000" dist="50800" dir="5400000">
              <a:srgbClr val="1E9BA1">
                <a:alpha val="45000"/>
              </a:srgbClr>
            </a:outerShdw>
          </a:effectLst>
        </p:spPr>
      </p:sp>
      <p:pic>
        <p:nvPicPr>
          <p:cNvPr id="37" name="Image 6" descr="assets/icons/search_w.png">    </p:cNvPr>
          <p:cNvPicPr>
            <a:picLocks noChangeAspect="1"/>
          </p:cNvPicPr>
          <p:nvPr/>
        </p:nvPicPr>
        <p:blipFill>
          <a:blip r:embed="rId8"/>
          <a:stretch>
            <a:fillRect/>
          </a:stretch>
        </p:blipFill>
        <p:spPr>
          <a:xfrm>
            <a:off x="6507968" y="4048232"/>
            <a:ext cx="297729" cy="297729"/>
          </a:xfrm>
          <a:prstGeom prst="rect">
            <a:avLst/>
          </a:prstGeom>
        </p:spPr>
      </p:pic>
      <p:sp>
        <p:nvSpPr>
          <p:cNvPr id="38" name="Text 29"/>
          <p:cNvSpPr txBox="1"/>
          <p:nvPr/>
        </p:nvSpPr>
        <p:spPr>
          <a:xfrm>
            <a:off x="7031736" y="3931920"/>
            <a:ext cx="2179930" cy="512064"/>
          </a:xfrm>
          <a:prstGeom prst="rect">
            <a:avLst/>
          </a:prstGeom>
          <a:noFill/>
          <a:ln/>
        </p:spPr>
        <p:txBody>
          <a:bodyPr wrap="square" lIns="0" tIns="0" rIns="0" bIns="0" rtlCol="0" anchor="ctr"/>
          <a:lstStyle/>
          <a:p>
            <a:pPr indent="0" marL="0">
              <a:lnSpc>
                <a:spcPct val="100000"/>
              </a:lnSpc>
              <a:buNone/>
            </a:pPr>
            <a:r>
              <a:rPr lang="en-US" sz="1150" b="1" dirty="0">
                <a:solidFill>
                  <a:srgbClr val="FFFFFF"/>
                </a:solidFill>
                <a:latin typeface="Calibri" pitchFamily="34" charset="0"/>
                <a:ea typeface="Calibri" pitchFamily="34" charset="-122"/>
                <a:cs typeface="Calibri" pitchFamily="34" charset="-120"/>
              </a:rPr>
              <a:t>LLM-as-Judge placement</a:t>
            </a:r>
            <a:endParaRPr lang="en-US" sz="1150" dirty="0"/>
          </a:p>
        </p:txBody>
      </p:sp>
      <p:sp>
        <p:nvSpPr>
          <p:cNvPr id="39" name="Text 30"/>
          <p:cNvSpPr txBox="1"/>
          <p:nvPr/>
        </p:nvSpPr>
        <p:spPr>
          <a:xfrm>
            <a:off x="6464808" y="4663440"/>
            <a:ext cx="4928616" cy="457200"/>
          </a:xfrm>
          <a:prstGeom prst="rect">
            <a:avLst/>
          </a:prstGeom>
          <a:noFill/>
          <a:ln/>
        </p:spPr>
        <p:txBody>
          <a:bodyPr wrap="square" lIns="0" tIns="0" rIns="0" bIns="0" rtlCol="0" anchor="ctr"/>
          <a:lstStyle/>
          <a:p>
            <a:pPr indent="0" marL="0">
              <a:lnSpc>
                <a:spcPct val="98000"/>
              </a:lnSpc>
              <a:buNone/>
            </a:pPr>
            <a:r>
              <a:rPr lang="en-US" sz="1100" b="1" i="1" dirty="0">
                <a:solidFill>
                  <a:srgbClr val="EEECFF"/>
                </a:solidFill>
                <a:latin typeface="Calibri" pitchFamily="34" charset="0"/>
                <a:ea typeface="Calibri" pitchFamily="34" charset="-122"/>
                <a:cs typeface="Calibri" pitchFamily="34" charset="-120"/>
              </a:rPr>
              <a:t>“Check why LLM-as-Judge sits under the Semantic category.”</a:t>
            </a:r>
            <a:endParaRPr lang="en-US" sz="1100" dirty="0"/>
          </a:p>
        </p:txBody>
      </p:sp>
      <p:sp>
        <p:nvSpPr>
          <p:cNvPr id="40" name="Shape 31"/>
          <p:cNvSpPr/>
          <p:nvPr/>
        </p:nvSpPr>
        <p:spPr>
          <a:xfrm>
            <a:off x="6464808" y="5212080"/>
            <a:ext cx="4928616" cy="0"/>
          </a:xfrm>
          <a:prstGeom prst="line">
            <a:avLst/>
          </a:prstGeom>
          <a:noFill/>
          <a:ln w="12700">
            <a:solidFill>
              <a:srgbClr val="FFFFFF">
                <a:alpha val="18000"/>
              </a:srgbClr>
            </a:solidFill>
            <a:prstDash val="solid"/>
          </a:ln>
        </p:spPr>
      </p:sp>
      <p:pic>
        <p:nvPicPr>
          <p:cNvPr id="41" name="Image 7" descr="assets/icons/check_e.png">    </p:cNvPr>
          <p:cNvPicPr>
            <a:picLocks noChangeAspect="1"/>
          </p:cNvPicPr>
          <p:nvPr/>
        </p:nvPicPr>
        <p:blipFill>
          <a:blip r:embed="rId9"/>
          <a:stretch>
            <a:fillRect/>
          </a:stretch>
        </p:blipFill>
        <p:spPr>
          <a:xfrm>
            <a:off x="6464808" y="5321808"/>
            <a:ext cx="182880" cy="182880"/>
          </a:xfrm>
          <a:prstGeom prst="rect">
            <a:avLst/>
          </a:prstGeom>
        </p:spPr>
      </p:pic>
      <p:sp>
        <p:nvSpPr>
          <p:cNvPr id="42" name="Text 32"/>
          <p:cNvSpPr txBox="1"/>
          <p:nvPr/>
        </p:nvSpPr>
        <p:spPr>
          <a:xfrm>
            <a:off x="6702552" y="5321808"/>
            <a:ext cx="4690872" cy="182880"/>
          </a:xfrm>
          <a:prstGeom prst="rect">
            <a:avLst/>
          </a:prstGeom>
          <a:noFill/>
          <a:ln/>
        </p:spPr>
        <p:txBody>
          <a:bodyPr wrap="square" lIns="0" tIns="0" rIns="0" bIns="0" rtlCol="0" anchor="ctr"/>
          <a:lstStyle/>
          <a:p>
            <a:pPr indent="0" marL="0">
              <a:lnSpc>
                <a:spcPct val="100000"/>
              </a:lnSpc>
              <a:buNone/>
            </a:pPr>
            <a:r>
              <a:rPr lang="en-US" sz="850" b="1" spc="120" kern="0" dirty="0">
                <a:solidFill>
                  <a:srgbClr val="16C78C"/>
                </a:solidFill>
                <a:latin typeface="Calibri" pitchFamily="34" charset="0"/>
                <a:ea typeface="Calibri" pitchFamily="34" charset="-122"/>
                <a:cs typeface="Calibri" pitchFamily="34" charset="-120"/>
              </a:rPr>
              <a:t>ACTION  </a:t>
            </a:r>
            <a:pPr indent="0" marL="0">
              <a:lnSpc>
                <a:spcPct val="100000"/>
              </a:lnSpc>
              <a:buNone/>
            </a:pPr>
            <a:r>
              <a:rPr lang="en-US" sz="850" b="1" dirty="0">
                <a:solidFill>
                  <a:srgbClr val="9C97CC"/>
                </a:solidFill>
                <a:latin typeface="Calibri" pitchFamily="34" charset="0"/>
                <a:ea typeface="Calibri" pitchFamily="34" charset="-122"/>
                <a:cs typeface="Calibri" pitchFamily="34" charset="-120"/>
              </a:rPr>
              <a:t>·  Kumbukage</a:t>
            </a:r>
            <a:endParaRPr lang="en-US" sz="850" dirty="0"/>
          </a:p>
        </p:txBody>
      </p:sp>
      <p:sp>
        <p:nvSpPr>
          <p:cNvPr id="43" name="Text 33"/>
          <p:cNvSpPr txBox="1"/>
          <p:nvPr/>
        </p:nvSpPr>
        <p:spPr>
          <a:xfrm>
            <a:off x="6464808" y="5559552"/>
            <a:ext cx="4946904" cy="512064"/>
          </a:xfrm>
          <a:prstGeom prst="rect">
            <a:avLst/>
          </a:prstGeom>
          <a:noFill/>
          <a:ln/>
        </p:spPr>
        <p:txBody>
          <a:bodyPr wrap="square" lIns="0" tIns="0" rIns="0" bIns="0" rtlCol="0" anchor="ctr"/>
          <a:lstStyle/>
          <a:p>
            <a:pPr indent="0" marL="0">
              <a:lnSpc>
                <a:spcPct val="98000"/>
              </a:lnSpc>
              <a:buNone/>
            </a:pPr>
            <a:r>
              <a:rPr lang="en-US" sz="950" dirty="0">
                <a:solidFill>
                  <a:srgbClr val="CFCBEF"/>
                </a:solidFill>
                <a:latin typeface="Calibri" pitchFamily="34" charset="0"/>
                <a:ea typeface="Calibri" pitchFamily="34" charset="-122"/>
                <a:cs typeface="Calibri" pitchFamily="34" charset="-120"/>
              </a:rPr>
              <a:t>Clarified the mapping: LLM-as-Judge scores requirement–code semantic alignment, validated against human-rated samples.</a:t>
            </a:r>
            <a:endParaRPr lang="en-US" sz="950" dirty="0"/>
          </a:p>
        </p:txBody>
      </p:sp>
      <p:sp>
        <p:nvSpPr>
          <p:cNvPr id="44" name="Text 34"/>
          <p:cNvSpPr txBox="1"/>
          <p:nvPr/>
        </p:nvSpPr>
        <p:spPr>
          <a:xfrm>
            <a:off x="566928" y="6217920"/>
            <a:ext cx="11082528" cy="274320"/>
          </a:xfrm>
          <a:prstGeom prst="rect">
            <a:avLst/>
          </a:prstGeom>
          <a:noFill/>
          <a:ln/>
        </p:spPr>
        <p:txBody>
          <a:bodyPr wrap="square" lIns="0" tIns="0" rIns="0" bIns="0" rtlCol="0" anchor="ctr"/>
          <a:lstStyle/>
          <a:p>
            <a:pPr algn="ctr" indent="0" marL="0">
              <a:lnSpc>
                <a:spcPct val="100000"/>
              </a:lnSpc>
              <a:buNone/>
            </a:pPr>
            <a:r>
              <a:rPr lang="en-US" sz="1000" b="1" dirty="0">
                <a:solidFill>
                  <a:srgbClr val="9FE7C9"/>
                </a:solidFill>
                <a:latin typeface="Calibri" pitchFamily="34" charset="0"/>
                <a:ea typeface="Calibri" pitchFamily="34" charset="-122"/>
                <a:cs typeface="Calibri" pitchFamily="34" charset="-120"/>
              </a:rPr>
              <a:t>All members · “explain in your own words, don’t read the slides”   →   </a:t>
            </a:r>
            <a:pPr algn="ctr" indent="0" marL="0">
              <a:lnSpc>
                <a:spcPct val="100000"/>
              </a:lnSpc>
              <a:buNone/>
            </a:pPr>
            <a:r>
              <a:rPr lang="en-US" sz="1000" dirty="0">
                <a:solidFill>
                  <a:srgbClr val="CFCBEF"/>
                </a:solidFill>
                <a:latin typeface="Calibri" pitchFamily="34" charset="0"/>
                <a:ea typeface="Calibri" pitchFamily="34" charset="-122"/>
                <a:cs typeface="Calibri" pitchFamily="34" charset="-120"/>
              </a:rPr>
              <a:t>this deck is visual-first and rehearsed to time, so each component is explained, not read.</a:t>
            </a:r>
            <a:endParaRPr lang="en-US" sz="1000" dirty="0"/>
          </a:p>
        </p:txBody>
      </p:sp>
      <p:sp>
        <p:nvSpPr>
          <p:cNvPr id="45" name="Text 35"/>
          <p:cNvSpPr txBox="1"/>
          <p:nvPr/>
        </p:nvSpPr>
        <p:spPr>
          <a:xfrm>
            <a:off x="603504" y="6528816"/>
            <a:ext cx="6400800" cy="256032"/>
          </a:xfrm>
          <a:prstGeom prst="rect">
            <a:avLst/>
          </a:prstGeom>
          <a:noFill/>
          <a:ln/>
        </p:spPr>
        <p:txBody>
          <a:bodyPr wrap="square" lIns="0" tIns="0" rIns="0" bIns="0" rtlCol="0" anchor="ctr"/>
          <a:lstStyle/>
          <a:p>
            <a:pPr indent="0" marL="0">
              <a:lnSpc>
                <a:spcPct val="100000"/>
              </a:lnSpc>
              <a:buNone/>
            </a:pPr>
            <a:r>
              <a:rPr lang="en-US" sz="850" dirty="0">
                <a:solidFill>
                  <a:srgbClr val="726CA6"/>
                </a:solidFill>
                <a:latin typeface="Calibri" pitchFamily="34" charset="0"/>
                <a:ea typeface="Calibri" pitchFamily="34" charset="-122"/>
                <a:cs typeface="Calibri" pitchFamily="34" charset="-120"/>
              </a:rPr>
              <a:t>J26-SE-363  ·  Progress Presentation 1</a:t>
            </a:r>
            <a:endParaRPr lang="en-US" sz="850" dirty="0"/>
          </a:p>
        </p:txBody>
      </p:sp>
      <p:sp>
        <p:nvSpPr>
          <p:cNvPr id="46" name="Text 36"/>
          <p:cNvSpPr txBox="1"/>
          <p:nvPr/>
        </p:nvSpPr>
        <p:spPr>
          <a:xfrm>
            <a:off x="10972800" y="6528816"/>
            <a:ext cx="640080" cy="256032"/>
          </a:xfrm>
          <a:prstGeom prst="rect">
            <a:avLst/>
          </a:prstGeom>
          <a:noFill/>
          <a:ln/>
        </p:spPr>
        <p:txBody>
          <a:bodyPr wrap="square" lIns="0" tIns="0" rIns="0" bIns="0" rtlCol="0" anchor="ctr"/>
          <a:lstStyle/>
          <a:p>
            <a:pPr algn="r" indent="0" marL="0">
              <a:lnSpc>
                <a:spcPct val="100000"/>
              </a:lnSpc>
              <a:buNone/>
            </a:pPr>
            <a:r>
              <a:rPr lang="en-US" sz="850" dirty="0">
                <a:solidFill>
                  <a:srgbClr val="726CA6"/>
                </a:solidFill>
                <a:latin typeface="Calibri" pitchFamily="34" charset="0"/>
                <a:ea typeface="Calibri" pitchFamily="34" charset="-122"/>
                <a:cs typeface="Calibri" pitchFamily="34" charset="-120"/>
              </a:rPr>
              <a:t>2</a:t>
            </a:r>
            <a:endParaRPr lang="en-US" sz="8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ext 0"/>
          <p:cNvSpPr txBox="1"/>
          <p:nvPr/>
        </p:nvSpPr>
        <p:spPr>
          <a:xfrm>
            <a:off x="603504" y="493776"/>
            <a:ext cx="10058400" cy="274320"/>
          </a:xfrm>
          <a:prstGeom prst="rect">
            <a:avLst/>
          </a:prstGeom>
          <a:noFill/>
          <a:ln/>
        </p:spPr>
        <p:txBody>
          <a:bodyPr wrap="square" lIns="0" tIns="0" rIns="0" bIns="0" rtlCol="0" anchor="ctr"/>
          <a:lstStyle/>
          <a:p>
            <a:pPr indent="0" marL="0">
              <a:lnSpc>
                <a:spcPct val="100000"/>
              </a:lnSpc>
              <a:buNone/>
            </a:pPr>
            <a:r>
              <a:rPr lang="en-US" sz="1100" b="1" spc="260" kern="0" dirty="0">
                <a:solidFill>
                  <a:srgbClr val="9FE7C9"/>
                </a:solidFill>
                <a:latin typeface="Calibri" pitchFamily="34" charset="0"/>
                <a:ea typeface="Calibri" pitchFamily="34" charset="-122"/>
                <a:cs typeface="Calibri" pitchFamily="34" charset="-120"/>
              </a:rPr>
              <a:t>OVERALL PROJECT   ·   PROBLEM</a:t>
            </a:r>
            <a:endParaRPr lang="en-US" sz="1100" dirty="0"/>
          </a:p>
        </p:txBody>
      </p:sp>
      <p:sp>
        <p:nvSpPr>
          <p:cNvPr id="3" name="Text 1"/>
          <p:cNvSpPr txBox="1"/>
          <p:nvPr/>
        </p:nvSpPr>
        <p:spPr>
          <a:xfrm>
            <a:off x="566928" y="749808"/>
            <a:ext cx="10607040" cy="777240"/>
          </a:xfrm>
          <a:prstGeom prst="rect">
            <a:avLst/>
          </a:prstGeom>
          <a:noFill/>
          <a:ln/>
        </p:spPr>
        <p:txBody>
          <a:bodyPr wrap="square" lIns="0" tIns="0" rIns="0" bIns="0" rtlCol="0" anchor="ctr"/>
          <a:lstStyle/>
          <a:p>
            <a:pPr indent="0" marL="0">
              <a:lnSpc>
                <a:spcPct val="98000"/>
              </a:lnSpc>
              <a:buNone/>
            </a:pPr>
            <a:r>
              <a:rPr lang="en-US" sz="2900" b="1" dirty="0">
                <a:solidFill>
                  <a:srgbClr val="FFFFFF"/>
                </a:solidFill>
                <a:latin typeface="Calibri" pitchFamily="34" charset="0"/>
                <a:ea typeface="Calibri" pitchFamily="34" charset="-122"/>
                <a:cs typeface="Calibri" pitchFamily="34" charset="-120"/>
              </a:rPr>
              <a:t>The Problem &amp; Its Real-World Impact</a:t>
            </a:r>
            <a:endParaRPr lang="en-US" sz="2900" dirty="0"/>
          </a:p>
        </p:txBody>
      </p:sp>
      <p:sp>
        <p:nvSpPr>
          <p:cNvPr id="4" name="Shape 2"/>
          <p:cNvSpPr/>
          <p:nvPr/>
        </p:nvSpPr>
        <p:spPr>
          <a:xfrm>
            <a:off x="566928" y="1865376"/>
            <a:ext cx="2679192" cy="2926080"/>
          </a:xfrm>
          <a:prstGeom prst="roundRect">
            <a:avLst>
              <a:gd name="adj" fmla="val 3754"/>
            </a:avLst>
          </a:prstGeom>
          <a:solidFill>
            <a:srgbClr val="FFFFFF">
              <a:alpha val="12000"/>
            </a:srgbClr>
          </a:solidFill>
          <a:ln w="12700">
            <a:solidFill>
              <a:srgbClr val="FFFFFF">
                <a:alpha val="18000"/>
              </a:srgbClr>
            </a:solidFill>
            <a:prstDash val="solid"/>
          </a:ln>
          <a:effectLst>
            <a:outerShdw sx="100000" sy="100000" kx="0" ky="0" algn="bl" rotWithShape="0" blurRad="177800" dist="63500" dir="5400000">
              <a:srgbClr val="0B0920">
                <a:alpha val="45000"/>
              </a:srgbClr>
            </a:outerShdw>
          </a:effectLst>
        </p:spPr>
      </p:sp>
      <p:sp>
        <p:nvSpPr>
          <p:cNvPr id="5" name="Shape 3"/>
          <p:cNvSpPr/>
          <p:nvPr/>
        </p:nvSpPr>
        <p:spPr>
          <a:xfrm>
            <a:off x="932688" y="1609344"/>
            <a:ext cx="2404872" cy="512064"/>
          </a:xfrm>
          <a:prstGeom prst="roundRect">
            <a:avLst>
              <a:gd name="adj" fmla="val 50000"/>
            </a:avLst>
          </a:prstGeom>
          <a:solidFill>
            <a:srgbClr val="7E6CF4"/>
          </a:solidFill>
          <a:ln/>
          <a:effectLst>
            <a:outerShdw sx="100000" sy="100000" kx="0" ky="0" algn="bl" rotWithShape="0" blurRad="127000" dist="50800" dir="5400000">
              <a:srgbClr val="7E6CF4">
                <a:alpha val="45000"/>
              </a:srgbClr>
            </a:outerShdw>
          </a:effectLst>
        </p:spPr>
      </p:sp>
      <p:sp>
        <p:nvSpPr>
          <p:cNvPr id="6" name="Shape 4"/>
          <p:cNvSpPr/>
          <p:nvPr/>
        </p:nvSpPr>
        <p:spPr>
          <a:xfrm>
            <a:off x="676656" y="1536192"/>
            <a:ext cx="676656" cy="676656"/>
          </a:xfrm>
          <a:prstGeom prst="ellipse">
            <a:avLst/>
          </a:prstGeom>
          <a:solidFill>
            <a:srgbClr val="5A47CE"/>
          </a:solidFill>
          <a:ln w="15240">
            <a:solidFill>
              <a:srgbClr val="FFFFFF">
                <a:alpha val="38000"/>
              </a:srgbClr>
            </a:solidFill>
            <a:prstDash val="solid"/>
          </a:ln>
          <a:effectLst>
            <a:outerShdw sx="100000" sy="100000" kx="0" ky="0" algn="bl" rotWithShape="0" blurRad="127000" dist="50800" dir="5400000">
              <a:srgbClr val="5A47CE">
                <a:alpha val="45000"/>
              </a:srgbClr>
            </a:outerShdw>
          </a:effectLst>
        </p:spPr>
      </p:sp>
      <p:pic>
        <p:nvPicPr>
          <p:cNvPr id="7" name="Image 0" descr="assets/icons/clipboard_w.png">    </p:cNvPr>
          <p:cNvPicPr>
            <a:picLocks noChangeAspect="1"/>
          </p:cNvPicPr>
          <p:nvPr/>
        </p:nvPicPr>
        <p:blipFill>
          <a:blip r:embed="rId2"/>
          <a:stretch>
            <a:fillRect/>
          </a:stretch>
        </p:blipFill>
        <p:spPr>
          <a:xfrm>
            <a:off x="866120" y="1725656"/>
            <a:ext cx="297729" cy="297729"/>
          </a:xfrm>
          <a:prstGeom prst="rect">
            <a:avLst/>
          </a:prstGeom>
        </p:spPr>
      </p:pic>
      <p:sp>
        <p:nvSpPr>
          <p:cNvPr id="8" name="Text 5"/>
          <p:cNvSpPr txBox="1"/>
          <p:nvPr/>
        </p:nvSpPr>
        <p:spPr>
          <a:xfrm>
            <a:off x="1389888" y="1609344"/>
            <a:ext cx="1911096" cy="512064"/>
          </a:xfrm>
          <a:prstGeom prst="rect">
            <a:avLst/>
          </a:prstGeom>
          <a:noFill/>
          <a:ln/>
        </p:spPr>
        <p:txBody>
          <a:bodyPr wrap="square" lIns="0" tIns="0" rIns="0" bIns="0" rtlCol="0" anchor="ctr"/>
          <a:lstStyle/>
          <a:p>
            <a:pPr indent="0" marL="0">
              <a:lnSpc>
                <a:spcPct val="100000"/>
              </a:lnSpc>
              <a:buNone/>
            </a:pPr>
            <a:r>
              <a:rPr lang="en-US" sz="1150" b="1" dirty="0">
                <a:solidFill>
                  <a:srgbClr val="FFFFFF"/>
                </a:solidFill>
                <a:latin typeface="Calibri" pitchFamily="34" charset="0"/>
                <a:ea typeface="Calibri" pitchFamily="34" charset="-122"/>
                <a:cs typeface="Calibri" pitchFamily="34" charset="-120"/>
              </a:rPr>
              <a:t>Requirements &amp; Planning</a:t>
            </a:r>
            <a:endParaRPr lang="en-US" sz="1150" dirty="0"/>
          </a:p>
        </p:txBody>
      </p:sp>
      <p:sp>
        <p:nvSpPr>
          <p:cNvPr id="9" name="Text 6"/>
          <p:cNvSpPr txBox="1"/>
          <p:nvPr/>
        </p:nvSpPr>
        <p:spPr>
          <a:xfrm>
            <a:off x="804672" y="2487168"/>
            <a:ext cx="2221992" cy="1828800"/>
          </a:xfrm>
          <a:prstGeom prst="rect">
            <a:avLst/>
          </a:prstGeom>
          <a:noFill/>
          <a:ln/>
        </p:spPr>
        <p:txBody>
          <a:bodyPr wrap="square" lIns="0" tIns="0" rIns="0" bIns="0" rtlCol="0" anchor="ctr"/>
          <a:lstStyle/>
          <a:p>
            <a:pPr indent="0" marL="0">
              <a:lnSpc>
                <a:spcPct val="106000"/>
              </a:lnSpc>
              <a:buNone/>
            </a:pPr>
            <a:r>
              <a:rPr lang="en-US" sz="1100" dirty="0">
                <a:solidFill>
                  <a:srgbClr val="CFCBEF"/>
                </a:solidFill>
                <a:latin typeface="Calibri" pitchFamily="34" charset="0"/>
                <a:ea typeface="Calibri" pitchFamily="34" charset="-122"/>
                <a:cs typeface="Calibri" pitchFamily="34" charset="-120"/>
              </a:rPr>
              <a:t>Students write untestable requirements and plan without structured decomposition — leading to misaligned planning and downstream project failure.</a:t>
            </a:r>
            <a:endParaRPr lang="en-US" sz="1100" dirty="0"/>
          </a:p>
        </p:txBody>
      </p:sp>
      <p:sp>
        <p:nvSpPr>
          <p:cNvPr id="10" name="Text 7"/>
          <p:cNvSpPr txBox="1"/>
          <p:nvPr/>
        </p:nvSpPr>
        <p:spPr>
          <a:xfrm>
            <a:off x="804672" y="4315968"/>
            <a:ext cx="2221992" cy="365760"/>
          </a:xfrm>
          <a:prstGeom prst="rect">
            <a:avLst/>
          </a:prstGeom>
          <a:noFill/>
          <a:ln/>
        </p:spPr>
        <p:txBody>
          <a:bodyPr wrap="square" lIns="0" tIns="0" rIns="0" bIns="0" rtlCol="0" anchor="ctr"/>
          <a:lstStyle/>
          <a:p>
            <a:pPr indent="0" marL="0">
              <a:lnSpc>
                <a:spcPct val="100000"/>
              </a:lnSpc>
              <a:buNone/>
            </a:pPr>
            <a:r>
              <a:rPr lang="en-US" sz="1100" b="1" dirty="0">
                <a:solidFill>
                  <a:srgbClr val="7E6CF4"/>
                </a:solidFill>
                <a:latin typeface="Calibri" pitchFamily="34" charset="0"/>
                <a:ea typeface="Calibri" pitchFamily="34" charset="-122"/>
                <a:cs typeface="Calibri" pitchFamily="34" charset="-120"/>
              </a:rPr>
              <a:t>01</a:t>
            </a:r>
            <a:endParaRPr lang="en-US" sz="1100" dirty="0"/>
          </a:p>
        </p:txBody>
      </p:sp>
      <p:sp>
        <p:nvSpPr>
          <p:cNvPr id="11" name="Shape 8"/>
          <p:cNvSpPr/>
          <p:nvPr/>
        </p:nvSpPr>
        <p:spPr>
          <a:xfrm>
            <a:off x="3337560" y="1865376"/>
            <a:ext cx="2679192" cy="2926080"/>
          </a:xfrm>
          <a:prstGeom prst="roundRect">
            <a:avLst>
              <a:gd name="adj" fmla="val 3754"/>
            </a:avLst>
          </a:prstGeom>
          <a:solidFill>
            <a:srgbClr val="FFFFFF">
              <a:alpha val="12000"/>
            </a:srgbClr>
          </a:solidFill>
          <a:ln w="12700">
            <a:solidFill>
              <a:srgbClr val="FFFFFF">
                <a:alpha val="18000"/>
              </a:srgbClr>
            </a:solidFill>
            <a:prstDash val="solid"/>
          </a:ln>
          <a:effectLst>
            <a:outerShdw sx="100000" sy="100000" kx="0" ky="0" algn="bl" rotWithShape="0" blurRad="177800" dist="63500" dir="5400000">
              <a:srgbClr val="0B0920">
                <a:alpha val="45000"/>
              </a:srgbClr>
            </a:outerShdw>
          </a:effectLst>
        </p:spPr>
      </p:sp>
      <p:sp>
        <p:nvSpPr>
          <p:cNvPr id="12" name="Shape 9"/>
          <p:cNvSpPr/>
          <p:nvPr/>
        </p:nvSpPr>
        <p:spPr>
          <a:xfrm>
            <a:off x="3703320" y="1609344"/>
            <a:ext cx="2337206" cy="512064"/>
          </a:xfrm>
          <a:prstGeom prst="roundRect">
            <a:avLst>
              <a:gd name="adj" fmla="val 50000"/>
            </a:avLst>
          </a:prstGeom>
          <a:solidFill>
            <a:srgbClr val="38C6CC"/>
          </a:solidFill>
          <a:ln/>
          <a:effectLst>
            <a:outerShdw sx="100000" sy="100000" kx="0" ky="0" algn="bl" rotWithShape="0" blurRad="127000" dist="50800" dir="5400000">
              <a:srgbClr val="38C6CC">
                <a:alpha val="45000"/>
              </a:srgbClr>
            </a:outerShdw>
          </a:effectLst>
        </p:spPr>
      </p:sp>
      <p:sp>
        <p:nvSpPr>
          <p:cNvPr id="13" name="Shape 10"/>
          <p:cNvSpPr/>
          <p:nvPr/>
        </p:nvSpPr>
        <p:spPr>
          <a:xfrm>
            <a:off x="3447288" y="1536192"/>
            <a:ext cx="676656" cy="676656"/>
          </a:xfrm>
          <a:prstGeom prst="ellipse">
            <a:avLst/>
          </a:prstGeom>
          <a:solidFill>
            <a:srgbClr val="1E9BA1"/>
          </a:solidFill>
          <a:ln w="15240">
            <a:solidFill>
              <a:srgbClr val="FFFFFF">
                <a:alpha val="38000"/>
              </a:srgbClr>
            </a:solidFill>
            <a:prstDash val="solid"/>
          </a:ln>
          <a:effectLst>
            <a:outerShdw sx="100000" sy="100000" kx="0" ky="0" algn="bl" rotWithShape="0" blurRad="127000" dist="50800" dir="5400000">
              <a:srgbClr val="1E9BA1">
                <a:alpha val="45000"/>
              </a:srgbClr>
            </a:outerShdw>
          </a:effectLst>
        </p:spPr>
      </p:sp>
      <p:pic>
        <p:nvPicPr>
          <p:cNvPr id="14" name="Image 1" descr="assets/icons/lifebuoy_w.png">    </p:cNvPr>
          <p:cNvPicPr>
            <a:picLocks noChangeAspect="1"/>
          </p:cNvPicPr>
          <p:nvPr/>
        </p:nvPicPr>
        <p:blipFill>
          <a:blip r:embed="rId3"/>
          <a:stretch>
            <a:fillRect/>
          </a:stretch>
        </p:blipFill>
        <p:spPr>
          <a:xfrm>
            <a:off x="3636752" y="1725656"/>
            <a:ext cx="297729" cy="297729"/>
          </a:xfrm>
          <a:prstGeom prst="rect">
            <a:avLst/>
          </a:prstGeom>
        </p:spPr>
      </p:pic>
      <p:sp>
        <p:nvSpPr>
          <p:cNvPr id="15" name="Text 11"/>
          <p:cNvSpPr txBox="1"/>
          <p:nvPr/>
        </p:nvSpPr>
        <p:spPr>
          <a:xfrm>
            <a:off x="4160520" y="1609344"/>
            <a:ext cx="1843430" cy="512064"/>
          </a:xfrm>
          <a:prstGeom prst="rect">
            <a:avLst/>
          </a:prstGeom>
          <a:noFill/>
          <a:ln/>
        </p:spPr>
        <p:txBody>
          <a:bodyPr wrap="square" lIns="0" tIns="0" rIns="0" bIns="0" rtlCol="0" anchor="ctr"/>
          <a:lstStyle/>
          <a:p>
            <a:pPr indent="0" marL="0">
              <a:lnSpc>
                <a:spcPct val="100000"/>
              </a:lnSpc>
              <a:buNone/>
            </a:pPr>
            <a:r>
              <a:rPr lang="en-US" sz="1150" b="1" dirty="0">
                <a:solidFill>
                  <a:srgbClr val="FFFFFF"/>
                </a:solidFill>
                <a:latin typeface="Calibri" pitchFamily="34" charset="0"/>
                <a:ea typeface="Calibri" pitchFamily="34" charset="-122"/>
                <a:cs typeface="Calibri" pitchFamily="34" charset="-120"/>
              </a:rPr>
              <a:t>Continuous Support</a:t>
            </a:r>
            <a:endParaRPr lang="en-US" sz="1150" dirty="0"/>
          </a:p>
        </p:txBody>
      </p:sp>
      <p:sp>
        <p:nvSpPr>
          <p:cNvPr id="16" name="Text 12"/>
          <p:cNvSpPr txBox="1"/>
          <p:nvPr/>
        </p:nvSpPr>
        <p:spPr>
          <a:xfrm>
            <a:off x="3575304" y="2487168"/>
            <a:ext cx="2221992" cy="1828800"/>
          </a:xfrm>
          <a:prstGeom prst="rect">
            <a:avLst/>
          </a:prstGeom>
          <a:noFill/>
          <a:ln/>
        </p:spPr>
        <p:txBody>
          <a:bodyPr wrap="square" lIns="0" tIns="0" rIns="0" bIns="0" rtlCol="0" anchor="ctr"/>
          <a:lstStyle/>
          <a:p>
            <a:pPr indent="0" marL="0">
              <a:lnSpc>
                <a:spcPct val="106000"/>
              </a:lnSpc>
              <a:buNone/>
            </a:pPr>
            <a:r>
              <a:rPr lang="en-US" sz="1100" dirty="0">
                <a:solidFill>
                  <a:srgbClr val="CFCBEF"/>
                </a:solidFill>
                <a:latin typeface="Calibri" pitchFamily="34" charset="0"/>
                <a:ea typeface="Calibri" pitchFamily="34" charset="-122"/>
                <a:cs typeface="Calibri" pitchFamily="34" charset="-120"/>
              </a:rPr>
              <a:t>No project-context-aware guidance when technical blockers arise during development — reducing learning opportunity and sprint velocity.</a:t>
            </a:r>
            <a:endParaRPr lang="en-US" sz="1100" dirty="0"/>
          </a:p>
        </p:txBody>
      </p:sp>
      <p:sp>
        <p:nvSpPr>
          <p:cNvPr id="17" name="Text 13"/>
          <p:cNvSpPr txBox="1"/>
          <p:nvPr/>
        </p:nvSpPr>
        <p:spPr>
          <a:xfrm>
            <a:off x="3575304" y="4315968"/>
            <a:ext cx="2221992" cy="365760"/>
          </a:xfrm>
          <a:prstGeom prst="rect">
            <a:avLst/>
          </a:prstGeom>
          <a:noFill/>
          <a:ln/>
        </p:spPr>
        <p:txBody>
          <a:bodyPr wrap="square" lIns="0" tIns="0" rIns="0" bIns="0" rtlCol="0" anchor="ctr"/>
          <a:lstStyle/>
          <a:p>
            <a:pPr indent="0" marL="0">
              <a:lnSpc>
                <a:spcPct val="100000"/>
              </a:lnSpc>
              <a:buNone/>
            </a:pPr>
            <a:r>
              <a:rPr lang="en-US" sz="1100" b="1" dirty="0">
                <a:solidFill>
                  <a:srgbClr val="38C6CC"/>
                </a:solidFill>
                <a:latin typeface="Calibri" pitchFamily="34" charset="0"/>
                <a:ea typeface="Calibri" pitchFamily="34" charset="-122"/>
                <a:cs typeface="Calibri" pitchFamily="34" charset="-120"/>
              </a:rPr>
              <a:t>02</a:t>
            </a:r>
            <a:endParaRPr lang="en-US" sz="1100" dirty="0"/>
          </a:p>
        </p:txBody>
      </p:sp>
      <p:sp>
        <p:nvSpPr>
          <p:cNvPr id="18" name="Shape 14"/>
          <p:cNvSpPr/>
          <p:nvPr/>
        </p:nvSpPr>
        <p:spPr>
          <a:xfrm>
            <a:off x="6108192" y="1865376"/>
            <a:ext cx="2679192" cy="2926080"/>
          </a:xfrm>
          <a:prstGeom prst="roundRect">
            <a:avLst>
              <a:gd name="adj" fmla="val 3754"/>
            </a:avLst>
          </a:prstGeom>
          <a:solidFill>
            <a:srgbClr val="FFFFFF">
              <a:alpha val="12000"/>
            </a:srgbClr>
          </a:solidFill>
          <a:ln w="12700">
            <a:solidFill>
              <a:srgbClr val="FFFFFF">
                <a:alpha val="18000"/>
              </a:srgbClr>
            </a:solidFill>
            <a:prstDash val="solid"/>
          </a:ln>
          <a:effectLst>
            <a:outerShdw sx="100000" sy="100000" kx="0" ky="0" algn="bl" rotWithShape="0" blurRad="177800" dist="63500" dir="5400000">
              <a:srgbClr val="0B0920">
                <a:alpha val="45000"/>
              </a:srgbClr>
            </a:outerShdw>
          </a:effectLst>
        </p:spPr>
      </p:sp>
      <p:sp>
        <p:nvSpPr>
          <p:cNvPr id="19" name="Shape 15"/>
          <p:cNvSpPr/>
          <p:nvPr/>
        </p:nvSpPr>
        <p:spPr>
          <a:xfrm>
            <a:off x="6473952" y="1609344"/>
            <a:ext cx="2404872" cy="512064"/>
          </a:xfrm>
          <a:prstGeom prst="roundRect">
            <a:avLst>
              <a:gd name="adj" fmla="val 50000"/>
            </a:avLst>
          </a:prstGeom>
          <a:solidFill>
            <a:srgbClr val="F2A740"/>
          </a:solidFill>
          <a:ln/>
          <a:effectLst>
            <a:outerShdw sx="100000" sy="100000" kx="0" ky="0" algn="bl" rotWithShape="0" blurRad="127000" dist="50800" dir="5400000">
              <a:srgbClr val="F2A740">
                <a:alpha val="45000"/>
              </a:srgbClr>
            </a:outerShdw>
          </a:effectLst>
        </p:spPr>
      </p:sp>
      <p:sp>
        <p:nvSpPr>
          <p:cNvPr id="20" name="Shape 16"/>
          <p:cNvSpPr/>
          <p:nvPr/>
        </p:nvSpPr>
        <p:spPr>
          <a:xfrm>
            <a:off x="6217920" y="1536192"/>
            <a:ext cx="676656" cy="676656"/>
          </a:xfrm>
          <a:prstGeom prst="ellipse">
            <a:avLst/>
          </a:prstGeom>
          <a:solidFill>
            <a:srgbClr val="E0891C"/>
          </a:solidFill>
          <a:ln w="15240">
            <a:solidFill>
              <a:srgbClr val="FFFFFF">
                <a:alpha val="38000"/>
              </a:srgbClr>
            </a:solidFill>
            <a:prstDash val="solid"/>
          </a:ln>
          <a:effectLst>
            <a:outerShdw sx="100000" sy="100000" kx="0" ky="0" algn="bl" rotWithShape="0" blurRad="127000" dist="50800" dir="5400000">
              <a:srgbClr val="E0891C">
                <a:alpha val="45000"/>
              </a:srgbClr>
            </a:outerShdw>
          </a:effectLst>
        </p:spPr>
      </p:sp>
      <p:pic>
        <p:nvPicPr>
          <p:cNvPr id="21" name="Image 2" descr="assets/icons/users_w.png">    </p:cNvPr>
          <p:cNvPicPr>
            <a:picLocks noChangeAspect="1"/>
          </p:cNvPicPr>
          <p:nvPr/>
        </p:nvPicPr>
        <p:blipFill>
          <a:blip r:embed="rId4"/>
          <a:stretch>
            <a:fillRect/>
          </a:stretch>
        </p:blipFill>
        <p:spPr>
          <a:xfrm>
            <a:off x="6407384" y="1725656"/>
            <a:ext cx="297729" cy="297729"/>
          </a:xfrm>
          <a:prstGeom prst="rect">
            <a:avLst/>
          </a:prstGeom>
        </p:spPr>
      </p:pic>
      <p:sp>
        <p:nvSpPr>
          <p:cNvPr id="22" name="Text 17"/>
          <p:cNvSpPr txBox="1"/>
          <p:nvPr/>
        </p:nvSpPr>
        <p:spPr>
          <a:xfrm>
            <a:off x="6931152" y="1609344"/>
            <a:ext cx="1911096" cy="512064"/>
          </a:xfrm>
          <a:prstGeom prst="rect">
            <a:avLst/>
          </a:prstGeom>
          <a:noFill/>
          <a:ln/>
        </p:spPr>
        <p:txBody>
          <a:bodyPr wrap="square" lIns="0" tIns="0" rIns="0" bIns="0" rtlCol="0" anchor="ctr"/>
          <a:lstStyle/>
          <a:p>
            <a:pPr indent="0" marL="0">
              <a:lnSpc>
                <a:spcPct val="100000"/>
              </a:lnSpc>
              <a:buNone/>
            </a:pPr>
            <a:r>
              <a:rPr lang="en-US" sz="1150" b="1" dirty="0">
                <a:solidFill>
                  <a:srgbClr val="FFFFFF"/>
                </a:solidFill>
                <a:latin typeface="Calibri" pitchFamily="34" charset="0"/>
                <a:ea typeface="Calibri" pitchFamily="34" charset="-122"/>
                <a:cs typeface="Calibri" pitchFamily="34" charset="-120"/>
              </a:rPr>
              <a:t>Individual Assessment</a:t>
            </a:r>
            <a:endParaRPr lang="en-US" sz="1150" dirty="0"/>
          </a:p>
        </p:txBody>
      </p:sp>
      <p:sp>
        <p:nvSpPr>
          <p:cNvPr id="23" name="Text 18"/>
          <p:cNvSpPr txBox="1"/>
          <p:nvPr/>
        </p:nvSpPr>
        <p:spPr>
          <a:xfrm>
            <a:off x="6345936" y="2487168"/>
            <a:ext cx="2221992" cy="1828800"/>
          </a:xfrm>
          <a:prstGeom prst="rect">
            <a:avLst/>
          </a:prstGeom>
          <a:noFill/>
          <a:ln/>
        </p:spPr>
        <p:txBody>
          <a:bodyPr wrap="square" lIns="0" tIns="0" rIns="0" bIns="0" rtlCol="0" anchor="ctr"/>
          <a:lstStyle/>
          <a:p>
            <a:pPr indent="0" marL="0">
              <a:lnSpc>
                <a:spcPct val="106000"/>
              </a:lnSpc>
              <a:buNone/>
            </a:pPr>
            <a:r>
              <a:rPr lang="en-US" sz="1100" dirty="0">
                <a:solidFill>
                  <a:srgbClr val="CFCBEF"/>
                </a:solidFill>
                <a:latin typeface="Calibri" pitchFamily="34" charset="0"/>
                <a:ea typeface="Calibri" pitchFamily="34" charset="-122"/>
                <a:cs typeface="Calibri" pitchFamily="34" charset="-120"/>
              </a:rPr>
              <a:t>Team-level grading masks individual variance and rewards free-riding; instructors have little time to inspect commits and Scrum logs.</a:t>
            </a:r>
            <a:endParaRPr lang="en-US" sz="1100" dirty="0"/>
          </a:p>
        </p:txBody>
      </p:sp>
      <p:sp>
        <p:nvSpPr>
          <p:cNvPr id="24" name="Text 19"/>
          <p:cNvSpPr txBox="1"/>
          <p:nvPr/>
        </p:nvSpPr>
        <p:spPr>
          <a:xfrm>
            <a:off x="6345936" y="4315968"/>
            <a:ext cx="2221992" cy="365760"/>
          </a:xfrm>
          <a:prstGeom prst="rect">
            <a:avLst/>
          </a:prstGeom>
          <a:noFill/>
          <a:ln/>
        </p:spPr>
        <p:txBody>
          <a:bodyPr wrap="square" lIns="0" tIns="0" rIns="0" bIns="0" rtlCol="0" anchor="ctr"/>
          <a:lstStyle/>
          <a:p>
            <a:pPr indent="0" marL="0">
              <a:lnSpc>
                <a:spcPct val="100000"/>
              </a:lnSpc>
              <a:buNone/>
            </a:pPr>
            <a:r>
              <a:rPr lang="en-US" sz="1100" b="1" dirty="0">
                <a:solidFill>
                  <a:srgbClr val="F2A740"/>
                </a:solidFill>
                <a:latin typeface="Calibri" pitchFamily="34" charset="0"/>
                <a:ea typeface="Calibri" pitchFamily="34" charset="-122"/>
                <a:cs typeface="Calibri" pitchFamily="34" charset="-120"/>
              </a:rPr>
              <a:t>03</a:t>
            </a:r>
            <a:endParaRPr lang="en-US" sz="1100" dirty="0"/>
          </a:p>
        </p:txBody>
      </p:sp>
      <p:sp>
        <p:nvSpPr>
          <p:cNvPr id="25" name="Shape 20"/>
          <p:cNvSpPr/>
          <p:nvPr/>
        </p:nvSpPr>
        <p:spPr>
          <a:xfrm>
            <a:off x="8878824" y="1865376"/>
            <a:ext cx="2679192" cy="2926080"/>
          </a:xfrm>
          <a:prstGeom prst="roundRect">
            <a:avLst>
              <a:gd name="adj" fmla="val 3754"/>
            </a:avLst>
          </a:prstGeom>
          <a:solidFill>
            <a:srgbClr val="FFFFFF">
              <a:alpha val="12000"/>
            </a:srgbClr>
          </a:solidFill>
          <a:ln w="12700">
            <a:solidFill>
              <a:srgbClr val="FFFFFF">
                <a:alpha val="18000"/>
              </a:srgbClr>
            </a:solidFill>
            <a:prstDash val="solid"/>
          </a:ln>
          <a:effectLst>
            <a:outerShdw sx="100000" sy="100000" kx="0" ky="0" algn="bl" rotWithShape="0" blurRad="177800" dist="63500" dir="5400000">
              <a:srgbClr val="0B0920">
                <a:alpha val="45000"/>
              </a:srgbClr>
            </a:outerShdw>
          </a:effectLst>
        </p:spPr>
      </p:sp>
      <p:sp>
        <p:nvSpPr>
          <p:cNvPr id="26" name="Shape 21"/>
          <p:cNvSpPr/>
          <p:nvPr/>
        </p:nvSpPr>
        <p:spPr>
          <a:xfrm>
            <a:off x="9244584" y="1609344"/>
            <a:ext cx="2404872" cy="512064"/>
          </a:xfrm>
          <a:prstGeom prst="roundRect">
            <a:avLst>
              <a:gd name="adj" fmla="val 50000"/>
            </a:avLst>
          </a:prstGeom>
          <a:solidFill>
            <a:srgbClr val="39BC7A"/>
          </a:solidFill>
          <a:ln/>
          <a:effectLst>
            <a:outerShdw sx="100000" sy="100000" kx="0" ky="0" algn="bl" rotWithShape="0" blurRad="127000" dist="50800" dir="5400000">
              <a:srgbClr val="39BC7A">
                <a:alpha val="45000"/>
              </a:srgbClr>
            </a:outerShdw>
          </a:effectLst>
        </p:spPr>
      </p:sp>
      <p:sp>
        <p:nvSpPr>
          <p:cNvPr id="27" name="Shape 22"/>
          <p:cNvSpPr/>
          <p:nvPr/>
        </p:nvSpPr>
        <p:spPr>
          <a:xfrm>
            <a:off x="8988552" y="1536192"/>
            <a:ext cx="676656" cy="676656"/>
          </a:xfrm>
          <a:prstGeom prst="ellipse">
            <a:avLst/>
          </a:prstGeom>
          <a:solidFill>
            <a:srgbClr val="23925B"/>
          </a:solidFill>
          <a:ln w="15240">
            <a:solidFill>
              <a:srgbClr val="FFFFFF">
                <a:alpha val="38000"/>
              </a:srgbClr>
            </a:solidFill>
            <a:prstDash val="solid"/>
          </a:ln>
          <a:effectLst>
            <a:outerShdw sx="100000" sy="100000" kx="0" ky="0" algn="bl" rotWithShape="0" blurRad="127000" dist="50800" dir="5400000">
              <a:srgbClr val="23925B">
                <a:alpha val="45000"/>
              </a:srgbClr>
            </a:outerShdw>
          </a:effectLst>
        </p:spPr>
      </p:sp>
      <p:pic>
        <p:nvPicPr>
          <p:cNvPr id="28" name="Image 3" descr="assets/icons/shield_w.png">    </p:cNvPr>
          <p:cNvPicPr>
            <a:picLocks noChangeAspect="1"/>
          </p:cNvPicPr>
          <p:nvPr/>
        </p:nvPicPr>
        <p:blipFill>
          <a:blip r:embed="rId5"/>
          <a:stretch>
            <a:fillRect/>
          </a:stretch>
        </p:blipFill>
        <p:spPr>
          <a:xfrm>
            <a:off x="9178016" y="1725656"/>
            <a:ext cx="297729" cy="297729"/>
          </a:xfrm>
          <a:prstGeom prst="rect">
            <a:avLst/>
          </a:prstGeom>
        </p:spPr>
      </p:pic>
      <p:sp>
        <p:nvSpPr>
          <p:cNvPr id="29" name="Text 23"/>
          <p:cNvSpPr txBox="1"/>
          <p:nvPr/>
        </p:nvSpPr>
        <p:spPr>
          <a:xfrm>
            <a:off x="9701784" y="1609344"/>
            <a:ext cx="1911096" cy="512064"/>
          </a:xfrm>
          <a:prstGeom prst="rect">
            <a:avLst/>
          </a:prstGeom>
          <a:noFill/>
          <a:ln/>
        </p:spPr>
        <p:txBody>
          <a:bodyPr wrap="square" lIns="0" tIns="0" rIns="0" bIns="0" rtlCol="0" anchor="ctr"/>
          <a:lstStyle/>
          <a:p>
            <a:pPr indent="0" marL="0">
              <a:lnSpc>
                <a:spcPct val="100000"/>
              </a:lnSpc>
              <a:buNone/>
            </a:pPr>
            <a:r>
              <a:rPr lang="en-US" sz="1150" b="1" dirty="0">
                <a:solidFill>
                  <a:srgbClr val="FFFFFF"/>
                </a:solidFill>
                <a:latin typeface="Calibri" pitchFamily="34" charset="0"/>
                <a:ea typeface="Calibri" pitchFamily="34" charset="-122"/>
                <a:cs typeface="Calibri" pitchFamily="34" charset="-120"/>
              </a:rPr>
              <a:t>Software Security &amp; Quality</a:t>
            </a:r>
            <a:endParaRPr lang="en-US" sz="1150" dirty="0"/>
          </a:p>
        </p:txBody>
      </p:sp>
      <p:sp>
        <p:nvSpPr>
          <p:cNvPr id="30" name="Text 24"/>
          <p:cNvSpPr txBox="1"/>
          <p:nvPr/>
        </p:nvSpPr>
        <p:spPr>
          <a:xfrm>
            <a:off x="9116568" y="2487168"/>
            <a:ext cx="2221992" cy="1828800"/>
          </a:xfrm>
          <a:prstGeom prst="rect">
            <a:avLst/>
          </a:prstGeom>
          <a:noFill/>
          <a:ln/>
        </p:spPr>
        <p:txBody>
          <a:bodyPr wrap="square" lIns="0" tIns="0" rIns="0" bIns="0" rtlCol="0" anchor="ctr"/>
          <a:lstStyle/>
          <a:p>
            <a:pPr indent="0" marL="0">
              <a:lnSpc>
                <a:spcPct val="106000"/>
              </a:lnSpc>
              <a:buNone/>
            </a:pPr>
            <a:r>
              <a:rPr lang="en-US" sz="1100" dirty="0">
                <a:solidFill>
                  <a:srgbClr val="CFCBEF"/>
                </a:solidFill>
                <a:latin typeface="Calibri" pitchFamily="34" charset="0"/>
                <a:ea typeface="Calibri" pitchFamily="34" charset="-122"/>
                <a:cs typeface="Calibri" pitchFamily="34" charset="-120"/>
              </a:rPr>
              <a:t>Secure, high-quality software gets too little focus in conventional assessment, so vulnerabilities persist into final deliverables.</a:t>
            </a:r>
            <a:endParaRPr lang="en-US" sz="1100" dirty="0"/>
          </a:p>
        </p:txBody>
      </p:sp>
      <p:sp>
        <p:nvSpPr>
          <p:cNvPr id="31" name="Text 25"/>
          <p:cNvSpPr txBox="1"/>
          <p:nvPr/>
        </p:nvSpPr>
        <p:spPr>
          <a:xfrm>
            <a:off x="9116568" y="4315968"/>
            <a:ext cx="2221992" cy="365760"/>
          </a:xfrm>
          <a:prstGeom prst="rect">
            <a:avLst/>
          </a:prstGeom>
          <a:noFill/>
          <a:ln/>
        </p:spPr>
        <p:txBody>
          <a:bodyPr wrap="square" lIns="0" tIns="0" rIns="0" bIns="0" rtlCol="0" anchor="ctr"/>
          <a:lstStyle/>
          <a:p>
            <a:pPr indent="0" marL="0">
              <a:lnSpc>
                <a:spcPct val="100000"/>
              </a:lnSpc>
              <a:buNone/>
            </a:pPr>
            <a:r>
              <a:rPr lang="en-US" sz="1100" b="1" dirty="0">
                <a:solidFill>
                  <a:srgbClr val="39BC7A"/>
                </a:solidFill>
                <a:latin typeface="Calibri" pitchFamily="34" charset="0"/>
                <a:ea typeface="Calibri" pitchFamily="34" charset="-122"/>
                <a:cs typeface="Calibri" pitchFamily="34" charset="-120"/>
              </a:rPr>
              <a:t>04</a:t>
            </a:r>
            <a:endParaRPr lang="en-US" sz="1100" dirty="0"/>
          </a:p>
        </p:txBody>
      </p:sp>
      <p:sp>
        <p:nvSpPr>
          <p:cNvPr id="32" name="Shape 26"/>
          <p:cNvSpPr/>
          <p:nvPr/>
        </p:nvSpPr>
        <p:spPr>
          <a:xfrm>
            <a:off x="566928" y="4974336"/>
            <a:ext cx="10991088" cy="530352"/>
          </a:xfrm>
          <a:prstGeom prst="roundRect">
            <a:avLst>
              <a:gd name="adj" fmla="val 18966"/>
            </a:avLst>
          </a:prstGeom>
          <a:solidFill>
            <a:srgbClr val="FFFFFF">
              <a:alpha val="16000"/>
            </a:srgbClr>
          </a:solidFill>
          <a:ln w="12700">
            <a:solidFill>
              <a:srgbClr val="FFFFFF">
                <a:alpha val="18000"/>
              </a:srgbClr>
            </a:solidFill>
            <a:prstDash val="solid"/>
          </a:ln>
          <a:effectLst>
            <a:outerShdw sx="100000" sy="100000" kx="0" ky="0" algn="bl" rotWithShape="0" blurRad="177800" dist="63500" dir="5400000">
              <a:srgbClr val="0B0920">
                <a:alpha val="45000"/>
              </a:srgbClr>
            </a:outerShdw>
          </a:effectLst>
        </p:spPr>
      </p:sp>
      <p:sp>
        <p:nvSpPr>
          <p:cNvPr id="33" name="Shape 27"/>
          <p:cNvSpPr/>
          <p:nvPr/>
        </p:nvSpPr>
        <p:spPr>
          <a:xfrm>
            <a:off x="749808" y="5074920"/>
            <a:ext cx="329184" cy="329184"/>
          </a:xfrm>
          <a:prstGeom prst="ellipse">
            <a:avLst/>
          </a:prstGeom>
          <a:solidFill>
            <a:srgbClr val="23925B"/>
          </a:solidFill>
          <a:ln w="17780">
            <a:solidFill>
              <a:srgbClr val="39BC7A"/>
            </a:solidFill>
            <a:prstDash val="solid"/>
          </a:ln>
          <a:effectLst>
            <a:outerShdw sx="100000" sy="100000" kx="0" ky="0" algn="bl" rotWithShape="0" blurRad="127000" dist="50800" dir="5400000">
              <a:srgbClr val="39BC7A">
                <a:alpha val="45000"/>
              </a:srgbClr>
            </a:outerShdw>
          </a:effectLst>
        </p:spPr>
      </p:sp>
      <p:pic>
        <p:nvPicPr>
          <p:cNvPr id="34" name="Image 4" descr="assets/icons/alert_w.png">    </p:cNvPr>
          <p:cNvPicPr>
            <a:picLocks noChangeAspect="1"/>
          </p:cNvPicPr>
          <p:nvPr/>
        </p:nvPicPr>
        <p:blipFill>
          <a:blip r:embed="rId6"/>
          <a:stretch>
            <a:fillRect/>
          </a:stretch>
        </p:blipFill>
        <p:spPr>
          <a:xfrm>
            <a:off x="841980" y="5167092"/>
            <a:ext cx="144841" cy="144841"/>
          </a:xfrm>
          <a:prstGeom prst="rect">
            <a:avLst/>
          </a:prstGeom>
        </p:spPr>
      </p:pic>
      <p:sp>
        <p:nvSpPr>
          <p:cNvPr id="35" name="Text 28"/>
          <p:cNvSpPr txBox="1"/>
          <p:nvPr/>
        </p:nvSpPr>
        <p:spPr>
          <a:xfrm>
            <a:off x="1225296" y="5001768"/>
            <a:ext cx="10122408" cy="457200"/>
          </a:xfrm>
          <a:prstGeom prst="rect">
            <a:avLst/>
          </a:prstGeom>
          <a:noFill/>
          <a:ln/>
        </p:spPr>
        <p:txBody>
          <a:bodyPr wrap="square" lIns="0" tIns="0" rIns="0" bIns="0" rtlCol="0" anchor="ctr"/>
          <a:lstStyle/>
          <a:p>
            <a:pPr indent="0" marL="0">
              <a:lnSpc>
                <a:spcPct val="95000"/>
              </a:lnSpc>
              <a:buNone/>
            </a:pPr>
            <a:r>
              <a:rPr lang="en-US" sz="1100" b="1" dirty="0">
                <a:solidFill>
                  <a:srgbClr val="9FE7C9"/>
                </a:solidFill>
                <a:latin typeface="Calibri" pitchFamily="34" charset="0"/>
                <a:ea typeface="Calibri" pitchFamily="34" charset="-122"/>
                <a:cs typeface="Calibri" pitchFamily="34" charset="-120"/>
              </a:rPr>
              <a:t>Impact at scale:  </a:t>
            </a:r>
            <a:pPr indent="0" marL="0">
              <a:lnSpc>
                <a:spcPct val="95000"/>
              </a:lnSpc>
              <a:buNone/>
            </a:pPr>
            <a:r>
              <a:rPr lang="en-US" sz="1100" dirty="0">
                <a:solidFill>
                  <a:srgbClr val="CFCBEF"/>
                </a:solidFill>
                <a:latin typeface="Calibri" pitchFamily="34" charset="0"/>
                <a:ea typeface="Calibri" pitchFamily="34" charset="-122"/>
                <a:cs typeface="Calibri" pitchFamily="34" charset="-120"/>
              </a:rPr>
              <a:t>weak planning, unfair grading and unverified security lower learning quality, individual accountability and graduate readiness across every student team.</a:t>
            </a:r>
            <a:endParaRPr lang="en-US" sz="1100" dirty="0"/>
          </a:p>
        </p:txBody>
      </p:sp>
      <p:sp>
        <p:nvSpPr>
          <p:cNvPr id="36" name="Text 29"/>
          <p:cNvSpPr txBox="1"/>
          <p:nvPr/>
        </p:nvSpPr>
        <p:spPr>
          <a:xfrm>
            <a:off x="603504" y="6528816"/>
            <a:ext cx="6400800" cy="256032"/>
          </a:xfrm>
          <a:prstGeom prst="rect">
            <a:avLst/>
          </a:prstGeom>
          <a:noFill/>
          <a:ln/>
        </p:spPr>
        <p:txBody>
          <a:bodyPr wrap="square" lIns="0" tIns="0" rIns="0" bIns="0" rtlCol="0" anchor="ctr"/>
          <a:lstStyle/>
          <a:p>
            <a:pPr indent="0" marL="0">
              <a:lnSpc>
                <a:spcPct val="100000"/>
              </a:lnSpc>
              <a:buNone/>
            </a:pPr>
            <a:r>
              <a:rPr lang="en-US" sz="850" dirty="0">
                <a:solidFill>
                  <a:srgbClr val="726CA6"/>
                </a:solidFill>
                <a:latin typeface="Calibri" pitchFamily="34" charset="0"/>
                <a:ea typeface="Calibri" pitchFamily="34" charset="-122"/>
                <a:cs typeface="Calibri" pitchFamily="34" charset="-120"/>
              </a:rPr>
              <a:t>J26-SE-363  ·  Progress Presentation 1</a:t>
            </a:r>
            <a:endParaRPr lang="en-US" sz="850" dirty="0"/>
          </a:p>
        </p:txBody>
      </p:sp>
      <p:sp>
        <p:nvSpPr>
          <p:cNvPr id="37" name="Text 30"/>
          <p:cNvSpPr txBox="1"/>
          <p:nvPr/>
        </p:nvSpPr>
        <p:spPr>
          <a:xfrm>
            <a:off x="10972800" y="6528816"/>
            <a:ext cx="640080" cy="256032"/>
          </a:xfrm>
          <a:prstGeom prst="rect">
            <a:avLst/>
          </a:prstGeom>
          <a:noFill/>
          <a:ln/>
        </p:spPr>
        <p:txBody>
          <a:bodyPr wrap="square" lIns="0" tIns="0" rIns="0" bIns="0" rtlCol="0" anchor="ctr"/>
          <a:lstStyle/>
          <a:p>
            <a:pPr algn="r" indent="0" marL="0">
              <a:lnSpc>
                <a:spcPct val="100000"/>
              </a:lnSpc>
              <a:buNone/>
            </a:pPr>
            <a:r>
              <a:rPr lang="en-US" sz="850" dirty="0">
                <a:solidFill>
                  <a:srgbClr val="726CA6"/>
                </a:solidFill>
                <a:latin typeface="Calibri" pitchFamily="34" charset="0"/>
                <a:ea typeface="Calibri" pitchFamily="34" charset="-122"/>
                <a:cs typeface="Calibri" pitchFamily="34" charset="-120"/>
              </a:rPr>
              <a:t>3</a:t>
            </a:r>
            <a:endParaRPr lang="en-US" sz="8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ext 0"/>
          <p:cNvSpPr txBox="1"/>
          <p:nvPr/>
        </p:nvSpPr>
        <p:spPr>
          <a:xfrm>
            <a:off x="603504" y="493776"/>
            <a:ext cx="10058400" cy="274320"/>
          </a:xfrm>
          <a:prstGeom prst="rect">
            <a:avLst/>
          </a:prstGeom>
          <a:noFill/>
          <a:ln/>
        </p:spPr>
        <p:txBody>
          <a:bodyPr wrap="square" lIns="0" tIns="0" rIns="0" bIns="0" rtlCol="0" anchor="ctr"/>
          <a:lstStyle/>
          <a:p>
            <a:pPr indent="0" marL="0">
              <a:lnSpc>
                <a:spcPct val="100000"/>
              </a:lnSpc>
              <a:buNone/>
            </a:pPr>
            <a:r>
              <a:rPr lang="en-US" sz="1100" b="1" spc="260" kern="0" dirty="0">
                <a:solidFill>
                  <a:srgbClr val="9FE7C9"/>
                </a:solidFill>
                <a:latin typeface="Calibri" pitchFamily="34" charset="0"/>
                <a:ea typeface="Calibri" pitchFamily="34" charset="-122"/>
                <a:cs typeface="Calibri" pitchFamily="34" charset="-120"/>
              </a:rPr>
              <a:t>OVERALL PROJECT   ·   STAKEHOLDERS</a:t>
            </a:r>
            <a:endParaRPr lang="en-US" sz="1100" dirty="0"/>
          </a:p>
        </p:txBody>
      </p:sp>
      <p:sp>
        <p:nvSpPr>
          <p:cNvPr id="3" name="Text 1"/>
          <p:cNvSpPr txBox="1"/>
          <p:nvPr/>
        </p:nvSpPr>
        <p:spPr>
          <a:xfrm>
            <a:off x="566928" y="749808"/>
            <a:ext cx="10607040" cy="777240"/>
          </a:xfrm>
          <a:prstGeom prst="rect">
            <a:avLst/>
          </a:prstGeom>
          <a:noFill/>
          <a:ln/>
        </p:spPr>
        <p:txBody>
          <a:bodyPr wrap="square" lIns="0" tIns="0" rIns="0" bIns="0" rtlCol="0" anchor="ctr"/>
          <a:lstStyle/>
          <a:p>
            <a:pPr indent="0" marL="0">
              <a:lnSpc>
                <a:spcPct val="98000"/>
              </a:lnSpc>
              <a:buNone/>
            </a:pPr>
            <a:r>
              <a:rPr lang="en-US" sz="2900" b="1" dirty="0">
                <a:solidFill>
                  <a:srgbClr val="FFFFFF"/>
                </a:solidFill>
                <a:latin typeface="Calibri" pitchFamily="34" charset="0"/>
                <a:ea typeface="Calibri" pitchFamily="34" charset="-122"/>
                <a:cs typeface="Calibri" pitchFamily="34" charset="-120"/>
              </a:rPr>
              <a:t>Who Faces This — and Who Benefits</a:t>
            </a:r>
            <a:endParaRPr lang="en-US" sz="2900" dirty="0"/>
          </a:p>
        </p:txBody>
      </p:sp>
      <p:sp>
        <p:nvSpPr>
          <p:cNvPr id="4" name="Shape 2"/>
          <p:cNvSpPr/>
          <p:nvPr/>
        </p:nvSpPr>
        <p:spPr>
          <a:xfrm>
            <a:off x="566928" y="1865376"/>
            <a:ext cx="3602736" cy="3657600"/>
          </a:xfrm>
          <a:prstGeom prst="roundRect">
            <a:avLst>
              <a:gd name="adj" fmla="val 2792"/>
            </a:avLst>
          </a:prstGeom>
          <a:solidFill>
            <a:srgbClr val="FFFFFF">
              <a:alpha val="12000"/>
            </a:srgbClr>
          </a:solidFill>
          <a:ln w="12700">
            <a:solidFill>
              <a:srgbClr val="FFFFFF">
                <a:alpha val="18000"/>
              </a:srgbClr>
            </a:solidFill>
            <a:prstDash val="solid"/>
          </a:ln>
          <a:effectLst>
            <a:outerShdw sx="100000" sy="100000" kx="0" ky="0" algn="bl" rotWithShape="0" blurRad="177800" dist="63500" dir="5400000">
              <a:srgbClr val="0B0920">
                <a:alpha val="45000"/>
              </a:srgbClr>
            </a:outerShdw>
          </a:effectLst>
        </p:spPr>
      </p:sp>
      <p:sp>
        <p:nvSpPr>
          <p:cNvPr id="5" name="Shape 3"/>
          <p:cNvSpPr/>
          <p:nvPr/>
        </p:nvSpPr>
        <p:spPr>
          <a:xfrm>
            <a:off x="932688" y="1609344"/>
            <a:ext cx="1495958" cy="512064"/>
          </a:xfrm>
          <a:prstGeom prst="roundRect">
            <a:avLst>
              <a:gd name="adj" fmla="val 50000"/>
            </a:avLst>
          </a:prstGeom>
          <a:solidFill>
            <a:srgbClr val="7E6CF4"/>
          </a:solidFill>
          <a:ln/>
          <a:effectLst>
            <a:outerShdw sx="100000" sy="100000" kx="0" ky="0" algn="bl" rotWithShape="0" blurRad="127000" dist="50800" dir="5400000">
              <a:srgbClr val="7E6CF4">
                <a:alpha val="45000"/>
              </a:srgbClr>
            </a:outerShdw>
          </a:effectLst>
        </p:spPr>
      </p:sp>
      <p:sp>
        <p:nvSpPr>
          <p:cNvPr id="6" name="Shape 4"/>
          <p:cNvSpPr/>
          <p:nvPr/>
        </p:nvSpPr>
        <p:spPr>
          <a:xfrm>
            <a:off x="676656" y="1536192"/>
            <a:ext cx="676656" cy="676656"/>
          </a:xfrm>
          <a:prstGeom prst="ellipse">
            <a:avLst/>
          </a:prstGeom>
          <a:solidFill>
            <a:srgbClr val="5A47CE"/>
          </a:solidFill>
          <a:ln w="15240">
            <a:solidFill>
              <a:srgbClr val="FFFFFF">
                <a:alpha val="38000"/>
              </a:srgbClr>
            </a:solidFill>
            <a:prstDash val="solid"/>
          </a:ln>
          <a:effectLst>
            <a:outerShdw sx="100000" sy="100000" kx="0" ky="0" algn="bl" rotWithShape="0" blurRad="127000" dist="50800" dir="5400000">
              <a:srgbClr val="5A47CE">
                <a:alpha val="45000"/>
              </a:srgbClr>
            </a:outerShdw>
          </a:effectLst>
        </p:spPr>
      </p:sp>
      <p:pic>
        <p:nvPicPr>
          <p:cNvPr id="7" name="Image 0" descr="assets/icons/usercheck_w.png">    </p:cNvPr>
          <p:cNvPicPr>
            <a:picLocks noChangeAspect="1"/>
          </p:cNvPicPr>
          <p:nvPr/>
        </p:nvPicPr>
        <p:blipFill>
          <a:blip r:embed="rId2"/>
          <a:stretch>
            <a:fillRect/>
          </a:stretch>
        </p:blipFill>
        <p:spPr>
          <a:xfrm>
            <a:off x="866120" y="1725656"/>
            <a:ext cx="297729" cy="297729"/>
          </a:xfrm>
          <a:prstGeom prst="rect">
            <a:avLst/>
          </a:prstGeom>
        </p:spPr>
      </p:pic>
      <p:sp>
        <p:nvSpPr>
          <p:cNvPr id="8" name="Text 5"/>
          <p:cNvSpPr txBox="1"/>
          <p:nvPr/>
        </p:nvSpPr>
        <p:spPr>
          <a:xfrm>
            <a:off x="1389888" y="1609344"/>
            <a:ext cx="1002182" cy="512064"/>
          </a:xfrm>
          <a:prstGeom prst="rect">
            <a:avLst/>
          </a:prstGeom>
          <a:noFill/>
          <a:ln/>
        </p:spPr>
        <p:txBody>
          <a:bodyPr wrap="square" lIns="0" tIns="0" rIns="0" bIns="0" rtlCol="0" anchor="ctr"/>
          <a:lstStyle/>
          <a:p>
            <a:pPr indent="0" marL="0">
              <a:lnSpc>
                <a:spcPct val="100000"/>
              </a:lnSpc>
              <a:buNone/>
            </a:pPr>
            <a:r>
              <a:rPr lang="en-US" sz="1150" b="1" dirty="0">
                <a:solidFill>
                  <a:srgbClr val="FFFFFF"/>
                </a:solidFill>
                <a:latin typeface="Calibri" pitchFamily="34" charset="0"/>
                <a:ea typeface="Calibri" pitchFamily="34" charset="-122"/>
                <a:cs typeface="Calibri" pitchFamily="34" charset="-120"/>
              </a:rPr>
              <a:t>Students</a:t>
            </a:r>
            <a:endParaRPr lang="en-US" sz="1150" dirty="0"/>
          </a:p>
        </p:txBody>
      </p:sp>
      <p:sp>
        <p:nvSpPr>
          <p:cNvPr id="9" name="Text 6"/>
          <p:cNvSpPr txBox="1"/>
          <p:nvPr/>
        </p:nvSpPr>
        <p:spPr>
          <a:xfrm>
            <a:off x="822960" y="2377440"/>
            <a:ext cx="3090672" cy="548640"/>
          </a:xfrm>
          <a:prstGeom prst="rect">
            <a:avLst/>
          </a:prstGeom>
          <a:noFill/>
          <a:ln/>
        </p:spPr>
        <p:txBody>
          <a:bodyPr wrap="square" lIns="0" tIns="0" rIns="0" bIns="0" rtlCol="0" anchor="ctr"/>
          <a:lstStyle/>
          <a:p>
            <a:pPr indent="0" marL="0">
              <a:lnSpc>
                <a:spcPct val="100000"/>
              </a:lnSpc>
              <a:buNone/>
            </a:pPr>
            <a:r>
              <a:rPr lang="en-US" sz="1050" dirty="0">
                <a:solidFill>
                  <a:srgbClr val="CFCBEF"/>
                </a:solidFill>
                <a:latin typeface="Calibri" pitchFamily="34" charset="0"/>
                <a:ea typeface="Calibri" pitchFamily="34" charset="-122"/>
                <a:cs typeface="Calibri" pitchFamily="34" charset="-120"/>
              </a:rPr>
              <a:t>Undergraduate SE students building team projects across the lifecycle.</a:t>
            </a:r>
            <a:endParaRPr lang="en-US" sz="1050" dirty="0"/>
          </a:p>
        </p:txBody>
      </p:sp>
      <p:sp>
        <p:nvSpPr>
          <p:cNvPr id="10" name="Text 7"/>
          <p:cNvSpPr txBox="1"/>
          <p:nvPr/>
        </p:nvSpPr>
        <p:spPr>
          <a:xfrm>
            <a:off x="822960" y="3072384"/>
            <a:ext cx="1828800" cy="182880"/>
          </a:xfrm>
          <a:prstGeom prst="rect">
            <a:avLst/>
          </a:prstGeom>
          <a:noFill/>
          <a:ln/>
        </p:spPr>
        <p:txBody>
          <a:bodyPr wrap="square" lIns="0" tIns="0" rIns="0" bIns="0" rtlCol="0" anchor="ctr"/>
          <a:lstStyle/>
          <a:p>
            <a:pPr indent="0" marL="0">
              <a:lnSpc>
                <a:spcPct val="100000"/>
              </a:lnSpc>
              <a:buNone/>
            </a:pPr>
            <a:r>
              <a:rPr lang="en-US" sz="850" b="1" spc="120" kern="0" dirty="0">
                <a:solidFill>
                  <a:srgbClr val="9C97CC"/>
                </a:solidFill>
                <a:latin typeface="Calibri" pitchFamily="34" charset="0"/>
                <a:ea typeface="Calibri" pitchFamily="34" charset="-122"/>
                <a:cs typeface="Calibri" pitchFamily="34" charset="-120"/>
              </a:rPr>
              <a:t>FACES</a:t>
            </a:r>
            <a:endParaRPr lang="en-US" sz="850" dirty="0"/>
          </a:p>
        </p:txBody>
      </p:sp>
      <p:sp>
        <p:nvSpPr>
          <p:cNvPr id="11" name="Shape 8"/>
          <p:cNvSpPr/>
          <p:nvPr/>
        </p:nvSpPr>
        <p:spPr>
          <a:xfrm>
            <a:off x="841248" y="3364992"/>
            <a:ext cx="91440" cy="91440"/>
          </a:xfrm>
          <a:prstGeom prst="ellipse">
            <a:avLst/>
          </a:prstGeom>
          <a:solidFill>
            <a:srgbClr val="F2748F"/>
          </a:solidFill>
          <a:ln/>
        </p:spPr>
      </p:sp>
      <p:sp>
        <p:nvSpPr>
          <p:cNvPr id="12" name="Text 9"/>
          <p:cNvSpPr txBox="1"/>
          <p:nvPr/>
        </p:nvSpPr>
        <p:spPr>
          <a:xfrm>
            <a:off x="1024128" y="3310128"/>
            <a:ext cx="2889504" cy="292608"/>
          </a:xfrm>
          <a:prstGeom prst="rect">
            <a:avLst/>
          </a:prstGeom>
          <a:noFill/>
          <a:ln/>
        </p:spPr>
        <p:txBody>
          <a:bodyPr wrap="square" lIns="0" tIns="0" rIns="0" bIns="0" rtlCol="0" anchor="ctr"/>
          <a:lstStyle/>
          <a:p>
            <a:pPr indent="0" marL="0">
              <a:lnSpc>
                <a:spcPct val="100000"/>
              </a:lnSpc>
              <a:buNone/>
            </a:pPr>
            <a:r>
              <a:rPr lang="en-US" sz="1000" dirty="0">
                <a:solidFill>
                  <a:srgbClr val="E7E4FA"/>
                </a:solidFill>
                <a:latin typeface="Calibri" pitchFamily="34" charset="0"/>
                <a:ea typeface="Calibri" pitchFamily="34" charset="-122"/>
                <a:cs typeface="Calibri" pitchFamily="34" charset="-120"/>
              </a:rPr>
              <a:t>Unguided planning &amp; blockers</a:t>
            </a:r>
            <a:endParaRPr lang="en-US" sz="1000" dirty="0"/>
          </a:p>
        </p:txBody>
      </p:sp>
      <p:sp>
        <p:nvSpPr>
          <p:cNvPr id="13" name="Shape 10"/>
          <p:cNvSpPr/>
          <p:nvPr/>
        </p:nvSpPr>
        <p:spPr>
          <a:xfrm>
            <a:off x="841248" y="3675888"/>
            <a:ext cx="91440" cy="91440"/>
          </a:xfrm>
          <a:prstGeom prst="ellipse">
            <a:avLst/>
          </a:prstGeom>
          <a:solidFill>
            <a:srgbClr val="F2748F"/>
          </a:solidFill>
          <a:ln/>
        </p:spPr>
      </p:sp>
      <p:sp>
        <p:nvSpPr>
          <p:cNvPr id="14" name="Text 11"/>
          <p:cNvSpPr txBox="1"/>
          <p:nvPr/>
        </p:nvSpPr>
        <p:spPr>
          <a:xfrm>
            <a:off x="1024128" y="3621024"/>
            <a:ext cx="2889504" cy="292608"/>
          </a:xfrm>
          <a:prstGeom prst="rect">
            <a:avLst/>
          </a:prstGeom>
          <a:noFill/>
          <a:ln/>
        </p:spPr>
        <p:txBody>
          <a:bodyPr wrap="square" lIns="0" tIns="0" rIns="0" bIns="0" rtlCol="0" anchor="ctr"/>
          <a:lstStyle/>
          <a:p>
            <a:pPr indent="0" marL="0">
              <a:lnSpc>
                <a:spcPct val="100000"/>
              </a:lnSpc>
              <a:buNone/>
            </a:pPr>
            <a:r>
              <a:rPr lang="en-US" sz="1000" dirty="0">
                <a:solidFill>
                  <a:srgbClr val="E7E4FA"/>
                </a:solidFill>
                <a:latin typeface="Calibri" pitchFamily="34" charset="0"/>
                <a:ea typeface="Calibri" pitchFamily="34" charset="-122"/>
                <a:cs typeface="Calibri" pitchFamily="34" charset="-120"/>
              </a:rPr>
              <a:t>Unfair grading that masks effort</a:t>
            </a:r>
            <a:endParaRPr lang="en-US" sz="1000" dirty="0"/>
          </a:p>
        </p:txBody>
      </p:sp>
      <p:sp>
        <p:nvSpPr>
          <p:cNvPr id="15" name="Shape 12"/>
          <p:cNvSpPr/>
          <p:nvPr/>
        </p:nvSpPr>
        <p:spPr>
          <a:xfrm>
            <a:off x="822960" y="4023360"/>
            <a:ext cx="3090672" cy="0"/>
          </a:xfrm>
          <a:prstGeom prst="line">
            <a:avLst/>
          </a:prstGeom>
          <a:noFill/>
          <a:ln w="12700">
            <a:solidFill>
              <a:srgbClr val="FFFFFF">
                <a:alpha val="20000"/>
              </a:srgbClr>
            </a:solidFill>
            <a:prstDash val="solid"/>
          </a:ln>
        </p:spPr>
      </p:sp>
      <p:sp>
        <p:nvSpPr>
          <p:cNvPr id="16" name="Text 13"/>
          <p:cNvSpPr txBox="1"/>
          <p:nvPr/>
        </p:nvSpPr>
        <p:spPr>
          <a:xfrm>
            <a:off x="822960" y="4114800"/>
            <a:ext cx="1828800" cy="182880"/>
          </a:xfrm>
          <a:prstGeom prst="rect">
            <a:avLst/>
          </a:prstGeom>
          <a:noFill/>
          <a:ln/>
        </p:spPr>
        <p:txBody>
          <a:bodyPr wrap="square" lIns="0" tIns="0" rIns="0" bIns="0" rtlCol="0" anchor="ctr"/>
          <a:lstStyle/>
          <a:p>
            <a:pPr indent="0" marL="0">
              <a:lnSpc>
                <a:spcPct val="100000"/>
              </a:lnSpc>
              <a:buNone/>
            </a:pPr>
            <a:r>
              <a:rPr lang="en-US" sz="850" b="1" spc="120" kern="0" dirty="0">
                <a:solidFill>
                  <a:srgbClr val="16C78C"/>
                </a:solidFill>
                <a:latin typeface="Calibri" pitchFamily="34" charset="0"/>
                <a:ea typeface="Calibri" pitchFamily="34" charset="-122"/>
                <a:cs typeface="Calibri" pitchFamily="34" charset="-120"/>
              </a:rPr>
              <a:t>BENEFITS</a:t>
            </a:r>
            <a:endParaRPr lang="en-US" sz="850" dirty="0"/>
          </a:p>
        </p:txBody>
      </p:sp>
      <p:pic>
        <p:nvPicPr>
          <p:cNvPr id="17" name="Image 1" descr="assets/icons/check_e.png">    </p:cNvPr>
          <p:cNvPicPr>
            <a:picLocks noChangeAspect="1"/>
          </p:cNvPicPr>
          <p:nvPr/>
        </p:nvPicPr>
        <p:blipFill>
          <a:blip r:embed="rId3"/>
          <a:stretch>
            <a:fillRect/>
          </a:stretch>
        </p:blipFill>
        <p:spPr>
          <a:xfrm>
            <a:off x="841248" y="4407408"/>
            <a:ext cx="146304" cy="146304"/>
          </a:xfrm>
          <a:prstGeom prst="rect">
            <a:avLst/>
          </a:prstGeom>
        </p:spPr>
      </p:pic>
      <p:sp>
        <p:nvSpPr>
          <p:cNvPr id="18" name="Text 14"/>
          <p:cNvSpPr txBox="1"/>
          <p:nvPr/>
        </p:nvSpPr>
        <p:spPr>
          <a:xfrm>
            <a:off x="1060704" y="4370832"/>
            <a:ext cx="2852928" cy="292608"/>
          </a:xfrm>
          <a:prstGeom prst="rect">
            <a:avLst/>
          </a:prstGeom>
          <a:noFill/>
          <a:ln/>
        </p:spPr>
        <p:txBody>
          <a:bodyPr wrap="square" lIns="0" tIns="0" rIns="0" bIns="0" rtlCol="0" anchor="ctr"/>
          <a:lstStyle/>
          <a:p>
            <a:pPr indent="0" marL="0">
              <a:lnSpc>
                <a:spcPct val="100000"/>
              </a:lnSpc>
              <a:buNone/>
            </a:pPr>
            <a:r>
              <a:rPr lang="en-US" sz="1000" b="1" dirty="0">
                <a:solidFill>
                  <a:srgbClr val="9FE7C9"/>
                </a:solidFill>
                <a:latin typeface="Calibri" pitchFamily="34" charset="0"/>
                <a:ea typeface="Calibri" pitchFamily="34" charset="-122"/>
                <a:cs typeface="Calibri" pitchFamily="34" charset="-120"/>
              </a:rPr>
              <a:t>Context-aware project support</a:t>
            </a:r>
            <a:endParaRPr lang="en-US" sz="1000" dirty="0"/>
          </a:p>
        </p:txBody>
      </p:sp>
      <p:pic>
        <p:nvPicPr>
          <p:cNvPr id="19" name="Image 2" descr="assets/icons/check_e.png">    </p:cNvPr>
          <p:cNvPicPr>
            <a:picLocks noChangeAspect="1"/>
          </p:cNvPicPr>
          <p:nvPr/>
        </p:nvPicPr>
        <p:blipFill>
          <a:blip r:embed="rId4"/>
          <a:stretch>
            <a:fillRect/>
          </a:stretch>
        </p:blipFill>
        <p:spPr>
          <a:xfrm>
            <a:off x="841248" y="4718304"/>
            <a:ext cx="146304" cy="146304"/>
          </a:xfrm>
          <a:prstGeom prst="rect">
            <a:avLst/>
          </a:prstGeom>
        </p:spPr>
      </p:pic>
      <p:sp>
        <p:nvSpPr>
          <p:cNvPr id="20" name="Text 15"/>
          <p:cNvSpPr txBox="1"/>
          <p:nvPr/>
        </p:nvSpPr>
        <p:spPr>
          <a:xfrm>
            <a:off x="1060704" y="4681728"/>
            <a:ext cx="2852928" cy="292608"/>
          </a:xfrm>
          <a:prstGeom prst="rect">
            <a:avLst/>
          </a:prstGeom>
          <a:noFill/>
          <a:ln/>
        </p:spPr>
        <p:txBody>
          <a:bodyPr wrap="square" lIns="0" tIns="0" rIns="0" bIns="0" rtlCol="0" anchor="ctr"/>
          <a:lstStyle/>
          <a:p>
            <a:pPr indent="0" marL="0">
              <a:lnSpc>
                <a:spcPct val="100000"/>
              </a:lnSpc>
              <a:buNone/>
            </a:pPr>
            <a:r>
              <a:rPr lang="en-US" sz="1000" b="1" dirty="0">
                <a:solidFill>
                  <a:srgbClr val="9FE7C9"/>
                </a:solidFill>
                <a:latin typeface="Calibri" pitchFamily="34" charset="0"/>
                <a:ea typeface="Calibri" pitchFamily="34" charset="-122"/>
                <a:cs typeface="Calibri" pitchFamily="34" charset="-120"/>
              </a:rPr>
              <a:t>Fairer evidence-based grades</a:t>
            </a:r>
            <a:endParaRPr lang="en-US" sz="1000" dirty="0"/>
          </a:p>
        </p:txBody>
      </p:sp>
      <p:sp>
        <p:nvSpPr>
          <p:cNvPr id="21" name="Shape 16"/>
          <p:cNvSpPr/>
          <p:nvPr/>
        </p:nvSpPr>
        <p:spPr>
          <a:xfrm>
            <a:off x="4334256" y="1865376"/>
            <a:ext cx="3602736" cy="3657600"/>
          </a:xfrm>
          <a:prstGeom prst="roundRect">
            <a:avLst>
              <a:gd name="adj" fmla="val 2792"/>
            </a:avLst>
          </a:prstGeom>
          <a:solidFill>
            <a:srgbClr val="FFFFFF">
              <a:alpha val="12000"/>
            </a:srgbClr>
          </a:solidFill>
          <a:ln w="12700">
            <a:solidFill>
              <a:srgbClr val="FFFFFF">
                <a:alpha val="18000"/>
              </a:srgbClr>
            </a:solidFill>
            <a:prstDash val="solid"/>
          </a:ln>
          <a:effectLst>
            <a:outerShdw sx="100000" sy="100000" kx="0" ky="0" algn="bl" rotWithShape="0" blurRad="177800" dist="63500" dir="5400000">
              <a:srgbClr val="0B0920">
                <a:alpha val="45000"/>
              </a:srgbClr>
            </a:outerShdw>
          </a:effectLst>
        </p:spPr>
      </p:sp>
      <p:sp>
        <p:nvSpPr>
          <p:cNvPr id="22" name="Shape 17"/>
          <p:cNvSpPr/>
          <p:nvPr/>
        </p:nvSpPr>
        <p:spPr>
          <a:xfrm>
            <a:off x="4700016" y="1609344"/>
            <a:ext cx="1748333" cy="512064"/>
          </a:xfrm>
          <a:prstGeom prst="roundRect">
            <a:avLst>
              <a:gd name="adj" fmla="val 50000"/>
            </a:avLst>
          </a:prstGeom>
          <a:solidFill>
            <a:srgbClr val="16C78C"/>
          </a:solidFill>
          <a:ln/>
          <a:effectLst>
            <a:outerShdw sx="100000" sy="100000" kx="0" ky="0" algn="bl" rotWithShape="0" blurRad="127000" dist="50800" dir="5400000">
              <a:srgbClr val="16C78C">
                <a:alpha val="45000"/>
              </a:srgbClr>
            </a:outerShdw>
          </a:effectLst>
        </p:spPr>
      </p:sp>
      <p:sp>
        <p:nvSpPr>
          <p:cNvPr id="23" name="Shape 18"/>
          <p:cNvSpPr/>
          <p:nvPr/>
        </p:nvSpPr>
        <p:spPr>
          <a:xfrm>
            <a:off x="4443984" y="1536192"/>
            <a:ext cx="676656" cy="676656"/>
          </a:xfrm>
          <a:prstGeom prst="ellipse">
            <a:avLst/>
          </a:prstGeom>
          <a:solidFill>
            <a:srgbClr val="0E9E6E"/>
          </a:solidFill>
          <a:ln w="15240">
            <a:solidFill>
              <a:srgbClr val="FFFFFF">
                <a:alpha val="38000"/>
              </a:srgbClr>
            </a:solidFill>
            <a:prstDash val="solid"/>
          </a:ln>
          <a:effectLst>
            <a:outerShdw sx="100000" sy="100000" kx="0" ky="0" algn="bl" rotWithShape="0" blurRad="127000" dist="50800" dir="5400000">
              <a:srgbClr val="0E9E6E">
                <a:alpha val="45000"/>
              </a:srgbClr>
            </a:outerShdw>
          </a:effectLst>
        </p:spPr>
      </p:sp>
      <p:pic>
        <p:nvPicPr>
          <p:cNvPr id="24" name="Image 3" descr="assets/icons/briefcase_w.png">    </p:cNvPr>
          <p:cNvPicPr>
            <a:picLocks noChangeAspect="1"/>
          </p:cNvPicPr>
          <p:nvPr/>
        </p:nvPicPr>
        <p:blipFill>
          <a:blip r:embed="rId5"/>
          <a:stretch>
            <a:fillRect/>
          </a:stretch>
        </p:blipFill>
        <p:spPr>
          <a:xfrm>
            <a:off x="4633448" y="1725656"/>
            <a:ext cx="297729" cy="297729"/>
          </a:xfrm>
          <a:prstGeom prst="rect">
            <a:avLst/>
          </a:prstGeom>
        </p:spPr>
      </p:pic>
      <p:sp>
        <p:nvSpPr>
          <p:cNvPr id="25" name="Text 19"/>
          <p:cNvSpPr txBox="1"/>
          <p:nvPr/>
        </p:nvSpPr>
        <p:spPr>
          <a:xfrm>
            <a:off x="5157216" y="1609344"/>
            <a:ext cx="1254557" cy="512064"/>
          </a:xfrm>
          <a:prstGeom prst="rect">
            <a:avLst/>
          </a:prstGeom>
          <a:noFill/>
          <a:ln/>
        </p:spPr>
        <p:txBody>
          <a:bodyPr wrap="square" lIns="0" tIns="0" rIns="0" bIns="0" rtlCol="0" anchor="ctr"/>
          <a:lstStyle/>
          <a:p>
            <a:pPr indent="0" marL="0">
              <a:lnSpc>
                <a:spcPct val="100000"/>
              </a:lnSpc>
              <a:buNone/>
            </a:pPr>
            <a:r>
              <a:rPr lang="en-US" sz="1150" b="1" dirty="0">
                <a:solidFill>
                  <a:srgbClr val="FFFFFF"/>
                </a:solidFill>
                <a:latin typeface="Calibri" pitchFamily="34" charset="0"/>
                <a:ea typeface="Calibri" pitchFamily="34" charset="-122"/>
                <a:cs typeface="Calibri" pitchFamily="34" charset="-120"/>
              </a:rPr>
              <a:t>Instructors</a:t>
            </a:r>
            <a:endParaRPr lang="en-US" sz="1150" dirty="0"/>
          </a:p>
        </p:txBody>
      </p:sp>
      <p:sp>
        <p:nvSpPr>
          <p:cNvPr id="26" name="Text 20"/>
          <p:cNvSpPr txBox="1"/>
          <p:nvPr/>
        </p:nvSpPr>
        <p:spPr>
          <a:xfrm>
            <a:off x="4590288" y="2377440"/>
            <a:ext cx="3090672" cy="548640"/>
          </a:xfrm>
          <a:prstGeom prst="rect">
            <a:avLst/>
          </a:prstGeom>
          <a:noFill/>
          <a:ln/>
        </p:spPr>
        <p:txBody>
          <a:bodyPr wrap="square" lIns="0" tIns="0" rIns="0" bIns="0" rtlCol="0" anchor="ctr"/>
          <a:lstStyle/>
          <a:p>
            <a:pPr indent="0" marL="0">
              <a:lnSpc>
                <a:spcPct val="100000"/>
              </a:lnSpc>
              <a:buNone/>
            </a:pPr>
            <a:r>
              <a:rPr lang="en-US" sz="1050" dirty="0">
                <a:solidFill>
                  <a:srgbClr val="CFCBEF"/>
                </a:solidFill>
                <a:latin typeface="Calibri" pitchFamily="34" charset="0"/>
                <a:ea typeface="Calibri" pitchFamily="34" charset="-122"/>
                <a:cs typeface="Calibri" pitchFamily="34" charset="-120"/>
              </a:rPr>
              <a:t>Supervise multiple teams, monitor progress, evaluate contributions.</a:t>
            </a:r>
            <a:endParaRPr lang="en-US" sz="1050" dirty="0"/>
          </a:p>
        </p:txBody>
      </p:sp>
      <p:sp>
        <p:nvSpPr>
          <p:cNvPr id="27" name="Text 21"/>
          <p:cNvSpPr txBox="1"/>
          <p:nvPr/>
        </p:nvSpPr>
        <p:spPr>
          <a:xfrm>
            <a:off x="4590288" y="3072384"/>
            <a:ext cx="1828800" cy="182880"/>
          </a:xfrm>
          <a:prstGeom prst="rect">
            <a:avLst/>
          </a:prstGeom>
          <a:noFill/>
          <a:ln/>
        </p:spPr>
        <p:txBody>
          <a:bodyPr wrap="square" lIns="0" tIns="0" rIns="0" bIns="0" rtlCol="0" anchor="ctr"/>
          <a:lstStyle/>
          <a:p>
            <a:pPr indent="0" marL="0">
              <a:lnSpc>
                <a:spcPct val="100000"/>
              </a:lnSpc>
              <a:buNone/>
            </a:pPr>
            <a:r>
              <a:rPr lang="en-US" sz="850" b="1" spc="120" kern="0" dirty="0">
                <a:solidFill>
                  <a:srgbClr val="9C97CC"/>
                </a:solidFill>
                <a:latin typeface="Calibri" pitchFamily="34" charset="0"/>
                <a:ea typeface="Calibri" pitchFamily="34" charset="-122"/>
                <a:cs typeface="Calibri" pitchFamily="34" charset="-120"/>
              </a:rPr>
              <a:t>FACES</a:t>
            </a:r>
            <a:endParaRPr lang="en-US" sz="850" dirty="0"/>
          </a:p>
        </p:txBody>
      </p:sp>
      <p:sp>
        <p:nvSpPr>
          <p:cNvPr id="28" name="Shape 22"/>
          <p:cNvSpPr/>
          <p:nvPr/>
        </p:nvSpPr>
        <p:spPr>
          <a:xfrm>
            <a:off x="4608576" y="3364992"/>
            <a:ext cx="91440" cy="91440"/>
          </a:xfrm>
          <a:prstGeom prst="ellipse">
            <a:avLst/>
          </a:prstGeom>
          <a:solidFill>
            <a:srgbClr val="F2748F"/>
          </a:solidFill>
          <a:ln/>
        </p:spPr>
      </p:sp>
      <p:sp>
        <p:nvSpPr>
          <p:cNvPr id="29" name="Text 23"/>
          <p:cNvSpPr txBox="1"/>
          <p:nvPr/>
        </p:nvSpPr>
        <p:spPr>
          <a:xfrm>
            <a:off x="4791456" y="3310128"/>
            <a:ext cx="2889504" cy="292608"/>
          </a:xfrm>
          <a:prstGeom prst="rect">
            <a:avLst/>
          </a:prstGeom>
          <a:noFill/>
          <a:ln/>
        </p:spPr>
        <p:txBody>
          <a:bodyPr wrap="square" lIns="0" tIns="0" rIns="0" bIns="0" rtlCol="0" anchor="ctr"/>
          <a:lstStyle/>
          <a:p>
            <a:pPr indent="0" marL="0">
              <a:lnSpc>
                <a:spcPct val="100000"/>
              </a:lnSpc>
              <a:buNone/>
            </a:pPr>
            <a:r>
              <a:rPr lang="en-US" sz="1000" dirty="0">
                <a:solidFill>
                  <a:srgbClr val="E7E4FA"/>
                </a:solidFill>
                <a:latin typeface="Calibri" pitchFamily="34" charset="0"/>
                <a:ea typeface="Calibri" pitchFamily="34" charset="-122"/>
                <a:cs typeface="Calibri" pitchFamily="34" charset="-120"/>
              </a:rPr>
              <a:t>Heavy manual monitoring load</a:t>
            </a:r>
            <a:endParaRPr lang="en-US" sz="1000" dirty="0"/>
          </a:p>
        </p:txBody>
      </p:sp>
      <p:sp>
        <p:nvSpPr>
          <p:cNvPr id="30" name="Shape 24"/>
          <p:cNvSpPr/>
          <p:nvPr/>
        </p:nvSpPr>
        <p:spPr>
          <a:xfrm>
            <a:off x="4608576" y="3675888"/>
            <a:ext cx="91440" cy="91440"/>
          </a:xfrm>
          <a:prstGeom prst="ellipse">
            <a:avLst/>
          </a:prstGeom>
          <a:solidFill>
            <a:srgbClr val="F2748F"/>
          </a:solidFill>
          <a:ln/>
        </p:spPr>
      </p:sp>
      <p:sp>
        <p:nvSpPr>
          <p:cNvPr id="31" name="Text 25"/>
          <p:cNvSpPr txBox="1"/>
          <p:nvPr/>
        </p:nvSpPr>
        <p:spPr>
          <a:xfrm>
            <a:off x="4791456" y="3621024"/>
            <a:ext cx="2889504" cy="292608"/>
          </a:xfrm>
          <a:prstGeom prst="rect">
            <a:avLst/>
          </a:prstGeom>
          <a:noFill/>
          <a:ln/>
        </p:spPr>
        <p:txBody>
          <a:bodyPr wrap="square" lIns="0" tIns="0" rIns="0" bIns="0" rtlCol="0" anchor="ctr"/>
          <a:lstStyle/>
          <a:p>
            <a:pPr indent="0" marL="0">
              <a:lnSpc>
                <a:spcPct val="100000"/>
              </a:lnSpc>
              <a:buNone/>
            </a:pPr>
            <a:r>
              <a:rPr lang="en-US" sz="1000" dirty="0">
                <a:solidFill>
                  <a:srgbClr val="E7E4FA"/>
                </a:solidFill>
                <a:latin typeface="Calibri" pitchFamily="34" charset="0"/>
                <a:ea typeface="Calibri" pitchFamily="34" charset="-122"/>
                <a:cs typeface="Calibri" pitchFamily="34" charset="-120"/>
              </a:rPr>
              <a:t>Hard to assess individuals</a:t>
            </a:r>
            <a:endParaRPr lang="en-US" sz="1000" dirty="0"/>
          </a:p>
        </p:txBody>
      </p:sp>
      <p:sp>
        <p:nvSpPr>
          <p:cNvPr id="32" name="Shape 26"/>
          <p:cNvSpPr/>
          <p:nvPr/>
        </p:nvSpPr>
        <p:spPr>
          <a:xfrm>
            <a:off x="4590288" y="4023360"/>
            <a:ext cx="3090672" cy="0"/>
          </a:xfrm>
          <a:prstGeom prst="line">
            <a:avLst/>
          </a:prstGeom>
          <a:noFill/>
          <a:ln w="12700">
            <a:solidFill>
              <a:srgbClr val="FFFFFF">
                <a:alpha val="20000"/>
              </a:srgbClr>
            </a:solidFill>
            <a:prstDash val="solid"/>
          </a:ln>
        </p:spPr>
      </p:sp>
      <p:sp>
        <p:nvSpPr>
          <p:cNvPr id="33" name="Text 27"/>
          <p:cNvSpPr txBox="1"/>
          <p:nvPr/>
        </p:nvSpPr>
        <p:spPr>
          <a:xfrm>
            <a:off x="4590288" y="4114800"/>
            <a:ext cx="1828800" cy="182880"/>
          </a:xfrm>
          <a:prstGeom prst="rect">
            <a:avLst/>
          </a:prstGeom>
          <a:noFill/>
          <a:ln/>
        </p:spPr>
        <p:txBody>
          <a:bodyPr wrap="square" lIns="0" tIns="0" rIns="0" bIns="0" rtlCol="0" anchor="ctr"/>
          <a:lstStyle/>
          <a:p>
            <a:pPr indent="0" marL="0">
              <a:lnSpc>
                <a:spcPct val="100000"/>
              </a:lnSpc>
              <a:buNone/>
            </a:pPr>
            <a:r>
              <a:rPr lang="en-US" sz="850" b="1" spc="120" kern="0" dirty="0">
                <a:solidFill>
                  <a:srgbClr val="16C78C"/>
                </a:solidFill>
                <a:latin typeface="Calibri" pitchFamily="34" charset="0"/>
                <a:ea typeface="Calibri" pitchFamily="34" charset="-122"/>
                <a:cs typeface="Calibri" pitchFamily="34" charset="-120"/>
              </a:rPr>
              <a:t>BENEFITS</a:t>
            </a:r>
            <a:endParaRPr lang="en-US" sz="850" dirty="0"/>
          </a:p>
        </p:txBody>
      </p:sp>
      <p:pic>
        <p:nvPicPr>
          <p:cNvPr id="34" name="Image 4" descr="assets/icons/check_e.png">    </p:cNvPr>
          <p:cNvPicPr>
            <a:picLocks noChangeAspect="1"/>
          </p:cNvPicPr>
          <p:nvPr/>
        </p:nvPicPr>
        <p:blipFill>
          <a:blip r:embed="rId6"/>
          <a:stretch>
            <a:fillRect/>
          </a:stretch>
        </p:blipFill>
        <p:spPr>
          <a:xfrm>
            <a:off x="4608576" y="4407408"/>
            <a:ext cx="146304" cy="146304"/>
          </a:xfrm>
          <a:prstGeom prst="rect">
            <a:avLst/>
          </a:prstGeom>
        </p:spPr>
      </p:pic>
      <p:sp>
        <p:nvSpPr>
          <p:cNvPr id="35" name="Text 28"/>
          <p:cNvSpPr txBox="1"/>
          <p:nvPr/>
        </p:nvSpPr>
        <p:spPr>
          <a:xfrm>
            <a:off x="4828032" y="4370832"/>
            <a:ext cx="2852928" cy="292608"/>
          </a:xfrm>
          <a:prstGeom prst="rect">
            <a:avLst/>
          </a:prstGeom>
          <a:noFill/>
          <a:ln/>
        </p:spPr>
        <p:txBody>
          <a:bodyPr wrap="square" lIns="0" tIns="0" rIns="0" bIns="0" rtlCol="0" anchor="ctr"/>
          <a:lstStyle/>
          <a:p>
            <a:pPr indent="0" marL="0">
              <a:lnSpc>
                <a:spcPct val="100000"/>
              </a:lnSpc>
              <a:buNone/>
            </a:pPr>
            <a:r>
              <a:rPr lang="en-US" sz="1000" b="1" dirty="0">
                <a:solidFill>
                  <a:srgbClr val="9FE7C9"/>
                </a:solidFill>
                <a:latin typeface="Calibri" pitchFamily="34" charset="0"/>
                <a:ea typeface="Calibri" pitchFamily="34" charset="-122"/>
                <a:cs typeface="Calibri" pitchFamily="34" charset="-120"/>
              </a:rPr>
              <a:t>Automated Git/Scrum evidence</a:t>
            </a:r>
            <a:endParaRPr lang="en-US" sz="1000" dirty="0"/>
          </a:p>
        </p:txBody>
      </p:sp>
      <p:pic>
        <p:nvPicPr>
          <p:cNvPr id="36" name="Image 5" descr="assets/icons/check_e.png">    </p:cNvPr>
          <p:cNvPicPr>
            <a:picLocks noChangeAspect="1"/>
          </p:cNvPicPr>
          <p:nvPr/>
        </p:nvPicPr>
        <p:blipFill>
          <a:blip r:embed="rId7"/>
          <a:stretch>
            <a:fillRect/>
          </a:stretch>
        </p:blipFill>
        <p:spPr>
          <a:xfrm>
            <a:off x="4608576" y="4718304"/>
            <a:ext cx="146304" cy="146304"/>
          </a:xfrm>
          <a:prstGeom prst="rect">
            <a:avLst/>
          </a:prstGeom>
        </p:spPr>
      </p:pic>
      <p:sp>
        <p:nvSpPr>
          <p:cNvPr id="37" name="Text 29"/>
          <p:cNvSpPr txBox="1"/>
          <p:nvPr/>
        </p:nvSpPr>
        <p:spPr>
          <a:xfrm>
            <a:off x="4828032" y="4681728"/>
            <a:ext cx="2852928" cy="292608"/>
          </a:xfrm>
          <a:prstGeom prst="rect">
            <a:avLst/>
          </a:prstGeom>
          <a:noFill/>
          <a:ln/>
        </p:spPr>
        <p:txBody>
          <a:bodyPr wrap="square" lIns="0" tIns="0" rIns="0" bIns="0" rtlCol="0" anchor="ctr"/>
          <a:lstStyle/>
          <a:p>
            <a:pPr indent="0" marL="0">
              <a:lnSpc>
                <a:spcPct val="100000"/>
              </a:lnSpc>
              <a:buNone/>
            </a:pPr>
            <a:r>
              <a:rPr lang="en-US" sz="1000" b="1" dirty="0">
                <a:solidFill>
                  <a:srgbClr val="9FE7C9"/>
                </a:solidFill>
                <a:latin typeface="Calibri" pitchFamily="34" charset="0"/>
                <a:ea typeface="Calibri" pitchFamily="34" charset="-122"/>
                <a:cs typeface="Calibri" pitchFamily="34" charset="-120"/>
              </a:rPr>
              <a:t>Faster, better-informed decisions</a:t>
            </a:r>
            <a:endParaRPr lang="en-US" sz="1000" dirty="0"/>
          </a:p>
        </p:txBody>
      </p:sp>
      <p:sp>
        <p:nvSpPr>
          <p:cNvPr id="38" name="Shape 30"/>
          <p:cNvSpPr/>
          <p:nvPr/>
        </p:nvSpPr>
        <p:spPr>
          <a:xfrm>
            <a:off x="8101584" y="1865376"/>
            <a:ext cx="3602736" cy="3657600"/>
          </a:xfrm>
          <a:prstGeom prst="roundRect">
            <a:avLst>
              <a:gd name="adj" fmla="val 2792"/>
            </a:avLst>
          </a:prstGeom>
          <a:solidFill>
            <a:srgbClr val="FFFFFF">
              <a:alpha val="12000"/>
            </a:srgbClr>
          </a:solidFill>
          <a:ln w="12700">
            <a:solidFill>
              <a:srgbClr val="FFFFFF">
                <a:alpha val="18000"/>
              </a:srgbClr>
            </a:solidFill>
            <a:prstDash val="solid"/>
          </a:ln>
          <a:effectLst>
            <a:outerShdw sx="100000" sy="100000" kx="0" ky="0" algn="bl" rotWithShape="0" blurRad="177800" dist="63500" dir="5400000">
              <a:srgbClr val="0B0920">
                <a:alpha val="45000"/>
              </a:srgbClr>
            </a:outerShdw>
          </a:effectLst>
        </p:spPr>
      </p:sp>
      <p:sp>
        <p:nvSpPr>
          <p:cNvPr id="39" name="Shape 31"/>
          <p:cNvSpPr/>
          <p:nvPr/>
        </p:nvSpPr>
        <p:spPr>
          <a:xfrm>
            <a:off x="8467344" y="1609344"/>
            <a:ext cx="2505456" cy="512064"/>
          </a:xfrm>
          <a:prstGeom prst="roundRect">
            <a:avLst>
              <a:gd name="adj" fmla="val 50000"/>
            </a:avLst>
          </a:prstGeom>
          <a:solidFill>
            <a:srgbClr val="F2A740"/>
          </a:solidFill>
          <a:ln/>
          <a:effectLst>
            <a:outerShdw sx="100000" sy="100000" kx="0" ky="0" algn="bl" rotWithShape="0" blurRad="127000" dist="50800" dir="5400000">
              <a:srgbClr val="F2A740">
                <a:alpha val="45000"/>
              </a:srgbClr>
            </a:outerShdw>
          </a:effectLst>
        </p:spPr>
      </p:sp>
      <p:sp>
        <p:nvSpPr>
          <p:cNvPr id="40" name="Shape 32"/>
          <p:cNvSpPr/>
          <p:nvPr/>
        </p:nvSpPr>
        <p:spPr>
          <a:xfrm>
            <a:off x="8211312" y="1536192"/>
            <a:ext cx="676656" cy="676656"/>
          </a:xfrm>
          <a:prstGeom prst="ellipse">
            <a:avLst/>
          </a:prstGeom>
          <a:solidFill>
            <a:srgbClr val="E0891C"/>
          </a:solidFill>
          <a:ln w="15240">
            <a:solidFill>
              <a:srgbClr val="FFFFFF">
                <a:alpha val="38000"/>
              </a:srgbClr>
            </a:solidFill>
            <a:prstDash val="solid"/>
          </a:ln>
          <a:effectLst>
            <a:outerShdw sx="100000" sy="100000" kx="0" ky="0" algn="bl" rotWithShape="0" blurRad="127000" dist="50800" dir="5400000">
              <a:srgbClr val="E0891C">
                <a:alpha val="45000"/>
              </a:srgbClr>
            </a:outerShdw>
          </a:effectLst>
        </p:spPr>
      </p:sp>
      <p:pic>
        <p:nvPicPr>
          <p:cNvPr id="41" name="Image 6" descr="assets/icons/globe_w.png">    </p:cNvPr>
          <p:cNvPicPr>
            <a:picLocks noChangeAspect="1"/>
          </p:cNvPicPr>
          <p:nvPr/>
        </p:nvPicPr>
        <p:blipFill>
          <a:blip r:embed="rId8"/>
          <a:stretch>
            <a:fillRect/>
          </a:stretch>
        </p:blipFill>
        <p:spPr>
          <a:xfrm>
            <a:off x="8400776" y="1725656"/>
            <a:ext cx="297729" cy="297729"/>
          </a:xfrm>
          <a:prstGeom prst="rect">
            <a:avLst/>
          </a:prstGeom>
        </p:spPr>
      </p:pic>
      <p:sp>
        <p:nvSpPr>
          <p:cNvPr id="42" name="Text 33"/>
          <p:cNvSpPr txBox="1"/>
          <p:nvPr/>
        </p:nvSpPr>
        <p:spPr>
          <a:xfrm>
            <a:off x="8924544" y="1609344"/>
            <a:ext cx="2011680" cy="512064"/>
          </a:xfrm>
          <a:prstGeom prst="rect">
            <a:avLst/>
          </a:prstGeom>
          <a:noFill/>
          <a:ln/>
        </p:spPr>
        <p:txBody>
          <a:bodyPr wrap="square" lIns="0" tIns="0" rIns="0" bIns="0" rtlCol="0" anchor="ctr"/>
          <a:lstStyle/>
          <a:p>
            <a:pPr indent="0" marL="0">
              <a:lnSpc>
                <a:spcPct val="100000"/>
              </a:lnSpc>
              <a:buNone/>
            </a:pPr>
            <a:r>
              <a:rPr lang="en-US" sz="1150" b="1" dirty="0">
                <a:solidFill>
                  <a:srgbClr val="FFFFFF"/>
                </a:solidFill>
                <a:latin typeface="Calibri" pitchFamily="34" charset="0"/>
                <a:ea typeface="Calibri" pitchFamily="34" charset="-122"/>
                <a:cs typeface="Calibri" pitchFamily="34" charset="-120"/>
              </a:rPr>
              <a:t>Higher-Ed &amp; Industry</a:t>
            </a:r>
            <a:endParaRPr lang="en-US" sz="1150" dirty="0"/>
          </a:p>
        </p:txBody>
      </p:sp>
      <p:sp>
        <p:nvSpPr>
          <p:cNvPr id="43" name="Text 34"/>
          <p:cNvSpPr txBox="1"/>
          <p:nvPr/>
        </p:nvSpPr>
        <p:spPr>
          <a:xfrm>
            <a:off x="8357616" y="2377440"/>
            <a:ext cx="3090672" cy="548640"/>
          </a:xfrm>
          <a:prstGeom prst="rect">
            <a:avLst/>
          </a:prstGeom>
          <a:noFill/>
          <a:ln/>
        </p:spPr>
        <p:txBody>
          <a:bodyPr wrap="square" lIns="0" tIns="0" rIns="0" bIns="0" rtlCol="0" anchor="ctr"/>
          <a:lstStyle/>
          <a:p>
            <a:pPr indent="0" marL="0">
              <a:lnSpc>
                <a:spcPct val="100000"/>
              </a:lnSpc>
              <a:buNone/>
            </a:pPr>
            <a:r>
              <a:rPr lang="en-US" sz="1050" dirty="0">
                <a:solidFill>
                  <a:srgbClr val="CFCBEF"/>
                </a:solidFill>
                <a:latin typeface="Calibri" pitchFamily="34" charset="0"/>
                <a:ea typeface="Calibri" pitchFamily="34" charset="-122"/>
                <a:cs typeface="Calibri" pitchFamily="34" charset="-120"/>
              </a:rPr>
              <a:t>Responsible for quality SE education and industry-ready graduates.</a:t>
            </a:r>
            <a:endParaRPr lang="en-US" sz="1050" dirty="0"/>
          </a:p>
        </p:txBody>
      </p:sp>
      <p:sp>
        <p:nvSpPr>
          <p:cNvPr id="44" name="Text 35"/>
          <p:cNvSpPr txBox="1"/>
          <p:nvPr/>
        </p:nvSpPr>
        <p:spPr>
          <a:xfrm>
            <a:off x="8357616" y="3072384"/>
            <a:ext cx="1828800" cy="182880"/>
          </a:xfrm>
          <a:prstGeom prst="rect">
            <a:avLst/>
          </a:prstGeom>
          <a:noFill/>
          <a:ln/>
        </p:spPr>
        <p:txBody>
          <a:bodyPr wrap="square" lIns="0" tIns="0" rIns="0" bIns="0" rtlCol="0" anchor="ctr"/>
          <a:lstStyle/>
          <a:p>
            <a:pPr indent="0" marL="0">
              <a:lnSpc>
                <a:spcPct val="100000"/>
              </a:lnSpc>
              <a:buNone/>
            </a:pPr>
            <a:r>
              <a:rPr lang="en-US" sz="850" b="1" spc="120" kern="0" dirty="0">
                <a:solidFill>
                  <a:srgbClr val="9C97CC"/>
                </a:solidFill>
                <a:latin typeface="Calibri" pitchFamily="34" charset="0"/>
                <a:ea typeface="Calibri" pitchFamily="34" charset="-122"/>
                <a:cs typeface="Calibri" pitchFamily="34" charset="-120"/>
              </a:rPr>
              <a:t>FACES</a:t>
            </a:r>
            <a:endParaRPr lang="en-US" sz="850" dirty="0"/>
          </a:p>
        </p:txBody>
      </p:sp>
      <p:sp>
        <p:nvSpPr>
          <p:cNvPr id="45" name="Shape 36"/>
          <p:cNvSpPr/>
          <p:nvPr/>
        </p:nvSpPr>
        <p:spPr>
          <a:xfrm>
            <a:off x="8375904" y="3364992"/>
            <a:ext cx="91440" cy="91440"/>
          </a:xfrm>
          <a:prstGeom prst="ellipse">
            <a:avLst/>
          </a:prstGeom>
          <a:solidFill>
            <a:srgbClr val="F2748F"/>
          </a:solidFill>
          <a:ln/>
        </p:spPr>
      </p:sp>
      <p:sp>
        <p:nvSpPr>
          <p:cNvPr id="46" name="Text 37"/>
          <p:cNvSpPr txBox="1"/>
          <p:nvPr/>
        </p:nvSpPr>
        <p:spPr>
          <a:xfrm>
            <a:off x="8558784" y="3310128"/>
            <a:ext cx="2889504" cy="292608"/>
          </a:xfrm>
          <a:prstGeom prst="rect">
            <a:avLst/>
          </a:prstGeom>
          <a:noFill/>
          <a:ln/>
        </p:spPr>
        <p:txBody>
          <a:bodyPr wrap="square" lIns="0" tIns="0" rIns="0" bIns="0" rtlCol="0" anchor="ctr"/>
          <a:lstStyle/>
          <a:p>
            <a:pPr indent="0" marL="0">
              <a:lnSpc>
                <a:spcPct val="100000"/>
              </a:lnSpc>
              <a:buNone/>
            </a:pPr>
            <a:r>
              <a:rPr lang="en-US" sz="1000" dirty="0">
                <a:solidFill>
                  <a:srgbClr val="E7E4FA"/>
                </a:solidFill>
                <a:latin typeface="Calibri" pitchFamily="34" charset="0"/>
                <a:ea typeface="Calibri" pitchFamily="34" charset="-122"/>
                <a:cs typeface="Calibri" pitchFamily="34" charset="-120"/>
              </a:rPr>
              <a:t>Grading scale &amp; consistency</a:t>
            </a:r>
            <a:endParaRPr lang="en-US" sz="1000" dirty="0"/>
          </a:p>
        </p:txBody>
      </p:sp>
      <p:sp>
        <p:nvSpPr>
          <p:cNvPr id="47" name="Shape 38"/>
          <p:cNvSpPr/>
          <p:nvPr/>
        </p:nvSpPr>
        <p:spPr>
          <a:xfrm>
            <a:off x="8375904" y="3675888"/>
            <a:ext cx="91440" cy="91440"/>
          </a:xfrm>
          <a:prstGeom prst="ellipse">
            <a:avLst/>
          </a:prstGeom>
          <a:solidFill>
            <a:srgbClr val="F2748F"/>
          </a:solidFill>
          <a:ln/>
        </p:spPr>
      </p:sp>
      <p:sp>
        <p:nvSpPr>
          <p:cNvPr id="48" name="Text 39"/>
          <p:cNvSpPr txBox="1"/>
          <p:nvPr/>
        </p:nvSpPr>
        <p:spPr>
          <a:xfrm>
            <a:off x="8558784" y="3621024"/>
            <a:ext cx="2889504" cy="292608"/>
          </a:xfrm>
          <a:prstGeom prst="rect">
            <a:avLst/>
          </a:prstGeom>
          <a:noFill/>
          <a:ln/>
        </p:spPr>
        <p:txBody>
          <a:bodyPr wrap="square" lIns="0" tIns="0" rIns="0" bIns="0" rtlCol="0" anchor="ctr"/>
          <a:lstStyle/>
          <a:p>
            <a:pPr indent="0" marL="0">
              <a:lnSpc>
                <a:spcPct val="100000"/>
              </a:lnSpc>
              <a:buNone/>
            </a:pPr>
            <a:r>
              <a:rPr lang="en-US" sz="1000" dirty="0">
                <a:solidFill>
                  <a:srgbClr val="E7E4FA"/>
                </a:solidFill>
                <a:latin typeface="Calibri" pitchFamily="34" charset="0"/>
                <a:ea typeface="Calibri" pitchFamily="34" charset="-122"/>
                <a:cs typeface="Calibri" pitchFamily="34" charset="-120"/>
              </a:rPr>
              <a:t>Weak security representation</a:t>
            </a:r>
            <a:endParaRPr lang="en-US" sz="1000" dirty="0"/>
          </a:p>
        </p:txBody>
      </p:sp>
      <p:sp>
        <p:nvSpPr>
          <p:cNvPr id="49" name="Shape 40"/>
          <p:cNvSpPr/>
          <p:nvPr/>
        </p:nvSpPr>
        <p:spPr>
          <a:xfrm>
            <a:off x="8357616" y="4023360"/>
            <a:ext cx="3090672" cy="0"/>
          </a:xfrm>
          <a:prstGeom prst="line">
            <a:avLst/>
          </a:prstGeom>
          <a:noFill/>
          <a:ln w="12700">
            <a:solidFill>
              <a:srgbClr val="FFFFFF">
                <a:alpha val="20000"/>
              </a:srgbClr>
            </a:solidFill>
            <a:prstDash val="solid"/>
          </a:ln>
        </p:spPr>
      </p:sp>
      <p:sp>
        <p:nvSpPr>
          <p:cNvPr id="50" name="Text 41"/>
          <p:cNvSpPr txBox="1"/>
          <p:nvPr/>
        </p:nvSpPr>
        <p:spPr>
          <a:xfrm>
            <a:off x="8357616" y="4114800"/>
            <a:ext cx="1828800" cy="182880"/>
          </a:xfrm>
          <a:prstGeom prst="rect">
            <a:avLst/>
          </a:prstGeom>
          <a:noFill/>
          <a:ln/>
        </p:spPr>
        <p:txBody>
          <a:bodyPr wrap="square" lIns="0" tIns="0" rIns="0" bIns="0" rtlCol="0" anchor="ctr"/>
          <a:lstStyle/>
          <a:p>
            <a:pPr indent="0" marL="0">
              <a:lnSpc>
                <a:spcPct val="100000"/>
              </a:lnSpc>
              <a:buNone/>
            </a:pPr>
            <a:r>
              <a:rPr lang="en-US" sz="850" b="1" spc="120" kern="0" dirty="0">
                <a:solidFill>
                  <a:srgbClr val="16C78C"/>
                </a:solidFill>
                <a:latin typeface="Calibri" pitchFamily="34" charset="0"/>
                <a:ea typeface="Calibri" pitchFamily="34" charset="-122"/>
                <a:cs typeface="Calibri" pitchFamily="34" charset="-120"/>
              </a:rPr>
              <a:t>BENEFITS</a:t>
            </a:r>
            <a:endParaRPr lang="en-US" sz="850" dirty="0"/>
          </a:p>
        </p:txBody>
      </p:sp>
      <p:pic>
        <p:nvPicPr>
          <p:cNvPr id="51" name="Image 7" descr="assets/icons/check_e.png">    </p:cNvPr>
          <p:cNvPicPr>
            <a:picLocks noChangeAspect="1"/>
          </p:cNvPicPr>
          <p:nvPr/>
        </p:nvPicPr>
        <p:blipFill>
          <a:blip r:embed="rId9"/>
          <a:stretch>
            <a:fillRect/>
          </a:stretch>
        </p:blipFill>
        <p:spPr>
          <a:xfrm>
            <a:off x="8375904" y="4407408"/>
            <a:ext cx="146304" cy="146304"/>
          </a:xfrm>
          <a:prstGeom prst="rect">
            <a:avLst/>
          </a:prstGeom>
        </p:spPr>
      </p:pic>
      <p:sp>
        <p:nvSpPr>
          <p:cNvPr id="52" name="Text 42"/>
          <p:cNvSpPr txBox="1"/>
          <p:nvPr/>
        </p:nvSpPr>
        <p:spPr>
          <a:xfrm>
            <a:off x="8595360" y="4370832"/>
            <a:ext cx="2852928" cy="292608"/>
          </a:xfrm>
          <a:prstGeom prst="rect">
            <a:avLst/>
          </a:prstGeom>
          <a:noFill/>
          <a:ln/>
        </p:spPr>
        <p:txBody>
          <a:bodyPr wrap="square" lIns="0" tIns="0" rIns="0" bIns="0" rtlCol="0" anchor="ctr"/>
          <a:lstStyle/>
          <a:p>
            <a:pPr indent="0" marL="0">
              <a:lnSpc>
                <a:spcPct val="100000"/>
              </a:lnSpc>
              <a:buNone/>
            </a:pPr>
            <a:r>
              <a:rPr lang="en-US" sz="1000" b="1" dirty="0">
                <a:solidFill>
                  <a:srgbClr val="9FE7C9"/>
                </a:solidFill>
                <a:latin typeface="Calibri" pitchFamily="34" charset="0"/>
                <a:ea typeface="Calibri" pitchFamily="34" charset="-122"/>
                <a:cs typeface="Calibri" pitchFamily="34" charset="-120"/>
              </a:rPr>
              <a:t>Scalable objective evaluation</a:t>
            </a:r>
            <a:endParaRPr lang="en-US" sz="1000" dirty="0"/>
          </a:p>
        </p:txBody>
      </p:sp>
      <p:pic>
        <p:nvPicPr>
          <p:cNvPr id="53" name="Image 8" descr="assets/icons/check_e.png">    </p:cNvPr>
          <p:cNvPicPr>
            <a:picLocks noChangeAspect="1"/>
          </p:cNvPicPr>
          <p:nvPr/>
        </p:nvPicPr>
        <p:blipFill>
          <a:blip r:embed="rId10"/>
          <a:stretch>
            <a:fillRect/>
          </a:stretch>
        </p:blipFill>
        <p:spPr>
          <a:xfrm>
            <a:off x="8375904" y="4718304"/>
            <a:ext cx="146304" cy="146304"/>
          </a:xfrm>
          <a:prstGeom prst="rect">
            <a:avLst/>
          </a:prstGeom>
        </p:spPr>
      </p:pic>
      <p:sp>
        <p:nvSpPr>
          <p:cNvPr id="54" name="Text 43"/>
          <p:cNvSpPr txBox="1"/>
          <p:nvPr/>
        </p:nvSpPr>
        <p:spPr>
          <a:xfrm>
            <a:off x="8595360" y="4681728"/>
            <a:ext cx="2852928" cy="292608"/>
          </a:xfrm>
          <a:prstGeom prst="rect">
            <a:avLst/>
          </a:prstGeom>
          <a:noFill/>
          <a:ln/>
        </p:spPr>
        <p:txBody>
          <a:bodyPr wrap="square" lIns="0" tIns="0" rIns="0" bIns="0" rtlCol="0" anchor="ctr"/>
          <a:lstStyle/>
          <a:p>
            <a:pPr indent="0" marL="0">
              <a:lnSpc>
                <a:spcPct val="100000"/>
              </a:lnSpc>
              <a:buNone/>
            </a:pPr>
            <a:r>
              <a:rPr lang="en-US" sz="1000" b="1" dirty="0">
                <a:solidFill>
                  <a:srgbClr val="9FE7C9"/>
                </a:solidFill>
                <a:latin typeface="Calibri" pitchFamily="34" charset="0"/>
                <a:ea typeface="Calibri" pitchFamily="34" charset="-122"/>
                <a:cs typeface="Calibri" pitchFamily="34" charset="-120"/>
              </a:rPr>
              <a:t>Security-aware, ready graduates</a:t>
            </a:r>
            <a:endParaRPr lang="en-US" sz="1000" dirty="0"/>
          </a:p>
        </p:txBody>
      </p:sp>
      <p:sp>
        <p:nvSpPr>
          <p:cNvPr id="55" name="Text 44"/>
          <p:cNvSpPr txBox="1"/>
          <p:nvPr/>
        </p:nvSpPr>
        <p:spPr>
          <a:xfrm>
            <a:off x="603504" y="6528816"/>
            <a:ext cx="6400800" cy="256032"/>
          </a:xfrm>
          <a:prstGeom prst="rect">
            <a:avLst/>
          </a:prstGeom>
          <a:noFill/>
          <a:ln/>
        </p:spPr>
        <p:txBody>
          <a:bodyPr wrap="square" lIns="0" tIns="0" rIns="0" bIns="0" rtlCol="0" anchor="ctr"/>
          <a:lstStyle/>
          <a:p>
            <a:pPr indent="0" marL="0">
              <a:lnSpc>
                <a:spcPct val="100000"/>
              </a:lnSpc>
              <a:buNone/>
            </a:pPr>
            <a:r>
              <a:rPr lang="en-US" sz="850" dirty="0">
                <a:solidFill>
                  <a:srgbClr val="726CA6"/>
                </a:solidFill>
                <a:latin typeface="Calibri" pitchFamily="34" charset="0"/>
                <a:ea typeface="Calibri" pitchFamily="34" charset="-122"/>
                <a:cs typeface="Calibri" pitchFamily="34" charset="-120"/>
              </a:rPr>
              <a:t>J26-SE-363  ·  Progress Presentation 1</a:t>
            </a:r>
            <a:endParaRPr lang="en-US" sz="850" dirty="0"/>
          </a:p>
        </p:txBody>
      </p:sp>
      <p:sp>
        <p:nvSpPr>
          <p:cNvPr id="56" name="Text 45"/>
          <p:cNvSpPr txBox="1"/>
          <p:nvPr/>
        </p:nvSpPr>
        <p:spPr>
          <a:xfrm>
            <a:off x="10972800" y="6528816"/>
            <a:ext cx="640080" cy="256032"/>
          </a:xfrm>
          <a:prstGeom prst="rect">
            <a:avLst/>
          </a:prstGeom>
          <a:noFill/>
          <a:ln/>
        </p:spPr>
        <p:txBody>
          <a:bodyPr wrap="square" lIns="0" tIns="0" rIns="0" bIns="0" rtlCol="0" anchor="ctr"/>
          <a:lstStyle/>
          <a:p>
            <a:pPr algn="r" indent="0" marL="0">
              <a:lnSpc>
                <a:spcPct val="100000"/>
              </a:lnSpc>
              <a:buNone/>
            </a:pPr>
            <a:r>
              <a:rPr lang="en-US" sz="850" dirty="0">
                <a:solidFill>
                  <a:srgbClr val="726CA6"/>
                </a:solidFill>
                <a:latin typeface="Calibri" pitchFamily="34" charset="0"/>
                <a:ea typeface="Calibri" pitchFamily="34" charset="-122"/>
                <a:cs typeface="Calibri" pitchFamily="34" charset="-120"/>
              </a:rPr>
              <a:t>4</a:t>
            </a:r>
            <a:endParaRPr lang="en-US" sz="8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ext 0"/>
          <p:cNvSpPr txBox="1"/>
          <p:nvPr/>
        </p:nvSpPr>
        <p:spPr>
          <a:xfrm>
            <a:off x="603504" y="493776"/>
            <a:ext cx="10058400" cy="274320"/>
          </a:xfrm>
          <a:prstGeom prst="rect">
            <a:avLst/>
          </a:prstGeom>
          <a:noFill/>
          <a:ln/>
        </p:spPr>
        <p:txBody>
          <a:bodyPr wrap="square" lIns="0" tIns="0" rIns="0" bIns="0" rtlCol="0" anchor="ctr"/>
          <a:lstStyle/>
          <a:p>
            <a:pPr indent="0" marL="0">
              <a:lnSpc>
                <a:spcPct val="100000"/>
              </a:lnSpc>
              <a:buNone/>
            </a:pPr>
            <a:r>
              <a:rPr lang="en-US" sz="1100" b="1" spc="260" kern="0" dirty="0">
                <a:solidFill>
                  <a:srgbClr val="9FE7C9"/>
                </a:solidFill>
                <a:latin typeface="Calibri" pitchFamily="34" charset="0"/>
                <a:ea typeface="Calibri" pitchFamily="34" charset="-122"/>
                <a:cs typeface="Calibri" pitchFamily="34" charset="-120"/>
              </a:rPr>
              <a:t>OVERALL PROJECT   ·   SOLUTION</a:t>
            </a:r>
            <a:endParaRPr lang="en-US" sz="1100" dirty="0"/>
          </a:p>
        </p:txBody>
      </p:sp>
      <p:sp>
        <p:nvSpPr>
          <p:cNvPr id="3" name="Text 1"/>
          <p:cNvSpPr txBox="1"/>
          <p:nvPr/>
        </p:nvSpPr>
        <p:spPr>
          <a:xfrm>
            <a:off x="566928" y="749808"/>
            <a:ext cx="10607040" cy="777240"/>
          </a:xfrm>
          <a:prstGeom prst="rect">
            <a:avLst/>
          </a:prstGeom>
          <a:noFill/>
          <a:ln/>
        </p:spPr>
        <p:txBody>
          <a:bodyPr wrap="square" lIns="0" tIns="0" rIns="0" bIns="0" rtlCol="0" anchor="ctr"/>
          <a:lstStyle/>
          <a:p>
            <a:pPr indent="0" marL="0">
              <a:lnSpc>
                <a:spcPct val="98000"/>
              </a:lnSpc>
              <a:buNone/>
            </a:pPr>
            <a:r>
              <a:rPr lang="en-US" sz="2900" b="1" dirty="0">
                <a:solidFill>
                  <a:srgbClr val="FFFFFF"/>
                </a:solidFill>
                <a:latin typeface="Calibri" pitchFamily="34" charset="0"/>
                <a:ea typeface="Calibri" pitchFamily="34" charset="-122"/>
                <a:cs typeface="Calibri" pitchFamily="34" charset="-120"/>
              </a:rPr>
              <a:t>Design Excellence of the Solution</a:t>
            </a:r>
            <a:endParaRPr lang="en-US" sz="2900" dirty="0"/>
          </a:p>
        </p:txBody>
      </p:sp>
      <p:sp>
        <p:nvSpPr>
          <p:cNvPr id="4" name="Text 2"/>
          <p:cNvSpPr txBox="1"/>
          <p:nvPr/>
        </p:nvSpPr>
        <p:spPr>
          <a:xfrm>
            <a:off x="566928" y="1371600"/>
            <a:ext cx="10972800" cy="365760"/>
          </a:xfrm>
          <a:prstGeom prst="rect">
            <a:avLst/>
          </a:prstGeom>
          <a:noFill/>
          <a:ln/>
        </p:spPr>
        <p:txBody>
          <a:bodyPr wrap="square" lIns="0" tIns="0" rIns="0" bIns="0" rtlCol="0" anchor="ctr"/>
          <a:lstStyle/>
          <a:p>
            <a:pPr indent="0" marL="0">
              <a:lnSpc>
                <a:spcPct val="100000"/>
              </a:lnSpc>
              <a:buNone/>
            </a:pPr>
            <a:r>
              <a:rPr lang="en-US" sz="1250" dirty="0">
                <a:solidFill>
                  <a:srgbClr val="CFCBEF"/>
                </a:solidFill>
                <a:latin typeface="Calibri" pitchFamily="34" charset="0"/>
                <a:ea typeface="Calibri" pitchFamily="34" charset="-122"/>
                <a:cs typeface="Calibri" pitchFamily="34" charset="-120"/>
              </a:rPr>
              <a:t>One coordinated multi-agent framework — four autonomous agents sharing a single, continuously-updated project context.</a:t>
            </a:r>
            <a:endParaRPr lang="en-US" sz="1250" dirty="0"/>
          </a:p>
        </p:txBody>
      </p:sp>
      <p:sp>
        <p:nvSpPr>
          <p:cNvPr id="5" name="Shape 3"/>
          <p:cNvSpPr/>
          <p:nvPr/>
        </p:nvSpPr>
        <p:spPr>
          <a:xfrm>
            <a:off x="566928" y="1938528"/>
            <a:ext cx="2679192" cy="1325880"/>
          </a:xfrm>
          <a:prstGeom prst="roundRect">
            <a:avLst>
              <a:gd name="adj" fmla="val 7586"/>
            </a:avLst>
          </a:prstGeom>
          <a:solidFill>
            <a:srgbClr val="FFFFFF">
              <a:alpha val="12000"/>
            </a:srgbClr>
          </a:solidFill>
          <a:ln w="12700">
            <a:solidFill>
              <a:srgbClr val="FFFFFF">
                <a:alpha val="18000"/>
              </a:srgbClr>
            </a:solidFill>
            <a:prstDash val="solid"/>
          </a:ln>
          <a:effectLst>
            <a:outerShdw sx="100000" sy="100000" kx="0" ky="0" algn="bl" rotWithShape="0" blurRad="177800" dist="63500" dir="5400000">
              <a:srgbClr val="0B0920">
                <a:alpha val="45000"/>
              </a:srgbClr>
            </a:outerShdw>
          </a:effectLst>
        </p:spPr>
      </p:sp>
      <p:sp>
        <p:nvSpPr>
          <p:cNvPr id="6" name="Shape 4"/>
          <p:cNvSpPr/>
          <p:nvPr/>
        </p:nvSpPr>
        <p:spPr>
          <a:xfrm>
            <a:off x="822960" y="2212848"/>
            <a:ext cx="658368" cy="658368"/>
          </a:xfrm>
          <a:prstGeom prst="ellipse">
            <a:avLst/>
          </a:prstGeom>
          <a:solidFill>
            <a:srgbClr val="5A47CE"/>
          </a:solidFill>
          <a:ln w="17780">
            <a:solidFill>
              <a:srgbClr val="7E6CF4"/>
            </a:solidFill>
            <a:prstDash val="solid"/>
          </a:ln>
          <a:effectLst>
            <a:outerShdw sx="100000" sy="100000" kx="0" ky="0" algn="bl" rotWithShape="0" blurRad="127000" dist="50800" dir="5400000">
              <a:srgbClr val="7E6CF4">
                <a:alpha val="45000"/>
              </a:srgbClr>
            </a:outerShdw>
          </a:effectLst>
        </p:spPr>
      </p:sp>
      <p:pic>
        <p:nvPicPr>
          <p:cNvPr id="7" name="Image 0" descr="assets/icons/clipboard_w.png">    </p:cNvPr>
          <p:cNvPicPr>
            <a:picLocks noChangeAspect="1"/>
          </p:cNvPicPr>
          <p:nvPr/>
        </p:nvPicPr>
        <p:blipFill>
          <a:blip r:embed="rId2"/>
          <a:stretch>
            <a:fillRect/>
          </a:stretch>
        </p:blipFill>
        <p:spPr>
          <a:xfrm>
            <a:off x="1007303" y="2397191"/>
            <a:ext cx="289682" cy="289682"/>
          </a:xfrm>
          <a:prstGeom prst="rect">
            <a:avLst/>
          </a:prstGeom>
        </p:spPr>
      </p:pic>
      <p:sp>
        <p:nvSpPr>
          <p:cNvPr id="8" name="Text 5"/>
          <p:cNvSpPr txBox="1"/>
          <p:nvPr/>
        </p:nvSpPr>
        <p:spPr>
          <a:xfrm>
            <a:off x="1609344" y="2212848"/>
            <a:ext cx="1508760" cy="777240"/>
          </a:xfrm>
          <a:prstGeom prst="rect">
            <a:avLst/>
          </a:prstGeom>
          <a:noFill/>
          <a:ln/>
        </p:spPr>
        <p:txBody>
          <a:bodyPr wrap="square" lIns="0" tIns="0" rIns="0" bIns="0" rtlCol="0" anchor="ctr"/>
          <a:lstStyle/>
          <a:p>
            <a:pPr indent="0" marL="0">
              <a:lnSpc>
                <a:spcPct val="92000"/>
              </a:lnSpc>
              <a:buNone/>
            </a:pPr>
            <a:r>
              <a:rPr lang="en-US" sz="1250" b="1" dirty="0">
                <a:solidFill>
                  <a:srgbClr val="FFFFFF"/>
                </a:solidFill>
                <a:latin typeface="Calibri" pitchFamily="34" charset="0"/>
                <a:ea typeface="Calibri" pitchFamily="34" charset="-122"/>
                <a:cs typeface="Calibri" pitchFamily="34" charset="-120"/>
              </a:rPr>
              <a:t>Requirements</a:t>
            </a:r>
            <a:endParaRPr lang="en-US" sz="1250" dirty="0"/>
          </a:p>
          <a:p>
            <a:pPr indent="0" marL="0">
              <a:lnSpc>
                <a:spcPct val="92000"/>
              </a:lnSpc>
              <a:buNone/>
            </a:pPr>
            <a:r>
              <a:rPr lang="en-US" sz="1250" b="1" dirty="0">
                <a:solidFill>
                  <a:srgbClr val="FFFFFF"/>
                </a:solidFill>
                <a:latin typeface="Calibri" pitchFamily="34" charset="0"/>
                <a:ea typeface="Calibri" pitchFamily="34" charset="-122"/>
                <a:cs typeface="Calibri" pitchFamily="34" charset="-120"/>
              </a:rPr>
              <a:t>&amp; Planning</a:t>
            </a:r>
            <a:endParaRPr lang="en-US" sz="1250" dirty="0"/>
          </a:p>
        </p:txBody>
      </p:sp>
      <p:sp>
        <p:nvSpPr>
          <p:cNvPr id="9" name="Shape 6"/>
          <p:cNvSpPr/>
          <p:nvPr/>
        </p:nvSpPr>
        <p:spPr>
          <a:xfrm>
            <a:off x="3337560" y="1938528"/>
            <a:ext cx="2679192" cy="1325880"/>
          </a:xfrm>
          <a:prstGeom prst="roundRect">
            <a:avLst>
              <a:gd name="adj" fmla="val 7586"/>
            </a:avLst>
          </a:prstGeom>
          <a:solidFill>
            <a:srgbClr val="FFFFFF">
              <a:alpha val="12000"/>
            </a:srgbClr>
          </a:solidFill>
          <a:ln w="12700">
            <a:solidFill>
              <a:srgbClr val="FFFFFF">
                <a:alpha val="18000"/>
              </a:srgbClr>
            </a:solidFill>
            <a:prstDash val="solid"/>
          </a:ln>
          <a:effectLst>
            <a:outerShdw sx="100000" sy="100000" kx="0" ky="0" algn="bl" rotWithShape="0" blurRad="177800" dist="63500" dir="5400000">
              <a:srgbClr val="0B0920">
                <a:alpha val="45000"/>
              </a:srgbClr>
            </a:outerShdw>
          </a:effectLst>
        </p:spPr>
      </p:sp>
      <p:sp>
        <p:nvSpPr>
          <p:cNvPr id="10" name="Shape 7"/>
          <p:cNvSpPr/>
          <p:nvPr/>
        </p:nvSpPr>
        <p:spPr>
          <a:xfrm>
            <a:off x="3593592" y="2212848"/>
            <a:ext cx="658368" cy="658368"/>
          </a:xfrm>
          <a:prstGeom prst="ellipse">
            <a:avLst/>
          </a:prstGeom>
          <a:solidFill>
            <a:srgbClr val="1E9BA1"/>
          </a:solidFill>
          <a:ln w="17780">
            <a:solidFill>
              <a:srgbClr val="38C6CC"/>
            </a:solidFill>
            <a:prstDash val="solid"/>
          </a:ln>
          <a:effectLst>
            <a:outerShdw sx="100000" sy="100000" kx="0" ky="0" algn="bl" rotWithShape="0" blurRad="127000" dist="50800" dir="5400000">
              <a:srgbClr val="38C6CC">
                <a:alpha val="45000"/>
              </a:srgbClr>
            </a:outerShdw>
          </a:effectLst>
        </p:spPr>
      </p:sp>
      <p:pic>
        <p:nvPicPr>
          <p:cNvPr id="11" name="Image 1" descr="assets/icons/book_w.png">    </p:cNvPr>
          <p:cNvPicPr>
            <a:picLocks noChangeAspect="1"/>
          </p:cNvPicPr>
          <p:nvPr/>
        </p:nvPicPr>
        <p:blipFill>
          <a:blip r:embed="rId3"/>
          <a:stretch>
            <a:fillRect/>
          </a:stretch>
        </p:blipFill>
        <p:spPr>
          <a:xfrm>
            <a:off x="3777935" y="2397191"/>
            <a:ext cx="289682" cy="289682"/>
          </a:xfrm>
          <a:prstGeom prst="rect">
            <a:avLst/>
          </a:prstGeom>
        </p:spPr>
      </p:pic>
      <p:sp>
        <p:nvSpPr>
          <p:cNvPr id="12" name="Text 8"/>
          <p:cNvSpPr txBox="1"/>
          <p:nvPr/>
        </p:nvSpPr>
        <p:spPr>
          <a:xfrm>
            <a:off x="4379976" y="2212848"/>
            <a:ext cx="1508760" cy="777240"/>
          </a:xfrm>
          <a:prstGeom prst="rect">
            <a:avLst/>
          </a:prstGeom>
          <a:noFill/>
          <a:ln/>
        </p:spPr>
        <p:txBody>
          <a:bodyPr wrap="square" lIns="0" tIns="0" rIns="0" bIns="0" rtlCol="0" anchor="ctr"/>
          <a:lstStyle/>
          <a:p>
            <a:pPr indent="0" marL="0">
              <a:lnSpc>
                <a:spcPct val="92000"/>
              </a:lnSpc>
              <a:buNone/>
            </a:pPr>
            <a:r>
              <a:rPr lang="en-US" sz="1250" b="1" dirty="0">
                <a:solidFill>
                  <a:srgbClr val="FFFFFF"/>
                </a:solidFill>
                <a:latin typeface="Calibri" pitchFamily="34" charset="0"/>
                <a:ea typeface="Calibri" pitchFamily="34" charset="-122"/>
                <a:cs typeface="Calibri" pitchFamily="34" charset="-120"/>
              </a:rPr>
              <a:t>Adaptive</a:t>
            </a:r>
            <a:endParaRPr lang="en-US" sz="1250" dirty="0"/>
          </a:p>
          <a:p>
            <a:pPr indent="0" marL="0">
              <a:lnSpc>
                <a:spcPct val="92000"/>
              </a:lnSpc>
              <a:buNone/>
            </a:pPr>
            <a:r>
              <a:rPr lang="en-US" sz="1250" b="1" dirty="0">
                <a:solidFill>
                  <a:srgbClr val="FFFFFF"/>
                </a:solidFill>
                <a:latin typeface="Calibri" pitchFamily="34" charset="0"/>
                <a:ea typeface="Calibri" pitchFamily="34" charset="-122"/>
                <a:cs typeface="Calibri" pitchFamily="34" charset="-120"/>
              </a:rPr>
              <a:t>AI Tutor</a:t>
            </a:r>
            <a:endParaRPr lang="en-US" sz="1250" dirty="0"/>
          </a:p>
        </p:txBody>
      </p:sp>
      <p:sp>
        <p:nvSpPr>
          <p:cNvPr id="13" name="Shape 9"/>
          <p:cNvSpPr/>
          <p:nvPr/>
        </p:nvSpPr>
        <p:spPr>
          <a:xfrm>
            <a:off x="6108192" y="1938528"/>
            <a:ext cx="2679192" cy="1325880"/>
          </a:xfrm>
          <a:prstGeom prst="roundRect">
            <a:avLst>
              <a:gd name="adj" fmla="val 7586"/>
            </a:avLst>
          </a:prstGeom>
          <a:solidFill>
            <a:srgbClr val="FFFFFF">
              <a:alpha val="12000"/>
            </a:srgbClr>
          </a:solidFill>
          <a:ln w="12700">
            <a:solidFill>
              <a:srgbClr val="FFFFFF">
                <a:alpha val="18000"/>
              </a:srgbClr>
            </a:solidFill>
            <a:prstDash val="solid"/>
          </a:ln>
          <a:effectLst>
            <a:outerShdw sx="100000" sy="100000" kx="0" ky="0" algn="bl" rotWithShape="0" blurRad="177800" dist="63500" dir="5400000">
              <a:srgbClr val="0B0920">
                <a:alpha val="45000"/>
              </a:srgbClr>
            </a:outerShdw>
          </a:effectLst>
        </p:spPr>
      </p:sp>
      <p:sp>
        <p:nvSpPr>
          <p:cNvPr id="14" name="Shape 10"/>
          <p:cNvSpPr/>
          <p:nvPr/>
        </p:nvSpPr>
        <p:spPr>
          <a:xfrm>
            <a:off x="6364224" y="2212848"/>
            <a:ext cx="658368" cy="658368"/>
          </a:xfrm>
          <a:prstGeom prst="ellipse">
            <a:avLst/>
          </a:prstGeom>
          <a:solidFill>
            <a:srgbClr val="E0891C"/>
          </a:solidFill>
          <a:ln w="17780">
            <a:solidFill>
              <a:srgbClr val="F2A740"/>
            </a:solidFill>
            <a:prstDash val="solid"/>
          </a:ln>
          <a:effectLst>
            <a:outerShdw sx="100000" sy="100000" kx="0" ky="0" algn="bl" rotWithShape="0" blurRad="127000" dist="50800" dir="5400000">
              <a:srgbClr val="F2A740">
                <a:alpha val="45000"/>
              </a:srgbClr>
            </a:outerShdw>
          </a:effectLst>
        </p:spPr>
      </p:sp>
      <p:pic>
        <p:nvPicPr>
          <p:cNvPr id="15" name="Image 2" descr="assets/icons/pie_w.png">    </p:cNvPr>
          <p:cNvPicPr>
            <a:picLocks noChangeAspect="1"/>
          </p:cNvPicPr>
          <p:nvPr/>
        </p:nvPicPr>
        <p:blipFill>
          <a:blip r:embed="rId4"/>
          <a:stretch>
            <a:fillRect/>
          </a:stretch>
        </p:blipFill>
        <p:spPr>
          <a:xfrm>
            <a:off x="6548567" y="2397191"/>
            <a:ext cx="289682" cy="289682"/>
          </a:xfrm>
          <a:prstGeom prst="rect">
            <a:avLst/>
          </a:prstGeom>
        </p:spPr>
      </p:pic>
      <p:sp>
        <p:nvSpPr>
          <p:cNvPr id="16" name="Text 11"/>
          <p:cNvSpPr txBox="1"/>
          <p:nvPr/>
        </p:nvSpPr>
        <p:spPr>
          <a:xfrm>
            <a:off x="7150608" y="2212848"/>
            <a:ext cx="1508760" cy="777240"/>
          </a:xfrm>
          <a:prstGeom prst="rect">
            <a:avLst/>
          </a:prstGeom>
          <a:noFill/>
          <a:ln/>
        </p:spPr>
        <p:txBody>
          <a:bodyPr wrap="square" lIns="0" tIns="0" rIns="0" bIns="0" rtlCol="0" anchor="ctr"/>
          <a:lstStyle/>
          <a:p>
            <a:pPr indent="0" marL="0">
              <a:lnSpc>
                <a:spcPct val="92000"/>
              </a:lnSpc>
              <a:buNone/>
            </a:pPr>
            <a:r>
              <a:rPr lang="en-US" sz="1250" b="1" dirty="0">
                <a:solidFill>
                  <a:srgbClr val="FFFFFF"/>
                </a:solidFill>
                <a:latin typeface="Calibri" pitchFamily="34" charset="0"/>
                <a:ea typeface="Calibri" pitchFamily="34" charset="-122"/>
                <a:cs typeface="Calibri" pitchFamily="34" charset="-120"/>
              </a:rPr>
              <a:t>Performance</a:t>
            </a:r>
            <a:endParaRPr lang="en-US" sz="1250" dirty="0"/>
          </a:p>
          <a:p>
            <a:pPr indent="0" marL="0">
              <a:lnSpc>
                <a:spcPct val="92000"/>
              </a:lnSpc>
              <a:buNone/>
            </a:pPr>
            <a:r>
              <a:rPr lang="en-US" sz="1250" b="1" dirty="0">
                <a:solidFill>
                  <a:srgbClr val="FFFFFF"/>
                </a:solidFill>
                <a:latin typeface="Calibri" pitchFamily="34" charset="0"/>
                <a:ea typeface="Calibri" pitchFamily="34" charset="-122"/>
                <a:cs typeface="Calibri" pitchFamily="34" charset="-120"/>
              </a:rPr>
              <a:t>Assessment</a:t>
            </a:r>
            <a:endParaRPr lang="en-US" sz="1250" dirty="0"/>
          </a:p>
        </p:txBody>
      </p:sp>
      <p:sp>
        <p:nvSpPr>
          <p:cNvPr id="17" name="Shape 12"/>
          <p:cNvSpPr/>
          <p:nvPr/>
        </p:nvSpPr>
        <p:spPr>
          <a:xfrm>
            <a:off x="8878824" y="1938528"/>
            <a:ext cx="2679192" cy="1325880"/>
          </a:xfrm>
          <a:prstGeom prst="roundRect">
            <a:avLst>
              <a:gd name="adj" fmla="val 7586"/>
            </a:avLst>
          </a:prstGeom>
          <a:solidFill>
            <a:srgbClr val="FFFFFF">
              <a:alpha val="12000"/>
            </a:srgbClr>
          </a:solidFill>
          <a:ln w="12700">
            <a:solidFill>
              <a:srgbClr val="FFFFFF">
                <a:alpha val="18000"/>
              </a:srgbClr>
            </a:solidFill>
            <a:prstDash val="solid"/>
          </a:ln>
          <a:effectLst>
            <a:outerShdw sx="100000" sy="100000" kx="0" ky="0" algn="bl" rotWithShape="0" blurRad="177800" dist="63500" dir="5400000">
              <a:srgbClr val="0B0920">
                <a:alpha val="45000"/>
              </a:srgbClr>
            </a:outerShdw>
          </a:effectLst>
        </p:spPr>
      </p:sp>
      <p:sp>
        <p:nvSpPr>
          <p:cNvPr id="18" name="Shape 13"/>
          <p:cNvSpPr/>
          <p:nvPr/>
        </p:nvSpPr>
        <p:spPr>
          <a:xfrm>
            <a:off x="9134856" y="2212848"/>
            <a:ext cx="658368" cy="658368"/>
          </a:xfrm>
          <a:prstGeom prst="ellipse">
            <a:avLst/>
          </a:prstGeom>
          <a:solidFill>
            <a:srgbClr val="23925B"/>
          </a:solidFill>
          <a:ln w="17780">
            <a:solidFill>
              <a:srgbClr val="39BC7A"/>
            </a:solidFill>
            <a:prstDash val="solid"/>
          </a:ln>
          <a:effectLst>
            <a:outerShdw sx="100000" sy="100000" kx="0" ky="0" algn="bl" rotWithShape="0" blurRad="127000" dist="50800" dir="5400000">
              <a:srgbClr val="39BC7A">
                <a:alpha val="45000"/>
              </a:srgbClr>
            </a:outerShdw>
          </a:effectLst>
        </p:spPr>
      </p:sp>
      <p:pic>
        <p:nvPicPr>
          <p:cNvPr id="19" name="Image 3" descr="assets/icons/shield_w.png">    </p:cNvPr>
          <p:cNvPicPr>
            <a:picLocks noChangeAspect="1"/>
          </p:cNvPicPr>
          <p:nvPr/>
        </p:nvPicPr>
        <p:blipFill>
          <a:blip r:embed="rId5"/>
          <a:stretch>
            <a:fillRect/>
          </a:stretch>
        </p:blipFill>
        <p:spPr>
          <a:xfrm>
            <a:off x="9319199" y="2397191"/>
            <a:ext cx="289682" cy="289682"/>
          </a:xfrm>
          <a:prstGeom prst="rect">
            <a:avLst/>
          </a:prstGeom>
        </p:spPr>
      </p:pic>
      <p:sp>
        <p:nvSpPr>
          <p:cNvPr id="20" name="Text 14"/>
          <p:cNvSpPr txBox="1"/>
          <p:nvPr/>
        </p:nvSpPr>
        <p:spPr>
          <a:xfrm>
            <a:off x="9921240" y="2212848"/>
            <a:ext cx="1508760" cy="777240"/>
          </a:xfrm>
          <a:prstGeom prst="rect">
            <a:avLst/>
          </a:prstGeom>
          <a:noFill/>
          <a:ln/>
        </p:spPr>
        <p:txBody>
          <a:bodyPr wrap="square" lIns="0" tIns="0" rIns="0" bIns="0" rtlCol="0" anchor="ctr"/>
          <a:lstStyle/>
          <a:p>
            <a:pPr indent="0" marL="0">
              <a:lnSpc>
                <a:spcPct val="92000"/>
              </a:lnSpc>
              <a:buNone/>
            </a:pPr>
            <a:r>
              <a:rPr lang="en-US" sz="1250" b="1" dirty="0">
                <a:solidFill>
                  <a:srgbClr val="FFFFFF"/>
                </a:solidFill>
                <a:latin typeface="Calibri" pitchFamily="34" charset="0"/>
                <a:ea typeface="Calibri" pitchFamily="34" charset="-122"/>
                <a:cs typeface="Calibri" pitchFamily="34" charset="-120"/>
              </a:rPr>
              <a:t>Security</a:t>
            </a:r>
            <a:endParaRPr lang="en-US" sz="1250" dirty="0"/>
          </a:p>
          <a:p>
            <a:pPr indent="0" marL="0">
              <a:lnSpc>
                <a:spcPct val="92000"/>
              </a:lnSpc>
              <a:buNone/>
            </a:pPr>
            <a:r>
              <a:rPr lang="en-US" sz="1250" b="1" dirty="0">
                <a:solidFill>
                  <a:srgbClr val="FFFFFF"/>
                </a:solidFill>
                <a:latin typeface="Calibri" pitchFamily="34" charset="0"/>
                <a:ea typeface="Calibri" pitchFamily="34" charset="-122"/>
                <a:cs typeface="Calibri" pitchFamily="34" charset="-120"/>
              </a:rPr>
              <a:t>Agent</a:t>
            </a:r>
            <a:endParaRPr lang="en-US" sz="1250" dirty="0"/>
          </a:p>
        </p:txBody>
      </p:sp>
      <p:sp>
        <p:nvSpPr>
          <p:cNvPr id="21" name="Shape 15"/>
          <p:cNvSpPr/>
          <p:nvPr/>
        </p:nvSpPr>
        <p:spPr>
          <a:xfrm>
            <a:off x="566928" y="3410712"/>
            <a:ext cx="10991088" cy="420624"/>
          </a:xfrm>
          <a:prstGeom prst="roundRect">
            <a:avLst>
              <a:gd name="adj" fmla="val 50000"/>
            </a:avLst>
          </a:prstGeom>
          <a:solidFill>
            <a:srgbClr val="4A3DC2"/>
          </a:solidFill>
          <a:ln w="12700">
            <a:solidFill>
              <a:srgbClr val="6E5CF0"/>
            </a:solidFill>
            <a:prstDash val="solid"/>
          </a:ln>
        </p:spPr>
      </p:sp>
      <p:pic>
        <p:nvPicPr>
          <p:cNvPr id="22" name="Image 4" descr="assets/icons/share_w.png">    </p:cNvPr>
          <p:cNvPicPr>
            <a:picLocks noChangeAspect="1"/>
          </p:cNvPicPr>
          <p:nvPr/>
        </p:nvPicPr>
        <p:blipFill>
          <a:blip r:embed="rId6"/>
          <a:stretch>
            <a:fillRect/>
          </a:stretch>
        </p:blipFill>
        <p:spPr>
          <a:xfrm>
            <a:off x="841248" y="3511296"/>
            <a:ext cx="219456" cy="219456"/>
          </a:xfrm>
          <a:prstGeom prst="rect">
            <a:avLst/>
          </a:prstGeom>
        </p:spPr>
      </p:pic>
      <p:sp>
        <p:nvSpPr>
          <p:cNvPr id="23" name="Text 16"/>
          <p:cNvSpPr txBox="1"/>
          <p:nvPr/>
        </p:nvSpPr>
        <p:spPr>
          <a:xfrm>
            <a:off x="1152144" y="3410712"/>
            <a:ext cx="10259568" cy="420624"/>
          </a:xfrm>
          <a:prstGeom prst="rect">
            <a:avLst/>
          </a:prstGeom>
          <a:noFill/>
          <a:ln/>
        </p:spPr>
        <p:txBody>
          <a:bodyPr wrap="square" lIns="0" tIns="0" rIns="0" bIns="0" rtlCol="0" anchor="ctr"/>
          <a:lstStyle/>
          <a:p>
            <a:pPr indent="0" marL="0">
              <a:lnSpc>
                <a:spcPct val="100000"/>
              </a:lnSpc>
              <a:buNone/>
            </a:pPr>
            <a:r>
              <a:rPr lang="en-US" sz="1050" b="1" dirty="0">
                <a:solidFill>
                  <a:srgbClr val="FFFFFF"/>
                </a:solidFill>
                <a:latin typeface="Calibri" pitchFamily="34" charset="0"/>
                <a:ea typeface="Calibri" pitchFamily="34" charset="-122"/>
                <a:cs typeface="Calibri" pitchFamily="34" charset="-120"/>
              </a:rPr>
              <a:t>Agent message bus — agents coordinate, pass evidence and requests, and stay autonomous</a:t>
            </a:r>
            <a:endParaRPr lang="en-US" sz="1050" dirty="0"/>
          </a:p>
        </p:txBody>
      </p:sp>
      <p:sp>
        <p:nvSpPr>
          <p:cNvPr id="24" name="Shape 17"/>
          <p:cNvSpPr/>
          <p:nvPr/>
        </p:nvSpPr>
        <p:spPr>
          <a:xfrm>
            <a:off x="566928" y="4123944"/>
            <a:ext cx="10991088" cy="914400"/>
          </a:xfrm>
          <a:prstGeom prst="roundRect">
            <a:avLst>
              <a:gd name="adj" fmla="val 11000"/>
            </a:avLst>
          </a:prstGeom>
          <a:solidFill>
            <a:srgbClr val="FFFFFF">
              <a:alpha val="12000"/>
            </a:srgbClr>
          </a:solidFill>
          <a:ln w="12700">
            <a:solidFill>
              <a:srgbClr val="FFFFFF">
                <a:alpha val="18000"/>
              </a:srgbClr>
            </a:solidFill>
            <a:prstDash val="solid"/>
          </a:ln>
          <a:effectLst>
            <a:outerShdw sx="100000" sy="100000" kx="0" ky="0" algn="bl" rotWithShape="0" blurRad="177800" dist="63500" dir="5400000">
              <a:srgbClr val="0B0920">
                <a:alpha val="45000"/>
              </a:srgbClr>
            </a:outerShdw>
          </a:effectLst>
        </p:spPr>
      </p:sp>
      <p:sp>
        <p:nvSpPr>
          <p:cNvPr id="25" name="Text 18"/>
          <p:cNvSpPr txBox="1"/>
          <p:nvPr/>
        </p:nvSpPr>
        <p:spPr>
          <a:xfrm>
            <a:off x="841248" y="4270248"/>
            <a:ext cx="5486400" cy="219456"/>
          </a:xfrm>
          <a:prstGeom prst="rect">
            <a:avLst/>
          </a:prstGeom>
          <a:noFill/>
          <a:ln/>
        </p:spPr>
        <p:txBody>
          <a:bodyPr wrap="square" lIns="0" tIns="0" rIns="0" bIns="0" rtlCol="0" anchor="ctr"/>
          <a:lstStyle/>
          <a:p>
            <a:pPr indent="0" marL="0">
              <a:lnSpc>
                <a:spcPct val="100000"/>
              </a:lnSpc>
              <a:buNone/>
            </a:pPr>
            <a:r>
              <a:rPr lang="en-US" sz="950" b="1" spc="120" kern="0" dirty="0">
                <a:solidFill>
                  <a:srgbClr val="9FE7C9"/>
                </a:solidFill>
                <a:latin typeface="Calibri" pitchFamily="34" charset="0"/>
                <a:ea typeface="Calibri" pitchFamily="34" charset="-122"/>
                <a:cs typeface="Calibri" pitchFamily="34" charset="-120"/>
              </a:rPr>
              <a:t>SHARED PROJECT CONTEXT</a:t>
            </a:r>
            <a:endParaRPr lang="en-US" sz="950" dirty="0"/>
          </a:p>
        </p:txBody>
      </p:sp>
      <p:sp>
        <p:nvSpPr>
          <p:cNvPr id="26" name="Shape 19"/>
          <p:cNvSpPr/>
          <p:nvPr/>
        </p:nvSpPr>
        <p:spPr>
          <a:xfrm>
            <a:off x="841248" y="4562856"/>
            <a:ext cx="1363762" cy="365760"/>
          </a:xfrm>
          <a:prstGeom prst="roundRect">
            <a:avLst>
              <a:gd name="adj" fmla="val 25000"/>
            </a:avLst>
          </a:prstGeom>
          <a:solidFill>
            <a:srgbClr val="FFFFFF">
              <a:alpha val="16000"/>
            </a:srgbClr>
          </a:solidFill>
          <a:ln w="12700">
            <a:solidFill>
              <a:srgbClr val="FFFFFF">
                <a:alpha val="28000"/>
              </a:srgbClr>
            </a:solidFill>
            <a:prstDash val="solid"/>
          </a:ln>
        </p:spPr>
      </p:sp>
      <p:sp>
        <p:nvSpPr>
          <p:cNvPr id="27" name="Text 20"/>
          <p:cNvSpPr txBox="1"/>
          <p:nvPr/>
        </p:nvSpPr>
        <p:spPr>
          <a:xfrm>
            <a:off x="841248" y="4562856"/>
            <a:ext cx="1363762" cy="365760"/>
          </a:xfrm>
          <a:prstGeom prst="rect">
            <a:avLst/>
          </a:prstGeom>
          <a:noFill/>
          <a:ln/>
        </p:spPr>
        <p:txBody>
          <a:bodyPr wrap="square" lIns="0" tIns="0" rIns="0" bIns="0" rtlCol="0" anchor="ctr"/>
          <a:lstStyle/>
          <a:p>
            <a:pPr algn="ctr" indent="0" marL="0">
              <a:lnSpc>
                <a:spcPct val="100000"/>
              </a:lnSpc>
              <a:buNone/>
            </a:pPr>
            <a:r>
              <a:rPr lang="en-US" sz="950" b="1" dirty="0">
                <a:solidFill>
                  <a:srgbClr val="E7F7EF"/>
                </a:solidFill>
                <a:latin typeface="Calibri" pitchFamily="34" charset="0"/>
                <a:ea typeface="Calibri" pitchFamily="34" charset="-122"/>
                <a:cs typeface="Calibri" pitchFamily="34" charset="-120"/>
              </a:rPr>
              <a:t>Requirements</a:t>
            </a:r>
            <a:endParaRPr lang="en-US" sz="950" dirty="0"/>
          </a:p>
        </p:txBody>
      </p:sp>
      <p:sp>
        <p:nvSpPr>
          <p:cNvPr id="28" name="Shape 21"/>
          <p:cNvSpPr/>
          <p:nvPr/>
        </p:nvSpPr>
        <p:spPr>
          <a:xfrm>
            <a:off x="2333026" y="4562856"/>
            <a:ext cx="1363762" cy="365760"/>
          </a:xfrm>
          <a:prstGeom prst="roundRect">
            <a:avLst>
              <a:gd name="adj" fmla="val 25000"/>
            </a:avLst>
          </a:prstGeom>
          <a:solidFill>
            <a:srgbClr val="FFFFFF">
              <a:alpha val="16000"/>
            </a:srgbClr>
          </a:solidFill>
          <a:ln w="12700">
            <a:solidFill>
              <a:srgbClr val="FFFFFF">
                <a:alpha val="28000"/>
              </a:srgbClr>
            </a:solidFill>
            <a:prstDash val="solid"/>
          </a:ln>
        </p:spPr>
      </p:sp>
      <p:sp>
        <p:nvSpPr>
          <p:cNvPr id="29" name="Text 22"/>
          <p:cNvSpPr txBox="1"/>
          <p:nvPr/>
        </p:nvSpPr>
        <p:spPr>
          <a:xfrm>
            <a:off x="2333026" y="4562856"/>
            <a:ext cx="1363762" cy="365760"/>
          </a:xfrm>
          <a:prstGeom prst="rect">
            <a:avLst/>
          </a:prstGeom>
          <a:noFill/>
          <a:ln/>
        </p:spPr>
        <p:txBody>
          <a:bodyPr wrap="square" lIns="0" tIns="0" rIns="0" bIns="0" rtlCol="0" anchor="ctr"/>
          <a:lstStyle/>
          <a:p>
            <a:pPr algn="ctr" indent="0" marL="0">
              <a:lnSpc>
                <a:spcPct val="100000"/>
              </a:lnSpc>
              <a:buNone/>
            </a:pPr>
            <a:r>
              <a:rPr lang="en-US" sz="950" b="1" dirty="0">
                <a:solidFill>
                  <a:srgbClr val="E7F7EF"/>
                </a:solidFill>
                <a:latin typeface="Calibri" pitchFamily="34" charset="0"/>
                <a:ea typeface="Calibri" pitchFamily="34" charset="-122"/>
                <a:cs typeface="Calibri" pitchFamily="34" charset="-120"/>
              </a:rPr>
              <a:t>Project plans</a:t>
            </a:r>
            <a:endParaRPr lang="en-US" sz="950" dirty="0"/>
          </a:p>
        </p:txBody>
      </p:sp>
      <p:sp>
        <p:nvSpPr>
          <p:cNvPr id="30" name="Shape 23"/>
          <p:cNvSpPr/>
          <p:nvPr/>
        </p:nvSpPr>
        <p:spPr>
          <a:xfrm>
            <a:off x="3824805" y="4562856"/>
            <a:ext cx="1363762" cy="365760"/>
          </a:xfrm>
          <a:prstGeom prst="roundRect">
            <a:avLst>
              <a:gd name="adj" fmla="val 25000"/>
            </a:avLst>
          </a:prstGeom>
          <a:solidFill>
            <a:srgbClr val="FFFFFF">
              <a:alpha val="16000"/>
            </a:srgbClr>
          </a:solidFill>
          <a:ln w="12700">
            <a:solidFill>
              <a:srgbClr val="FFFFFF">
                <a:alpha val="28000"/>
              </a:srgbClr>
            </a:solidFill>
            <a:prstDash val="solid"/>
          </a:ln>
        </p:spPr>
      </p:sp>
      <p:sp>
        <p:nvSpPr>
          <p:cNvPr id="31" name="Text 24"/>
          <p:cNvSpPr txBox="1"/>
          <p:nvPr/>
        </p:nvSpPr>
        <p:spPr>
          <a:xfrm>
            <a:off x="3824805" y="4562856"/>
            <a:ext cx="1363762" cy="365760"/>
          </a:xfrm>
          <a:prstGeom prst="rect">
            <a:avLst/>
          </a:prstGeom>
          <a:noFill/>
          <a:ln/>
        </p:spPr>
        <p:txBody>
          <a:bodyPr wrap="square" lIns="0" tIns="0" rIns="0" bIns="0" rtlCol="0" anchor="ctr"/>
          <a:lstStyle/>
          <a:p>
            <a:pPr algn="ctr" indent="0" marL="0">
              <a:lnSpc>
                <a:spcPct val="100000"/>
              </a:lnSpc>
              <a:buNone/>
            </a:pPr>
            <a:r>
              <a:rPr lang="en-US" sz="950" b="1" dirty="0">
                <a:solidFill>
                  <a:srgbClr val="E7F7EF"/>
                </a:solidFill>
                <a:latin typeface="Calibri" pitchFamily="34" charset="0"/>
                <a:ea typeface="Calibri" pitchFamily="34" charset="-122"/>
                <a:cs typeface="Calibri" pitchFamily="34" charset="-120"/>
              </a:rPr>
              <a:t>Sprint tasks</a:t>
            </a:r>
            <a:endParaRPr lang="en-US" sz="950" dirty="0"/>
          </a:p>
        </p:txBody>
      </p:sp>
      <p:sp>
        <p:nvSpPr>
          <p:cNvPr id="32" name="Shape 25"/>
          <p:cNvSpPr/>
          <p:nvPr/>
        </p:nvSpPr>
        <p:spPr>
          <a:xfrm>
            <a:off x="5316583" y="4562856"/>
            <a:ext cx="1363762" cy="365760"/>
          </a:xfrm>
          <a:prstGeom prst="roundRect">
            <a:avLst>
              <a:gd name="adj" fmla="val 25000"/>
            </a:avLst>
          </a:prstGeom>
          <a:solidFill>
            <a:srgbClr val="FFFFFF">
              <a:alpha val="16000"/>
            </a:srgbClr>
          </a:solidFill>
          <a:ln w="12700">
            <a:solidFill>
              <a:srgbClr val="FFFFFF">
                <a:alpha val="28000"/>
              </a:srgbClr>
            </a:solidFill>
            <a:prstDash val="solid"/>
          </a:ln>
        </p:spPr>
      </p:sp>
      <p:sp>
        <p:nvSpPr>
          <p:cNvPr id="33" name="Text 26"/>
          <p:cNvSpPr txBox="1"/>
          <p:nvPr/>
        </p:nvSpPr>
        <p:spPr>
          <a:xfrm>
            <a:off x="5316583" y="4562856"/>
            <a:ext cx="1363762" cy="365760"/>
          </a:xfrm>
          <a:prstGeom prst="rect">
            <a:avLst/>
          </a:prstGeom>
          <a:noFill/>
          <a:ln/>
        </p:spPr>
        <p:txBody>
          <a:bodyPr wrap="square" lIns="0" tIns="0" rIns="0" bIns="0" rtlCol="0" anchor="ctr"/>
          <a:lstStyle/>
          <a:p>
            <a:pPr algn="ctr" indent="0" marL="0">
              <a:lnSpc>
                <a:spcPct val="100000"/>
              </a:lnSpc>
              <a:buNone/>
            </a:pPr>
            <a:r>
              <a:rPr lang="en-US" sz="950" b="1" dirty="0">
                <a:solidFill>
                  <a:srgbClr val="E7F7EF"/>
                </a:solidFill>
                <a:latin typeface="Calibri" pitchFamily="34" charset="0"/>
                <a:ea typeface="Calibri" pitchFamily="34" charset="-122"/>
                <a:cs typeface="Calibri" pitchFamily="34" charset="-120"/>
              </a:rPr>
              <a:t>GitHub activity</a:t>
            </a:r>
            <a:endParaRPr lang="en-US" sz="950" dirty="0"/>
          </a:p>
        </p:txBody>
      </p:sp>
      <p:sp>
        <p:nvSpPr>
          <p:cNvPr id="34" name="Shape 27"/>
          <p:cNvSpPr/>
          <p:nvPr/>
        </p:nvSpPr>
        <p:spPr>
          <a:xfrm>
            <a:off x="6808361" y="4562856"/>
            <a:ext cx="1363762" cy="365760"/>
          </a:xfrm>
          <a:prstGeom prst="roundRect">
            <a:avLst>
              <a:gd name="adj" fmla="val 25000"/>
            </a:avLst>
          </a:prstGeom>
          <a:solidFill>
            <a:srgbClr val="FFFFFF">
              <a:alpha val="16000"/>
            </a:srgbClr>
          </a:solidFill>
          <a:ln w="12700">
            <a:solidFill>
              <a:srgbClr val="FFFFFF">
                <a:alpha val="28000"/>
              </a:srgbClr>
            </a:solidFill>
            <a:prstDash val="solid"/>
          </a:ln>
        </p:spPr>
      </p:sp>
      <p:sp>
        <p:nvSpPr>
          <p:cNvPr id="35" name="Text 28"/>
          <p:cNvSpPr txBox="1"/>
          <p:nvPr/>
        </p:nvSpPr>
        <p:spPr>
          <a:xfrm>
            <a:off x="6808361" y="4562856"/>
            <a:ext cx="1363762" cy="365760"/>
          </a:xfrm>
          <a:prstGeom prst="rect">
            <a:avLst/>
          </a:prstGeom>
          <a:noFill/>
          <a:ln/>
        </p:spPr>
        <p:txBody>
          <a:bodyPr wrap="square" lIns="0" tIns="0" rIns="0" bIns="0" rtlCol="0" anchor="ctr"/>
          <a:lstStyle/>
          <a:p>
            <a:pPr algn="ctr" indent="0" marL="0">
              <a:lnSpc>
                <a:spcPct val="100000"/>
              </a:lnSpc>
              <a:buNone/>
            </a:pPr>
            <a:r>
              <a:rPr lang="en-US" sz="950" b="1" dirty="0">
                <a:solidFill>
                  <a:srgbClr val="E7F7EF"/>
                </a:solidFill>
                <a:latin typeface="Calibri" pitchFamily="34" charset="0"/>
                <a:ea typeface="Calibri" pitchFamily="34" charset="-122"/>
                <a:cs typeface="Calibri" pitchFamily="34" charset="-120"/>
              </a:rPr>
              <a:t>Source code</a:t>
            </a:r>
            <a:endParaRPr lang="en-US" sz="950" dirty="0"/>
          </a:p>
        </p:txBody>
      </p:sp>
      <p:sp>
        <p:nvSpPr>
          <p:cNvPr id="36" name="Shape 29"/>
          <p:cNvSpPr/>
          <p:nvPr/>
        </p:nvSpPr>
        <p:spPr>
          <a:xfrm>
            <a:off x="8300139" y="4562856"/>
            <a:ext cx="1363762" cy="365760"/>
          </a:xfrm>
          <a:prstGeom prst="roundRect">
            <a:avLst>
              <a:gd name="adj" fmla="val 25000"/>
            </a:avLst>
          </a:prstGeom>
          <a:solidFill>
            <a:srgbClr val="FFFFFF">
              <a:alpha val="16000"/>
            </a:srgbClr>
          </a:solidFill>
          <a:ln w="12700">
            <a:solidFill>
              <a:srgbClr val="FFFFFF">
                <a:alpha val="28000"/>
              </a:srgbClr>
            </a:solidFill>
            <a:prstDash val="solid"/>
          </a:ln>
        </p:spPr>
      </p:sp>
      <p:sp>
        <p:nvSpPr>
          <p:cNvPr id="37" name="Text 30"/>
          <p:cNvSpPr txBox="1"/>
          <p:nvPr/>
        </p:nvSpPr>
        <p:spPr>
          <a:xfrm>
            <a:off x="8300139" y="4562856"/>
            <a:ext cx="1363762" cy="365760"/>
          </a:xfrm>
          <a:prstGeom prst="rect">
            <a:avLst/>
          </a:prstGeom>
          <a:noFill/>
          <a:ln/>
        </p:spPr>
        <p:txBody>
          <a:bodyPr wrap="square" lIns="0" tIns="0" rIns="0" bIns="0" rtlCol="0" anchor="ctr"/>
          <a:lstStyle/>
          <a:p>
            <a:pPr algn="ctr" indent="0" marL="0">
              <a:lnSpc>
                <a:spcPct val="100000"/>
              </a:lnSpc>
              <a:buNone/>
            </a:pPr>
            <a:r>
              <a:rPr lang="en-US" sz="950" b="1" dirty="0">
                <a:solidFill>
                  <a:srgbClr val="E7F7EF"/>
                </a:solidFill>
                <a:latin typeface="Calibri" pitchFamily="34" charset="0"/>
                <a:ea typeface="Calibri" pitchFamily="34" charset="-122"/>
                <a:cs typeface="Calibri" pitchFamily="34" charset="-120"/>
              </a:rPr>
              <a:t>Documentation</a:t>
            </a:r>
            <a:endParaRPr lang="en-US" sz="950" dirty="0"/>
          </a:p>
        </p:txBody>
      </p:sp>
      <p:sp>
        <p:nvSpPr>
          <p:cNvPr id="38" name="Shape 31"/>
          <p:cNvSpPr/>
          <p:nvPr/>
        </p:nvSpPr>
        <p:spPr>
          <a:xfrm>
            <a:off x="9791918" y="4562856"/>
            <a:ext cx="1363762" cy="365760"/>
          </a:xfrm>
          <a:prstGeom prst="roundRect">
            <a:avLst>
              <a:gd name="adj" fmla="val 25000"/>
            </a:avLst>
          </a:prstGeom>
          <a:solidFill>
            <a:srgbClr val="FFFFFF">
              <a:alpha val="16000"/>
            </a:srgbClr>
          </a:solidFill>
          <a:ln w="12700">
            <a:solidFill>
              <a:srgbClr val="FFFFFF">
                <a:alpha val="28000"/>
              </a:srgbClr>
            </a:solidFill>
            <a:prstDash val="solid"/>
          </a:ln>
        </p:spPr>
      </p:sp>
      <p:sp>
        <p:nvSpPr>
          <p:cNvPr id="39" name="Text 32"/>
          <p:cNvSpPr txBox="1"/>
          <p:nvPr/>
        </p:nvSpPr>
        <p:spPr>
          <a:xfrm>
            <a:off x="9791918" y="4562856"/>
            <a:ext cx="1363762" cy="365760"/>
          </a:xfrm>
          <a:prstGeom prst="rect">
            <a:avLst/>
          </a:prstGeom>
          <a:noFill/>
          <a:ln/>
        </p:spPr>
        <p:txBody>
          <a:bodyPr wrap="square" lIns="0" tIns="0" rIns="0" bIns="0" rtlCol="0" anchor="ctr"/>
          <a:lstStyle/>
          <a:p>
            <a:pPr algn="ctr" indent="0" marL="0">
              <a:lnSpc>
                <a:spcPct val="100000"/>
              </a:lnSpc>
              <a:buNone/>
            </a:pPr>
            <a:r>
              <a:rPr lang="en-US" sz="950" b="1" dirty="0">
                <a:solidFill>
                  <a:srgbClr val="E7F7EF"/>
                </a:solidFill>
                <a:latin typeface="Calibri" pitchFamily="34" charset="0"/>
                <a:ea typeface="Calibri" pitchFamily="34" charset="-122"/>
                <a:cs typeface="Calibri" pitchFamily="34" charset="-120"/>
              </a:rPr>
              <a:t>Assessment data</a:t>
            </a:r>
            <a:endParaRPr lang="en-US" sz="950" dirty="0"/>
          </a:p>
        </p:txBody>
      </p:sp>
      <p:sp>
        <p:nvSpPr>
          <p:cNvPr id="40" name="Shape 33"/>
          <p:cNvSpPr/>
          <p:nvPr/>
        </p:nvSpPr>
        <p:spPr>
          <a:xfrm>
            <a:off x="566928" y="5221224"/>
            <a:ext cx="2679192" cy="457200"/>
          </a:xfrm>
          <a:prstGeom prst="roundRect">
            <a:avLst>
              <a:gd name="adj" fmla="val 50000"/>
            </a:avLst>
          </a:prstGeom>
          <a:solidFill>
            <a:srgbClr val="5A47CE"/>
          </a:solidFill>
          <a:ln w="12700">
            <a:solidFill>
              <a:srgbClr val="7E6CF4"/>
            </a:solidFill>
            <a:prstDash val="solid"/>
          </a:ln>
        </p:spPr>
      </p:sp>
      <p:pic>
        <p:nvPicPr>
          <p:cNvPr id="41" name="Image 5" descr="assets/icons/link_w.png">    </p:cNvPr>
          <p:cNvPicPr>
            <a:picLocks noChangeAspect="1"/>
          </p:cNvPicPr>
          <p:nvPr/>
        </p:nvPicPr>
        <p:blipFill>
          <a:blip r:embed="rId7"/>
          <a:stretch>
            <a:fillRect/>
          </a:stretch>
        </p:blipFill>
        <p:spPr>
          <a:xfrm>
            <a:off x="822960" y="5340096"/>
            <a:ext cx="219456" cy="219456"/>
          </a:xfrm>
          <a:prstGeom prst="rect">
            <a:avLst/>
          </a:prstGeom>
        </p:spPr>
      </p:pic>
      <p:sp>
        <p:nvSpPr>
          <p:cNvPr id="42" name="Text 34"/>
          <p:cNvSpPr txBox="1"/>
          <p:nvPr/>
        </p:nvSpPr>
        <p:spPr>
          <a:xfrm>
            <a:off x="1115568" y="5221224"/>
            <a:ext cx="2039112" cy="457200"/>
          </a:xfrm>
          <a:prstGeom prst="rect">
            <a:avLst/>
          </a:prstGeom>
          <a:noFill/>
          <a:ln/>
        </p:spPr>
        <p:txBody>
          <a:bodyPr wrap="square" lIns="0" tIns="0" rIns="0" bIns="0" rtlCol="0" anchor="ctr"/>
          <a:lstStyle/>
          <a:p>
            <a:pPr indent="0" marL="0">
              <a:lnSpc>
                <a:spcPct val="100000"/>
              </a:lnSpc>
              <a:buNone/>
            </a:pPr>
            <a:r>
              <a:rPr lang="en-US" sz="1250" b="1" dirty="0">
                <a:solidFill>
                  <a:srgbClr val="FFFFFF"/>
                </a:solidFill>
                <a:latin typeface="Calibri" pitchFamily="34" charset="0"/>
                <a:ea typeface="Calibri" pitchFamily="34" charset="-122"/>
                <a:cs typeface="Calibri" pitchFamily="34" charset="-120"/>
              </a:rPr>
              <a:t>Integrated</a:t>
            </a:r>
            <a:endParaRPr lang="en-US" sz="1250" dirty="0"/>
          </a:p>
        </p:txBody>
      </p:sp>
      <p:sp>
        <p:nvSpPr>
          <p:cNvPr id="43" name="Shape 35"/>
          <p:cNvSpPr/>
          <p:nvPr/>
        </p:nvSpPr>
        <p:spPr>
          <a:xfrm>
            <a:off x="3337560" y="5221224"/>
            <a:ext cx="2679192" cy="457200"/>
          </a:xfrm>
          <a:prstGeom prst="roundRect">
            <a:avLst>
              <a:gd name="adj" fmla="val 50000"/>
            </a:avLst>
          </a:prstGeom>
          <a:solidFill>
            <a:srgbClr val="1E9BA1"/>
          </a:solidFill>
          <a:ln w="12700">
            <a:solidFill>
              <a:srgbClr val="38C6CC"/>
            </a:solidFill>
            <a:prstDash val="solid"/>
          </a:ln>
        </p:spPr>
      </p:sp>
      <p:pic>
        <p:nvPicPr>
          <p:cNvPr id="44" name="Image 6" descr="assets/icons/compass_w.png">    </p:cNvPr>
          <p:cNvPicPr>
            <a:picLocks noChangeAspect="1"/>
          </p:cNvPicPr>
          <p:nvPr/>
        </p:nvPicPr>
        <p:blipFill>
          <a:blip r:embed="rId8"/>
          <a:stretch>
            <a:fillRect/>
          </a:stretch>
        </p:blipFill>
        <p:spPr>
          <a:xfrm>
            <a:off x="3593592" y="5340096"/>
            <a:ext cx="219456" cy="219456"/>
          </a:xfrm>
          <a:prstGeom prst="rect">
            <a:avLst/>
          </a:prstGeom>
        </p:spPr>
      </p:pic>
      <p:sp>
        <p:nvSpPr>
          <p:cNvPr id="45" name="Text 36"/>
          <p:cNvSpPr txBox="1"/>
          <p:nvPr/>
        </p:nvSpPr>
        <p:spPr>
          <a:xfrm>
            <a:off x="3886200" y="5221224"/>
            <a:ext cx="2039112" cy="457200"/>
          </a:xfrm>
          <a:prstGeom prst="rect">
            <a:avLst/>
          </a:prstGeom>
          <a:noFill/>
          <a:ln/>
        </p:spPr>
        <p:txBody>
          <a:bodyPr wrap="square" lIns="0" tIns="0" rIns="0" bIns="0" rtlCol="0" anchor="ctr"/>
          <a:lstStyle/>
          <a:p>
            <a:pPr indent="0" marL="0">
              <a:lnSpc>
                <a:spcPct val="100000"/>
              </a:lnSpc>
              <a:buNone/>
            </a:pPr>
            <a:r>
              <a:rPr lang="en-US" sz="1250" b="1" dirty="0">
                <a:solidFill>
                  <a:srgbClr val="FFFFFF"/>
                </a:solidFill>
                <a:latin typeface="Calibri" pitchFamily="34" charset="0"/>
                <a:ea typeface="Calibri" pitchFamily="34" charset="-122"/>
                <a:cs typeface="Calibri" pitchFamily="34" charset="-120"/>
              </a:rPr>
              <a:t>Context-aware</a:t>
            </a:r>
            <a:endParaRPr lang="en-US" sz="1250" dirty="0"/>
          </a:p>
        </p:txBody>
      </p:sp>
      <p:sp>
        <p:nvSpPr>
          <p:cNvPr id="46" name="Shape 37"/>
          <p:cNvSpPr/>
          <p:nvPr/>
        </p:nvSpPr>
        <p:spPr>
          <a:xfrm>
            <a:off x="6108192" y="5221224"/>
            <a:ext cx="2679192" cy="457200"/>
          </a:xfrm>
          <a:prstGeom prst="roundRect">
            <a:avLst>
              <a:gd name="adj" fmla="val 50000"/>
            </a:avLst>
          </a:prstGeom>
          <a:solidFill>
            <a:srgbClr val="E0891C"/>
          </a:solidFill>
          <a:ln w="12700">
            <a:solidFill>
              <a:srgbClr val="F2A740"/>
            </a:solidFill>
            <a:prstDash val="solid"/>
          </a:ln>
        </p:spPr>
      </p:sp>
      <p:pic>
        <p:nvPicPr>
          <p:cNvPr id="47" name="Image 7" descr="assets/icons/bar_w.png">    </p:cNvPr>
          <p:cNvPicPr>
            <a:picLocks noChangeAspect="1"/>
          </p:cNvPicPr>
          <p:nvPr/>
        </p:nvPicPr>
        <p:blipFill>
          <a:blip r:embed="rId9"/>
          <a:stretch>
            <a:fillRect/>
          </a:stretch>
        </p:blipFill>
        <p:spPr>
          <a:xfrm>
            <a:off x="6364224" y="5340096"/>
            <a:ext cx="219456" cy="219456"/>
          </a:xfrm>
          <a:prstGeom prst="rect">
            <a:avLst/>
          </a:prstGeom>
        </p:spPr>
      </p:pic>
      <p:sp>
        <p:nvSpPr>
          <p:cNvPr id="48" name="Text 38"/>
          <p:cNvSpPr txBox="1"/>
          <p:nvPr/>
        </p:nvSpPr>
        <p:spPr>
          <a:xfrm>
            <a:off x="6656832" y="5221224"/>
            <a:ext cx="2039112" cy="457200"/>
          </a:xfrm>
          <a:prstGeom prst="rect">
            <a:avLst/>
          </a:prstGeom>
          <a:noFill/>
          <a:ln/>
        </p:spPr>
        <p:txBody>
          <a:bodyPr wrap="square" lIns="0" tIns="0" rIns="0" bIns="0" rtlCol="0" anchor="ctr"/>
          <a:lstStyle/>
          <a:p>
            <a:pPr indent="0" marL="0">
              <a:lnSpc>
                <a:spcPct val="100000"/>
              </a:lnSpc>
              <a:buNone/>
            </a:pPr>
            <a:r>
              <a:rPr lang="en-US" sz="1250" b="1" dirty="0">
                <a:solidFill>
                  <a:srgbClr val="FFFFFF"/>
                </a:solidFill>
                <a:latin typeface="Calibri" pitchFamily="34" charset="0"/>
                <a:ea typeface="Calibri" pitchFamily="34" charset="-122"/>
                <a:cs typeface="Calibri" pitchFamily="34" charset="-120"/>
              </a:rPr>
              <a:t>Evidence-based</a:t>
            </a:r>
            <a:endParaRPr lang="en-US" sz="1250" dirty="0"/>
          </a:p>
        </p:txBody>
      </p:sp>
      <p:sp>
        <p:nvSpPr>
          <p:cNvPr id="49" name="Shape 39"/>
          <p:cNvSpPr/>
          <p:nvPr/>
        </p:nvSpPr>
        <p:spPr>
          <a:xfrm>
            <a:off x="8878824" y="5221224"/>
            <a:ext cx="2679192" cy="457200"/>
          </a:xfrm>
          <a:prstGeom prst="roundRect">
            <a:avLst>
              <a:gd name="adj" fmla="val 50000"/>
            </a:avLst>
          </a:prstGeom>
          <a:solidFill>
            <a:srgbClr val="23925B"/>
          </a:solidFill>
          <a:ln w="12700">
            <a:solidFill>
              <a:srgbClr val="39BC7A"/>
            </a:solidFill>
            <a:prstDash val="solid"/>
          </a:ln>
        </p:spPr>
      </p:sp>
      <p:pic>
        <p:nvPicPr>
          <p:cNvPr id="50" name="Image 8" descr="assets/icons/trending_w.png">    </p:cNvPr>
          <p:cNvPicPr>
            <a:picLocks noChangeAspect="1"/>
          </p:cNvPicPr>
          <p:nvPr/>
        </p:nvPicPr>
        <p:blipFill>
          <a:blip r:embed="rId10"/>
          <a:stretch>
            <a:fillRect/>
          </a:stretch>
        </p:blipFill>
        <p:spPr>
          <a:xfrm>
            <a:off x="9134856" y="5340096"/>
            <a:ext cx="219456" cy="219456"/>
          </a:xfrm>
          <a:prstGeom prst="rect">
            <a:avLst/>
          </a:prstGeom>
        </p:spPr>
      </p:pic>
      <p:sp>
        <p:nvSpPr>
          <p:cNvPr id="51" name="Text 40"/>
          <p:cNvSpPr txBox="1"/>
          <p:nvPr/>
        </p:nvSpPr>
        <p:spPr>
          <a:xfrm>
            <a:off x="9427464" y="5221224"/>
            <a:ext cx="2039112" cy="457200"/>
          </a:xfrm>
          <a:prstGeom prst="rect">
            <a:avLst/>
          </a:prstGeom>
          <a:noFill/>
          <a:ln/>
        </p:spPr>
        <p:txBody>
          <a:bodyPr wrap="square" lIns="0" tIns="0" rIns="0" bIns="0" rtlCol="0" anchor="ctr"/>
          <a:lstStyle/>
          <a:p>
            <a:pPr indent="0" marL="0">
              <a:lnSpc>
                <a:spcPct val="100000"/>
              </a:lnSpc>
              <a:buNone/>
            </a:pPr>
            <a:r>
              <a:rPr lang="en-US" sz="1250" b="1" dirty="0">
                <a:solidFill>
                  <a:srgbClr val="FFFFFF"/>
                </a:solidFill>
                <a:latin typeface="Calibri" pitchFamily="34" charset="0"/>
                <a:ea typeface="Calibri" pitchFamily="34" charset="-122"/>
                <a:cs typeface="Calibri" pitchFamily="34" charset="-120"/>
              </a:rPr>
              <a:t>Scalable</a:t>
            </a:r>
            <a:endParaRPr lang="en-US" sz="1250" dirty="0"/>
          </a:p>
        </p:txBody>
      </p:sp>
      <p:sp>
        <p:nvSpPr>
          <p:cNvPr id="52" name="Text 41"/>
          <p:cNvSpPr txBox="1"/>
          <p:nvPr/>
        </p:nvSpPr>
        <p:spPr>
          <a:xfrm>
            <a:off x="603504" y="6528816"/>
            <a:ext cx="6400800" cy="256032"/>
          </a:xfrm>
          <a:prstGeom prst="rect">
            <a:avLst/>
          </a:prstGeom>
          <a:noFill/>
          <a:ln/>
        </p:spPr>
        <p:txBody>
          <a:bodyPr wrap="square" lIns="0" tIns="0" rIns="0" bIns="0" rtlCol="0" anchor="ctr"/>
          <a:lstStyle/>
          <a:p>
            <a:pPr indent="0" marL="0">
              <a:lnSpc>
                <a:spcPct val="100000"/>
              </a:lnSpc>
              <a:buNone/>
            </a:pPr>
            <a:r>
              <a:rPr lang="en-US" sz="850" dirty="0">
                <a:solidFill>
                  <a:srgbClr val="726CA6"/>
                </a:solidFill>
                <a:latin typeface="Calibri" pitchFamily="34" charset="0"/>
                <a:ea typeface="Calibri" pitchFamily="34" charset="-122"/>
                <a:cs typeface="Calibri" pitchFamily="34" charset="-120"/>
              </a:rPr>
              <a:t>J26-SE-363  ·  Progress Presentation 1</a:t>
            </a:r>
            <a:endParaRPr lang="en-US" sz="850" dirty="0"/>
          </a:p>
        </p:txBody>
      </p:sp>
      <p:sp>
        <p:nvSpPr>
          <p:cNvPr id="53" name="Text 42"/>
          <p:cNvSpPr txBox="1"/>
          <p:nvPr/>
        </p:nvSpPr>
        <p:spPr>
          <a:xfrm>
            <a:off x="10972800" y="6528816"/>
            <a:ext cx="640080" cy="256032"/>
          </a:xfrm>
          <a:prstGeom prst="rect">
            <a:avLst/>
          </a:prstGeom>
          <a:noFill/>
          <a:ln/>
        </p:spPr>
        <p:txBody>
          <a:bodyPr wrap="square" lIns="0" tIns="0" rIns="0" bIns="0" rtlCol="0" anchor="ctr"/>
          <a:lstStyle/>
          <a:p>
            <a:pPr algn="r" indent="0" marL="0">
              <a:lnSpc>
                <a:spcPct val="100000"/>
              </a:lnSpc>
              <a:buNone/>
            </a:pPr>
            <a:r>
              <a:rPr lang="en-US" sz="850" dirty="0">
                <a:solidFill>
                  <a:srgbClr val="726CA6"/>
                </a:solidFill>
                <a:latin typeface="Calibri" pitchFamily="34" charset="0"/>
                <a:ea typeface="Calibri" pitchFamily="34" charset="-122"/>
                <a:cs typeface="Calibri" pitchFamily="34" charset="-120"/>
              </a:rPr>
              <a:t>5</a:t>
            </a:r>
            <a:endParaRPr lang="en-US" sz="8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ext 0"/>
          <p:cNvSpPr txBox="1"/>
          <p:nvPr/>
        </p:nvSpPr>
        <p:spPr>
          <a:xfrm>
            <a:off x="603504" y="493776"/>
            <a:ext cx="10058400" cy="274320"/>
          </a:xfrm>
          <a:prstGeom prst="rect">
            <a:avLst/>
          </a:prstGeom>
          <a:noFill/>
          <a:ln/>
        </p:spPr>
        <p:txBody>
          <a:bodyPr wrap="square" lIns="0" tIns="0" rIns="0" bIns="0" rtlCol="0" anchor="ctr"/>
          <a:lstStyle/>
          <a:p>
            <a:pPr indent="0" marL="0">
              <a:lnSpc>
                <a:spcPct val="100000"/>
              </a:lnSpc>
              <a:buNone/>
            </a:pPr>
            <a:r>
              <a:rPr lang="en-US" sz="1100" b="1" spc="260" kern="0" dirty="0">
                <a:solidFill>
                  <a:srgbClr val="9FE7C9"/>
                </a:solidFill>
                <a:latin typeface="Calibri" pitchFamily="34" charset="0"/>
                <a:ea typeface="Calibri" pitchFamily="34" charset="-122"/>
                <a:cs typeface="Calibri" pitchFamily="34" charset="-120"/>
              </a:rPr>
              <a:t>OVERALL PROJECT   ·   DEMO</a:t>
            </a:r>
            <a:endParaRPr lang="en-US" sz="1100" dirty="0"/>
          </a:p>
        </p:txBody>
      </p:sp>
      <p:sp>
        <p:nvSpPr>
          <p:cNvPr id="3" name="Text 1"/>
          <p:cNvSpPr txBox="1"/>
          <p:nvPr/>
        </p:nvSpPr>
        <p:spPr>
          <a:xfrm>
            <a:off x="566928" y="749808"/>
            <a:ext cx="10607040" cy="777240"/>
          </a:xfrm>
          <a:prstGeom prst="rect">
            <a:avLst/>
          </a:prstGeom>
          <a:noFill/>
          <a:ln/>
        </p:spPr>
        <p:txBody>
          <a:bodyPr wrap="square" lIns="0" tIns="0" rIns="0" bIns="0" rtlCol="0" anchor="ctr"/>
          <a:lstStyle/>
          <a:p>
            <a:pPr indent="0" marL="0">
              <a:lnSpc>
                <a:spcPct val="98000"/>
              </a:lnSpc>
              <a:buNone/>
            </a:pPr>
            <a:r>
              <a:rPr lang="en-US" sz="2900" b="1" dirty="0">
                <a:solidFill>
                  <a:srgbClr val="FFFFFF"/>
                </a:solidFill>
                <a:latin typeface="Calibri" pitchFamily="34" charset="0"/>
                <a:ea typeface="Calibri" pitchFamily="34" charset="-122"/>
                <a:cs typeface="Calibri" pitchFamily="34" charset="-120"/>
              </a:rPr>
              <a:t>Live Demo</a:t>
            </a:r>
            <a:endParaRPr lang="en-US" sz="2900" dirty="0"/>
          </a:p>
        </p:txBody>
      </p:sp>
      <p:sp>
        <p:nvSpPr>
          <p:cNvPr id="4" name="Shape 2"/>
          <p:cNvSpPr/>
          <p:nvPr/>
        </p:nvSpPr>
        <p:spPr>
          <a:xfrm>
            <a:off x="4480560" y="1920240"/>
            <a:ext cx="3246120" cy="3246120"/>
          </a:xfrm>
          <a:prstGeom prst="roundRect">
            <a:avLst>
              <a:gd name="adj" fmla="val 3099"/>
            </a:avLst>
          </a:prstGeom>
          <a:solidFill>
            <a:srgbClr val="FFFFFF">
              <a:alpha val="18000"/>
            </a:srgbClr>
          </a:solidFill>
          <a:ln w="12700">
            <a:solidFill>
              <a:srgbClr val="FFFFFF">
                <a:alpha val="18000"/>
              </a:srgbClr>
            </a:solidFill>
            <a:prstDash val="solid"/>
          </a:ln>
          <a:effectLst>
            <a:outerShdw sx="100000" sy="100000" kx="0" ky="0" algn="bl" rotWithShape="0" blurRad="177800" dist="63500" dir="5400000">
              <a:srgbClr val="0B0920">
                <a:alpha val="45000"/>
              </a:srgbClr>
            </a:outerShdw>
          </a:effectLst>
        </p:spPr>
      </p:sp>
      <p:sp>
        <p:nvSpPr>
          <p:cNvPr id="5" name="Shape 3"/>
          <p:cNvSpPr/>
          <p:nvPr/>
        </p:nvSpPr>
        <p:spPr>
          <a:xfrm>
            <a:off x="4892040" y="2286000"/>
            <a:ext cx="2423160" cy="2423160"/>
          </a:xfrm>
          <a:prstGeom prst="roundRect">
            <a:avLst>
              <a:gd name="adj" fmla="val 5283"/>
            </a:avLst>
          </a:prstGeom>
          <a:solidFill>
            <a:srgbClr val="FFFFFF">
              <a:alpha val="14000"/>
            </a:srgbClr>
          </a:solidFill>
          <a:ln w="12700">
            <a:solidFill>
              <a:srgbClr val="FFFFFF">
                <a:alpha val="30000"/>
              </a:srgbClr>
            </a:solidFill>
            <a:prstDash val="solid"/>
          </a:ln>
        </p:spPr>
      </p:sp>
      <p:pic>
        <p:nvPicPr>
          <p:cNvPr id="6" name="Image 0" descr="assets/icons/grid_w.png">    </p:cNvPr>
          <p:cNvPicPr>
            <a:picLocks noChangeAspect="1"/>
          </p:cNvPicPr>
          <p:nvPr/>
        </p:nvPicPr>
        <p:blipFill>
          <a:blip r:embed="rId2"/>
          <a:stretch>
            <a:fillRect/>
          </a:stretch>
        </p:blipFill>
        <p:spPr>
          <a:xfrm>
            <a:off x="5394960" y="2788920"/>
            <a:ext cx="1417320" cy="1417320"/>
          </a:xfrm>
          <a:prstGeom prst="rect">
            <a:avLst/>
          </a:prstGeom>
        </p:spPr>
      </p:pic>
      <p:sp>
        <p:nvSpPr>
          <p:cNvPr id="7" name="Text 4"/>
          <p:cNvSpPr txBox="1"/>
          <p:nvPr/>
        </p:nvSpPr>
        <p:spPr>
          <a:xfrm>
            <a:off x="4892040" y="4754880"/>
            <a:ext cx="2423160" cy="274320"/>
          </a:xfrm>
          <a:prstGeom prst="rect">
            <a:avLst/>
          </a:prstGeom>
          <a:noFill/>
          <a:ln/>
        </p:spPr>
        <p:txBody>
          <a:bodyPr wrap="square" lIns="0" tIns="0" rIns="0" bIns="0" rtlCol="0" anchor="ctr"/>
          <a:lstStyle/>
          <a:p>
            <a:pPr algn="ctr" indent="0" marL="0">
              <a:lnSpc>
                <a:spcPct val="100000"/>
              </a:lnSpc>
              <a:buNone/>
            </a:pPr>
            <a:r>
              <a:rPr lang="en-US" sz="1000" b="1" spc="100" kern="0" dirty="0">
                <a:solidFill>
                  <a:srgbClr val="9C97CC"/>
                </a:solidFill>
                <a:latin typeface="Calibri" pitchFamily="34" charset="0"/>
                <a:ea typeface="Calibri" pitchFamily="34" charset="-122"/>
                <a:cs typeface="Calibri" pitchFamily="34" charset="-120"/>
              </a:rPr>
              <a:t>QR CODE PLACEHOLDER</a:t>
            </a:r>
            <a:endParaRPr lang="en-US" sz="1000" dirty="0"/>
          </a:p>
        </p:txBody>
      </p:sp>
      <p:sp>
        <p:nvSpPr>
          <p:cNvPr id="8" name="Shape 5"/>
          <p:cNvSpPr/>
          <p:nvPr/>
        </p:nvSpPr>
        <p:spPr>
          <a:xfrm>
            <a:off x="8229600" y="2286000"/>
            <a:ext cx="548640" cy="548640"/>
          </a:xfrm>
          <a:prstGeom prst="ellipse">
            <a:avLst/>
          </a:prstGeom>
          <a:solidFill>
            <a:srgbClr val="0E9E6E"/>
          </a:solidFill>
          <a:ln w="17780">
            <a:solidFill>
              <a:srgbClr val="16C78C"/>
            </a:solidFill>
            <a:prstDash val="solid"/>
          </a:ln>
          <a:effectLst>
            <a:outerShdw sx="100000" sy="100000" kx="0" ky="0" algn="bl" rotWithShape="0" blurRad="127000" dist="50800" dir="5400000">
              <a:srgbClr val="16C78C">
                <a:alpha val="45000"/>
              </a:srgbClr>
            </a:outerShdw>
          </a:effectLst>
        </p:spPr>
      </p:sp>
      <p:pic>
        <p:nvPicPr>
          <p:cNvPr id="9" name="Image 1" descr="assets/icons/video_w.png">    </p:cNvPr>
          <p:cNvPicPr>
            <a:picLocks noChangeAspect="1"/>
          </p:cNvPicPr>
          <p:nvPr/>
        </p:nvPicPr>
        <p:blipFill>
          <a:blip r:embed="rId3"/>
          <a:stretch>
            <a:fillRect/>
          </a:stretch>
        </p:blipFill>
        <p:spPr>
          <a:xfrm>
            <a:off x="8383219" y="2439619"/>
            <a:ext cx="241402" cy="241402"/>
          </a:xfrm>
          <a:prstGeom prst="rect">
            <a:avLst/>
          </a:prstGeom>
        </p:spPr>
      </p:pic>
      <p:sp>
        <p:nvSpPr>
          <p:cNvPr id="10" name="Text 6"/>
          <p:cNvSpPr txBox="1"/>
          <p:nvPr/>
        </p:nvSpPr>
        <p:spPr>
          <a:xfrm>
            <a:off x="8229600" y="2926080"/>
            <a:ext cx="3291840" cy="457200"/>
          </a:xfrm>
          <a:prstGeom prst="rect">
            <a:avLst/>
          </a:prstGeom>
          <a:noFill/>
          <a:ln/>
        </p:spPr>
        <p:txBody>
          <a:bodyPr wrap="square" lIns="0" tIns="0" rIns="0" bIns="0" rtlCol="0" anchor="ctr"/>
          <a:lstStyle/>
          <a:p>
            <a:pPr indent="0" marL="0">
              <a:lnSpc>
                <a:spcPct val="100000"/>
              </a:lnSpc>
              <a:buNone/>
            </a:pPr>
            <a:r>
              <a:rPr lang="en-US" sz="1900" b="1" dirty="0">
                <a:solidFill>
                  <a:srgbClr val="FFFFFF"/>
                </a:solidFill>
                <a:latin typeface="Calibri" pitchFamily="34" charset="0"/>
                <a:ea typeface="Calibri" pitchFamily="34" charset="-122"/>
                <a:cs typeface="Calibri" pitchFamily="34" charset="-120"/>
              </a:rPr>
              <a:t>1–2 minute demo video</a:t>
            </a:r>
            <a:endParaRPr lang="en-US" sz="1900" dirty="0"/>
          </a:p>
        </p:txBody>
      </p:sp>
      <p:sp>
        <p:nvSpPr>
          <p:cNvPr id="11" name="Text 7"/>
          <p:cNvSpPr txBox="1"/>
          <p:nvPr/>
        </p:nvSpPr>
        <p:spPr>
          <a:xfrm>
            <a:off x="8247888" y="3474720"/>
            <a:ext cx="3200400" cy="640080"/>
          </a:xfrm>
          <a:prstGeom prst="rect">
            <a:avLst/>
          </a:prstGeom>
          <a:noFill/>
          <a:ln/>
        </p:spPr>
        <p:txBody>
          <a:bodyPr wrap="square" lIns="0" tIns="0" rIns="0" bIns="0" rtlCol="0" anchor="ctr"/>
          <a:lstStyle/>
          <a:p>
            <a:pPr indent="0" marL="0">
              <a:lnSpc>
                <a:spcPct val="105000"/>
              </a:lnSpc>
              <a:buNone/>
            </a:pPr>
            <a:r>
              <a:rPr lang="en-US" sz="1200" dirty="0">
                <a:solidFill>
                  <a:srgbClr val="CFCBEF"/>
                </a:solidFill>
                <a:latin typeface="Calibri" pitchFamily="34" charset="0"/>
                <a:ea typeface="Calibri" pitchFamily="34" charset="-122"/>
                <a:cs typeface="Calibri" pitchFamily="34" charset="-120"/>
              </a:rPr>
              <a:t>Scan the QR code or open the link to watch the current prototype in action.</a:t>
            </a:r>
            <a:endParaRPr lang="en-US" sz="1200" dirty="0"/>
          </a:p>
        </p:txBody>
      </p:sp>
      <p:sp>
        <p:nvSpPr>
          <p:cNvPr id="12" name="Shape 8"/>
          <p:cNvSpPr/>
          <p:nvPr/>
        </p:nvSpPr>
        <p:spPr>
          <a:xfrm>
            <a:off x="8229600" y="4251960"/>
            <a:ext cx="3200400" cy="502920"/>
          </a:xfrm>
          <a:prstGeom prst="roundRect">
            <a:avLst>
              <a:gd name="adj" fmla="val 18182"/>
            </a:avLst>
          </a:prstGeom>
          <a:solidFill>
            <a:srgbClr val="FFFFFF">
              <a:alpha val="14000"/>
            </a:srgbClr>
          </a:solidFill>
          <a:ln w="12700">
            <a:solidFill>
              <a:srgbClr val="FFFFFF">
                <a:alpha val="36000"/>
              </a:srgbClr>
            </a:solidFill>
            <a:prstDash val="solid"/>
          </a:ln>
        </p:spPr>
      </p:sp>
      <p:sp>
        <p:nvSpPr>
          <p:cNvPr id="13" name="Text 9"/>
          <p:cNvSpPr txBox="1"/>
          <p:nvPr/>
        </p:nvSpPr>
        <p:spPr>
          <a:xfrm>
            <a:off x="8229600" y="4251960"/>
            <a:ext cx="3200400" cy="502920"/>
          </a:xfrm>
          <a:prstGeom prst="rect">
            <a:avLst/>
          </a:prstGeom>
          <a:noFill/>
          <a:ln/>
        </p:spPr>
        <p:txBody>
          <a:bodyPr wrap="square" lIns="0" tIns="0" rIns="0" bIns="0" rtlCol="0" anchor="ctr"/>
          <a:lstStyle/>
          <a:p>
            <a:pPr algn="ctr" indent="0" marL="0">
              <a:lnSpc>
                <a:spcPct val="100000"/>
              </a:lnSpc>
              <a:buNone/>
            </a:pPr>
            <a:r>
              <a:rPr lang="en-US" sz="1200" dirty="0">
                <a:solidFill>
                  <a:srgbClr val="E7E3FF"/>
                </a:solidFill>
                <a:latin typeface="Calibri" pitchFamily="34" charset="0"/>
                <a:ea typeface="Calibri" pitchFamily="34" charset="-122"/>
                <a:cs typeface="Calibri" pitchFamily="34" charset="-120"/>
              </a:rPr>
              <a:t>🔗  video link — to be added</a:t>
            </a:r>
            <a:endParaRPr lang="en-US" sz="1200" dirty="0"/>
          </a:p>
        </p:txBody>
      </p:sp>
      <p:sp>
        <p:nvSpPr>
          <p:cNvPr id="14" name="Text 10"/>
          <p:cNvSpPr txBox="1"/>
          <p:nvPr/>
        </p:nvSpPr>
        <p:spPr>
          <a:xfrm>
            <a:off x="603504" y="6528816"/>
            <a:ext cx="6400800" cy="256032"/>
          </a:xfrm>
          <a:prstGeom prst="rect">
            <a:avLst/>
          </a:prstGeom>
          <a:noFill/>
          <a:ln/>
        </p:spPr>
        <p:txBody>
          <a:bodyPr wrap="square" lIns="0" tIns="0" rIns="0" bIns="0" rtlCol="0" anchor="ctr"/>
          <a:lstStyle/>
          <a:p>
            <a:pPr indent="0" marL="0">
              <a:lnSpc>
                <a:spcPct val="100000"/>
              </a:lnSpc>
              <a:buNone/>
            </a:pPr>
            <a:r>
              <a:rPr lang="en-US" sz="850" dirty="0">
                <a:solidFill>
                  <a:srgbClr val="726CA6"/>
                </a:solidFill>
                <a:latin typeface="Calibri" pitchFamily="34" charset="0"/>
                <a:ea typeface="Calibri" pitchFamily="34" charset="-122"/>
                <a:cs typeface="Calibri" pitchFamily="34" charset="-120"/>
              </a:rPr>
              <a:t>J26-SE-363  ·  Progress Presentation 1</a:t>
            </a:r>
            <a:endParaRPr lang="en-US" sz="850" dirty="0"/>
          </a:p>
        </p:txBody>
      </p:sp>
      <p:sp>
        <p:nvSpPr>
          <p:cNvPr id="15" name="Text 11"/>
          <p:cNvSpPr txBox="1"/>
          <p:nvPr/>
        </p:nvSpPr>
        <p:spPr>
          <a:xfrm>
            <a:off x="10972800" y="6528816"/>
            <a:ext cx="640080" cy="256032"/>
          </a:xfrm>
          <a:prstGeom prst="rect">
            <a:avLst/>
          </a:prstGeom>
          <a:noFill/>
          <a:ln/>
        </p:spPr>
        <p:txBody>
          <a:bodyPr wrap="square" lIns="0" tIns="0" rIns="0" bIns="0" rtlCol="0" anchor="ctr"/>
          <a:lstStyle/>
          <a:p>
            <a:pPr algn="r" indent="0" marL="0">
              <a:lnSpc>
                <a:spcPct val="100000"/>
              </a:lnSpc>
              <a:buNone/>
            </a:pPr>
            <a:r>
              <a:rPr lang="en-US" sz="850" dirty="0">
                <a:solidFill>
                  <a:srgbClr val="726CA6"/>
                </a:solidFill>
                <a:latin typeface="Calibri" pitchFamily="34" charset="0"/>
                <a:ea typeface="Calibri" pitchFamily="34" charset="-122"/>
                <a:cs typeface="Calibri" pitchFamily="34" charset="-120"/>
              </a:rPr>
              <a:t>6</a:t>
            </a:r>
            <a:endParaRPr lang="en-US" sz="8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ext 0"/>
          <p:cNvSpPr txBox="1"/>
          <p:nvPr/>
        </p:nvSpPr>
        <p:spPr>
          <a:xfrm>
            <a:off x="594360" y="1325880"/>
            <a:ext cx="3657600" cy="365760"/>
          </a:xfrm>
          <a:prstGeom prst="rect">
            <a:avLst/>
          </a:prstGeom>
          <a:noFill/>
          <a:ln/>
        </p:spPr>
        <p:txBody>
          <a:bodyPr wrap="square" lIns="0" tIns="0" rIns="0" bIns="0" rtlCol="0" anchor="ctr"/>
          <a:lstStyle/>
          <a:p>
            <a:pPr indent="0" marL="0">
              <a:lnSpc>
                <a:spcPct val="100000"/>
              </a:lnSpc>
              <a:buNone/>
            </a:pPr>
            <a:r>
              <a:rPr lang="en-US" sz="1300" b="1" spc="300" kern="0" dirty="0">
                <a:solidFill>
                  <a:srgbClr val="9FE7C9"/>
                </a:solidFill>
                <a:latin typeface="Calibri" pitchFamily="34" charset="0"/>
                <a:ea typeface="Calibri" pitchFamily="34" charset="-122"/>
                <a:cs typeface="Calibri" pitchFamily="34" charset="-120"/>
              </a:rPr>
              <a:t>PART 2</a:t>
            </a:r>
            <a:endParaRPr lang="en-US" sz="1300" dirty="0"/>
          </a:p>
        </p:txBody>
      </p:sp>
      <p:sp>
        <p:nvSpPr>
          <p:cNvPr id="3" name="Text 1"/>
          <p:cNvSpPr txBox="1"/>
          <p:nvPr/>
        </p:nvSpPr>
        <p:spPr>
          <a:xfrm>
            <a:off x="566928" y="1737360"/>
            <a:ext cx="8229600" cy="822960"/>
          </a:xfrm>
          <a:prstGeom prst="rect">
            <a:avLst/>
          </a:prstGeom>
          <a:noFill/>
          <a:ln/>
        </p:spPr>
        <p:txBody>
          <a:bodyPr wrap="square" lIns="0" tIns="0" rIns="0" bIns="0" rtlCol="0" anchor="ctr"/>
          <a:lstStyle/>
          <a:p>
            <a:pPr indent="0" marL="0">
              <a:lnSpc>
                <a:spcPct val="100000"/>
              </a:lnSpc>
              <a:buNone/>
            </a:pPr>
            <a:r>
              <a:rPr lang="en-US" sz="4000" b="1" dirty="0">
                <a:solidFill>
                  <a:srgbClr val="FFFFFF"/>
                </a:solidFill>
                <a:latin typeface="Calibri" pitchFamily="34" charset="0"/>
                <a:ea typeface="Calibri" pitchFamily="34" charset="-122"/>
                <a:cs typeface="Calibri" pitchFamily="34" charset="-120"/>
              </a:rPr>
              <a:t>Individual Components</a:t>
            </a:r>
            <a:endParaRPr lang="en-US" sz="4000" dirty="0"/>
          </a:p>
        </p:txBody>
      </p:sp>
      <p:sp>
        <p:nvSpPr>
          <p:cNvPr id="4" name="Text 2"/>
          <p:cNvSpPr txBox="1"/>
          <p:nvPr/>
        </p:nvSpPr>
        <p:spPr>
          <a:xfrm>
            <a:off x="585216" y="2651760"/>
            <a:ext cx="8229600" cy="457200"/>
          </a:xfrm>
          <a:prstGeom prst="rect">
            <a:avLst/>
          </a:prstGeom>
          <a:noFill/>
          <a:ln/>
        </p:spPr>
        <p:txBody>
          <a:bodyPr wrap="square" lIns="0" tIns="0" rIns="0" bIns="0" rtlCol="0" anchor="ctr"/>
          <a:lstStyle/>
          <a:p>
            <a:pPr indent="0" marL="0">
              <a:lnSpc>
                <a:spcPct val="100000"/>
              </a:lnSpc>
              <a:buNone/>
            </a:pPr>
            <a:r>
              <a:rPr lang="en-US" sz="1400" dirty="0">
                <a:solidFill>
                  <a:srgbClr val="CFCBEF"/>
                </a:solidFill>
                <a:latin typeface="Calibri" pitchFamily="34" charset="0"/>
                <a:ea typeface="Calibri" pitchFamily="34" charset="-122"/>
                <a:cs typeface="Calibri" pitchFamily="34" charset="-120"/>
              </a:rPr>
              <a:t>Each member presents their research component in 2 minutes — problem, contribution and architecture.</a:t>
            </a:r>
            <a:endParaRPr lang="en-US" sz="1400" dirty="0"/>
          </a:p>
        </p:txBody>
      </p:sp>
      <p:sp>
        <p:nvSpPr>
          <p:cNvPr id="5" name="Shape 3"/>
          <p:cNvSpPr/>
          <p:nvPr/>
        </p:nvSpPr>
        <p:spPr>
          <a:xfrm>
            <a:off x="566928" y="3429000"/>
            <a:ext cx="10149840" cy="640080"/>
          </a:xfrm>
          <a:prstGeom prst="roundRect">
            <a:avLst>
              <a:gd name="adj" fmla="val 15714"/>
            </a:avLst>
          </a:prstGeom>
          <a:solidFill>
            <a:srgbClr val="FFFFFF">
              <a:alpha val="12000"/>
            </a:srgbClr>
          </a:solidFill>
          <a:ln w="12700">
            <a:solidFill>
              <a:srgbClr val="FFFFFF">
                <a:alpha val="18000"/>
              </a:srgbClr>
            </a:solidFill>
            <a:prstDash val="solid"/>
          </a:ln>
          <a:effectLst>
            <a:outerShdw sx="100000" sy="100000" kx="0" ky="0" algn="bl" rotWithShape="0" blurRad="177800" dist="63500" dir="5400000">
              <a:srgbClr val="0B0920">
                <a:alpha val="45000"/>
              </a:srgbClr>
            </a:outerShdw>
          </a:effectLst>
        </p:spPr>
      </p:sp>
      <p:sp>
        <p:nvSpPr>
          <p:cNvPr id="6" name="Shape 4"/>
          <p:cNvSpPr/>
          <p:nvPr/>
        </p:nvSpPr>
        <p:spPr>
          <a:xfrm>
            <a:off x="749808" y="3538728"/>
            <a:ext cx="457200" cy="457200"/>
          </a:xfrm>
          <a:prstGeom prst="ellipse">
            <a:avLst/>
          </a:prstGeom>
          <a:solidFill>
            <a:srgbClr val="5A47CE"/>
          </a:solidFill>
          <a:ln w="17780">
            <a:solidFill>
              <a:srgbClr val="7E6CF4"/>
            </a:solidFill>
            <a:prstDash val="solid"/>
          </a:ln>
          <a:effectLst>
            <a:outerShdw sx="100000" sy="100000" kx="0" ky="0" algn="bl" rotWithShape="0" blurRad="127000" dist="50800" dir="5400000">
              <a:srgbClr val="7E6CF4">
                <a:alpha val="45000"/>
              </a:srgbClr>
            </a:outerShdw>
          </a:effectLst>
        </p:spPr>
      </p:sp>
      <p:pic>
        <p:nvPicPr>
          <p:cNvPr id="7" name="Image 0" descr="assets/icons/star_w.png">    </p:cNvPr>
          <p:cNvPicPr>
            <a:picLocks noChangeAspect="1"/>
          </p:cNvPicPr>
          <p:nvPr/>
        </p:nvPicPr>
        <p:blipFill>
          <a:blip r:embed="rId2"/>
          <a:stretch>
            <a:fillRect/>
          </a:stretch>
        </p:blipFill>
        <p:spPr>
          <a:xfrm>
            <a:off x="877824" y="3666744"/>
            <a:ext cx="201168" cy="201168"/>
          </a:xfrm>
          <a:prstGeom prst="rect">
            <a:avLst/>
          </a:prstGeom>
        </p:spPr>
      </p:pic>
      <p:sp>
        <p:nvSpPr>
          <p:cNvPr id="8" name="Text 5"/>
          <p:cNvSpPr txBox="1"/>
          <p:nvPr/>
        </p:nvSpPr>
        <p:spPr>
          <a:xfrm>
            <a:off x="1371600" y="3429000"/>
            <a:ext cx="731520" cy="640080"/>
          </a:xfrm>
          <a:prstGeom prst="rect">
            <a:avLst/>
          </a:prstGeom>
          <a:noFill/>
          <a:ln/>
        </p:spPr>
        <p:txBody>
          <a:bodyPr wrap="square" lIns="0" tIns="0" rIns="0" bIns="0" rtlCol="0" anchor="ctr"/>
          <a:lstStyle/>
          <a:p>
            <a:pPr indent="0" marL="0">
              <a:lnSpc>
                <a:spcPct val="100000"/>
              </a:lnSpc>
              <a:buNone/>
            </a:pPr>
            <a:r>
              <a:rPr lang="en-US" sz="2200" b="1" dirty="0">
                <a:solidFill>
                  <a:srgbClr val="7E6CF4"/>
                </a:solidFill>
                <a:latin typeface="Calibri" pitchFamily="34" charset="0"/>
                <a:ea typeface="Calibri" pitchFamily="34" charset="-122"/>
                <a:cs typeface="Calibri" pitchFamily="34" charset="-120"/>
              </a:rPr>
              <a:t>01</a:t>
            </a:r>
            <a:endParaRPr lang="en-US" sz="2200" dirty="0"/>
          </a:p>
        </p:txBody>
      </p:sp>
      <p:sp>
        <p:nvSpPr>
          <p:cNvPr id="9" name="Text 6"/>
          <p:cNvSpPr txBox="1"/>
          <p:nvPr/>
        </p:nvSpPr>
        <p:spPr>
          <a:xfrm>
            <a:off x="2103120" y="3520440"/>
            <a:ext cx="6949440" cy="292608"/>
          </a:xfrm>
          <a:prstGeom prst="rect">
            <a:avLst/>
          </a:prstGeom>
          <a:noFill/>
          <a:ln/>
        </p:spPr>
        <p:txBody>
          <a:bodyPr wrap="square" lIns="0" tIns="0" rIns="0" bIns="0" rtlCol="0" anchor="ctr"/>
          <a:lstStyle/>
          <a:p>
            <a:pPr indent="0" marL="0">
              <a:lnSpc>
                <a:spcPct val="100000"/>
              </a:lnSpc>
              <a:buNone/>
            </a:pPr>
            <a:r>
              <a:rPr lang="en-US" sz="1450" b="1" dirty="0">
                <a:solidFill>
                  <a:srgbClr val="FFFFFF"/>
                </a:solidFill>
                <a:latin typeface="Calibri" pitchFamily="34" charset="0"/>
                <a:ea typeface="Calibri" pitchFamily="34" charset="-122"/>
                <a:cs typeface="Calibri" pitchFamily="34" charset="-120"/>
              </a:rPr>
              <a:t>Requirement Analysis &amp; Intelligent Project Planning</a:t>
            </a:r>
            <a:endParaRPr lang="en-US" sz="1450" dirty="0"/>
          </a:p>
        </p:txBody>
      </p:sp>
      <p:sp>
        <p:nvSpPr>
          <p:cNvPr id="10" name="Text 7"/>
          <p:cNvSpPr txBox="1"/>
          <p:nvPr/>
        </p:nvSpPr>
        <p:spPr>
          <a:xfrm>
            <a:off x="2103120" y="3813048"/>
            <a:ext cx="6949440" cy="256032"/>
          </a:xfrm>
          <a:prstGeom prst="rect">
            <a:avLst/>
          </a:prstGeom>
          <a:noFill/>
          <a:ln/>
        </p:spPr>
        <p:txBody>
          <a:bodyPr wrap="square" lIns="0" tIns="0" rIns="0" bIns="0" rtlCol="0" anchor="ctr"/>
          <a:lstStyle/>
          <a:p>
            <a:pPr indent="0" marL="0">
              <a:lnSpc>
                <a:spcPct val="100000"/>
              </a:lnSpc>
              <a:buNone/>
            </a:pPr>
            <a:r>
              <a:rPr lang="en-US" sz="1000" dirty="0">
                <a:solidFill>
                  <a:srgbClr val="9FE7C9"/>
                </a:solidFill>
                <a:latin typeface="Calibri" pitchFamily="34" charset="0"/>
                <a:ea typeface="Calibri" pitchFamily="34" charset="-122"/>
                <a:cs typeface="Calibri" pitchFamily="34" charset="-120"/>
              </a:rPr>
              <a:t>Rajapaksha R W V C V · IT23152878</a:t>
            </a:r>
            <a:endParaRPr lang="en-US" sz="1000" dirty="0"/>
          </a:p>
        </p:txBody>
      </p:sp>
      <p:sp>
        <p:nvSpPr>
          <p:cNvPr id="11" name="Shape 8"/>
          <p:cNvSpPr/>
          <p:nvPr/>
        </p:nvSpPr>
        <p:spPr>
          <a:xfrm>
            <a:off x="9966960" y="3419856"/>
            <a:ext cx="566928" cy="566928"/>
          </a:xfrm>
          <a:prstGeom prst="ellipse">
            <a:avLst/>
          </a:prstGeom>
          <a:solidFill>
            <a:srgbClr val="1A1640"/>
          </a:solidFill>
          <a:ln w="25400">
            <a:solidFill>
              <a:srgbClr val="A99FF0"/>
            </a:solidFill>
            <a:prstDash val="solid"/>
          </a:ln>
          <a:effectLst>
            <a:outerShdw sx="100000" sy="100000" kx="0" ky="0" algn="bl" rotWithShape="0" blurRad="127000" dist="50800" dir="5400000">
              <a:srgbClr val="4A3DC2">
                <a:alpha val="45000"/>
              </a:srgbClr>
            </a:outerShdw>
          </a:effectLst>
        </p:spPr>
      </p:sp>
      <p:pic>
        <p:nvPicPr>
          <p:cNvPr id="12" name="Image 1" descr="assets/rajapaksha.jpg">    </p:cNvPr>
          <p:cNvPicPr>
            <a:picLocks noChangeAspect="1"/>
          </p:cNvPicPr>
          <p:nvPr/>
        </p:nvPicPr>
        <p:blipFill>
          <a:blip r:embed="rId3"/>
          <a:stretch>
            <a:fillRect/>
          </a:stretch>
        </p:blipFill>
        <p:spPr>
          <a:xfrm>
            <a:off x="10012680" y="3465576"/>
            <a:ext cx="475488" cy="475488"/>
          </a:xfrm>
          <a:prstGeom prst="ellipse">
            <a:avLst/>
          </a:prstGeom>
        </p:spPr>
      </p:pic>
      <p:sp>
        <p:nvSpPr>
          <p:cNvPr id="13" name="Shape 9"/>
          <p:cNvSpPr/>
          <p:nvPr/>
        </p:nvSpPr>
        <p:spPr>
          <a:xfrm>
            <a:off x="566928" y="4178808"/>
            <a:ext cx="10149840" cy="640080"/>
          </a:xfrm>
          <a:prstGeom prst="roundRect">
            <a:avLst>
              <a:gd name="adj" fmla="val 15714"/>
            </a:avLst>
          </a:prstGeom>
          <a:solidFill>
            <a:srgbClr val="FFFFFF">
              <a:alpha val="12000"/>
            </a:srgbClr>
          </a:solidFill>
          <a:ln w="12700">
            <a:solidFill>
              <a:srgbClr val="FFFFFF">
                <a:alpha val="18000"/>
              </a:srgbClr>
            </a:solidFill>
            <a:prstDash val="solid"/>
          </a:ln>
          <a:effectLst>
            <a:outerShdw sx="100000" sy="100000" kx="0" ky="0" algn="bl" rotWithShape="0" blurRad="177800" dist="63500" dir="5400000">
              <a:srgbClr val="0B0920">
                <a:alpha val="45000"/>
              </a:srgbClr>
            </a:outerShdw>
          </a:effectLst>
        </p:spPr>
      </p:sp>
      <p:sp>
        <p:nvSpPr>
          <p:cNvPr id="14" name="Shape 10"/>
          <p:cNvSpPr/>
          <p:nvPr/>
        </p:nvSpPr>
        <p:spPr>
          <a:xfrm>
            <a:off x="749808" y="4288536"/>
            <a:ext cx="457200" cy="457200"/>
          </a:xfrm>
          <a:prstGeom prst="ellipse">
            <a:avLst/>
          </a:prstGeom>
          <a:solidFill>
            <a:srgbClr val="0E9E6E"/>
          </a:solidFill>
          <a:ln w="17780">
            <a:solidFill>
              <a:srgbClr val="16C78C"/>
            </a:solidFill>
            <a:prstDash val="solid"/>
          </a:ln>
          <a:effectLst>
            <a:outerShdw sx="100000" sy="100000" kx="0" ky="0" algn="bl" rotWithShape="0" blurRad="127000" dist="50800" dir="5400000">
              <a:srgbClr val="16C78C">
                <a:alpha val="45000"/>
              </a:srgbClr>
            </a:outerShdw>
          </a:effectLst>
        </p:spPr>
      </p:sp>
      <p:pic>
        <p:nvPicPr>
          <p:cNvPr id="15" name="Image 2" descr="assets/icons/star_w.png">    </p:cNvPr>
          <p:cNvPicPr>
            <a:picLocks noChangeAspect="1"/>
          </p:cNvPicPr>
          <p:nvPr/>
        </p:nvPicPr>
        <p:blipFill>
          <a:blip r:embed="rId4"/>
          <a:stretch>
            <a:fillRect/>
          </a:stretch>
        </p:blipFill>
        <p:spPr>
          <a:xfrm>
            <a:off x="877824" y="4416552"/>
            <a:ext cx="201168" cy="201168"/>
          </a:xfrm>
          <a:prstGeom prst="rect">
            <a:avLst/>
          </a:prstGeom>
        </p:spPr>
      </p:pic>
      <p:sp>
        <p:nvSpPr>
          <p:cNvPr id="16" name="Text 11"/>
          <p:cNvSpPr txBox="1"/>
          <p:nvPr/>
        </p:nvSpPr>
        <p:spPr>
          <a:xfrm>
            <a:off x="1371600" y="4178808"/>
            <a:ext cx="731520" cy="640080"/>
          </a:xfrm>
          <a:prstGeom prst="rect">
            <a:avLst/>
          </a:prstGeom>
          <a:noFill/>
          <a:ln/>
        </p:spPr>
        <p:txBody>
          <a:bodyPr wrap="square" lIns="0" tIns="0" rIns="0" bIns="0" rtlCol="0" anchor="ctr"/>
          <a:lstStyle/>
          <a:p>
            <a:pPr indent="0" marL="0">
              <a:lnSpc>
                <a:spcPct val="100000"/>
              </a:lnSpc>
              <a:buNone/>
            </a:pPr>
            <a:r>
              <a:rPr lang="en-US" sz="2200" b="1" dirty="0">
                <a:solidFill>
                  <a:srgbClr val="16C78C"/>
                </a:solidFill>
                <a:latin typeface="Calibri" pitchFamily="34" charset="0"/>
                <a:ea typeface="Calibri" pitchFamily="34" charset="-122"/>
                <a:cs typeface="Calibri" pitchFamily="34" charset="-120"/>
              </a:rPr>
              <a:t>02</a:t>
            </a:r>
            <a:endParaRPr lang="en-US" sz="2200" dirty="0"/>
          </a:p>
        </p:txBody>
      </p:sp>
      <p:sp>
        <p:nvSpPr>
          <p:cNvPr id="17" name="Text 12"/>
          <p:cNvSpPr txBox="1"/>
          <p:nvPr/>
        </p:nvSpPr>
        <p:spPr>
          <a:xfrm>
            <a:off x="2103120" y="4270248"/>
            <a:ext cx="6949440" cy="292608"/>
          </a:xfrm>
          <a:prstGeom prst="rect">
            <a:avLst/>
          </a:prstGeom>
          <a:noFill/>
          <a:ln/>
        </p:spPr>
        <p:txBody>
          <a:bodyPr wrap="square" lIns="0" tIns="0" rIns="0" bIns="0" rtlCol="0" anchor="ctr"/>
          <a:lstStyle/>
          <a:p>
            <a:pPr indent="0" marL="0">
              <a:lnSpc>
                <a:spcPct val="100000"/>
              </a:lnSpc>
              <a:buNone/>
            </a:pPr>
            <a:r>
              <a:rPr lang="en-US" sz="1450" b="1" dirty="0">
                <a:solidFill>
                  <a:srgbClr val="FFFFFF"/>
                </a:solidFill>
                <a:latin typeface="Calibri" pitchFamily="34" charset="0"/>
                <a:ea typeface="Calibri" pitchFamily="34" charset="-122"/>
                <a:cs typeface="Calibri" pitchFamily="34" charset="-120"/>
              </a:rPr>
              <a:t>Automated Individual Student Performance Assessment</a:t>
            </a:r>
            <a:endParaRPr lang="en-US" sz="1450" dirty="0"/>
          </a:p>
        </p:txBody>
      </p:sp>
      <p:sp>
        <p:nvSpPr>
          <p:cNvPr id="18" name="Text 13"/>
          <p:cNvSpPr txBox="1"/>
          <p:nvPr/>
        </p:nvSpPr>
        <p:spPr>
          <a:xfrm>
            <a:off x="2103120" y="4562856"/>
            <a:ext cx="6949440" cy="256032"/>
          </a:xfrm>
          <a:prstGeom prst="rect">
            <a:avLst/>
          </a:prstGeom>
          <a:noFill/>
          <a:ln/>
        </p:spPr>
        <p:txBody>
          <a:bodyPr wrap="square" lIns="0" tIns="0" rIns="0" bIns="0" rtlCol="0" anchor="ctr"/>
          <a:lstStyle/>
          <a:p>
            <a:pPr indent="0" marL="0">
              <a:lnSpc>
                <a:spcPct val="100000"/>
              </a:lnSpc>
              <a:buNone/>
            </a:pPr>
            <a:r>
              <a:rPr lang="en-US" sz="1000" dirty="0">
                <a:solidFill>
                  <a:srgbClr val="9FE7C9"/>
                </a:solidFill>
                <a:latin typeface="Calibri" pitchFamily="34" charset="0"/>
                <a:ea typeface="Calibri" pitchFamily="34" charset="-122"/>
                <a:cs typeface="Calibri" pitchFamily="34" charset="-120"/>
              </a:rPr>
              <a:t>Kumbukage S S · IT23155534</a:t>
            </a:r>
            <a:endParaRPr lang="en-US" sz="1000" dirty="0"/>
          </a:p>
        </p:txBody>
      </p:sp>
      <p:sp>
        <p:nvSpPr>
          <p:cNvPr id="19" name="Shape 14"/>
          <p:cNvSpPr/>
          <p:nvPr/>
        </p:nvSpPr>
        <p:spPr>
          <a:xfrm>
            <a:off x="9966960" y="4169664"/>
            <a:ext cx="566928" cy="566928"/>
          </a:xfrm>
          <a:prstGeom prst="ellipse">
            <a:avLst/>
          </a:prstGeom>
          <a:solidFill>
            <a:srgbClr val="1A1640"/>
          </a:solidFill>
          <a:ln w="25400">
            <a:solidFill>
              <a:srgbClr val="A99FF0"/>
            </a:solidFill>
            <a:prstDash val="solid"/>
          </a:ln>
          <a:effectLst>
            <a:outerShdw sx="100000" sy="100000" kx="0" ky="0" algn="bl" rotWithShape="0" blurRad="127000" dist="50800" dir="5400000">
              <a:srgbClr val="4A3DC2">
                <a:alpha val="45000"/>
              </a:srgbClr>
            </a:outerShdw>
          </a:effectLst>
        </p:spPr>
      </p:sp>
      <p:pic>
        <p:nvPicPr>
          <p:cNvPr id="20" name="Image 3" descr="assets/kumbukage.jpg">    </p:cNvPr>
          <p:cNvPicPr>
            <a:picLocks noChangeAspect="1"/>
          </p:cNvPicPr>
          <p:nvPr/>
        </p:nvPicPr>
        <p:blipFill>
          <a:blip r:embed="rId5"/>
          <a:stretch>
            <a:fillRect/>
          </a:stretch>
        </p:blipFill>
        <p:spPr>
          <a:xfrm>
            <a:off x="10012680" y="4215384"/>
            <a:ext cx="475488" cy="475488"/>
          </a:xfrm>
          <a:prstGeom prst="ellipse">
            <a:avLst/>
          </a:prstGeom>
        </p:spPr>
      </p:pic>
      <p:sp>
        <p:nvSpPr>
          <p:cNvPr id="21" name="Shape 15"/>
          <p:cNvSpPr/>
          <p:nvPr/>
        </p:nvSpPr>
        <p:spPr>
          <a:xfrm>
            <a:off x="566928" y="4928616"/>
            <a:ext cx="10149840" cy="640080"/>
          </a:xfrm>
          <a:prstGeom prst="roundRect">
            <a:avLst>
              <a:gd name="adj" fmla="val 15714"/>
            </a:avLst>
          </a:prstGeom>
          <a:solidFill>
            <a:srgbClr val="FFFFFF">
              <a:alpha val="12000"/>
            </a:srgbClr>
          </a:solidFill>
          <a:ln w="12700">
            <a:solidFill>
              <a:srgbClr val="FFFFFF">
                <a:alpha val="18000"/>
              </a:srgbClr>
            </a:solidFill>
            <a:prstDash val="solid"/>
          </a:ln>
          <a:effectLst>
            <a:outerShdw sx="100000" sy="100000" kx="0" ky="0" algn="bl" rotWithShape="0" blurRad="177800" dist="63500" dir="5400000">
              <a:srgbClr val="0B0920">
                <a:alpha val="45000"/>
              </a:srgbClr>
            </a:outerShdw>
          </a:effectLst>
        </p:spPr>
      </p:sp>
      <p:sp>
        <p:nvSpPr>
          <p:cNvPr id="22" name="Shape 16"/>
          <p:cNvSpPr/>
          <p:nvPr/>
        </p:nvSpPr>
        <p:spPr>
          <a:xfrm>
            <a:off x="749808" y="5038344"/>
            <a:ext cx="457200" cy="457200"/>
          </a:xfrm>
          <a:prstGeom prst="ellipse">
            <a:avLst/>
          </a:prstGeom>
          <a:solidFill>
            <a:srgbClr val="E0891C"/>
          </a:solidFill>
          <a:ln w="17780">
            <a:solidFill>
              <a:srgbClr val="F2A740"/>
            </a:solidFill>
            <a:prstDash val="solid"/>
          </a:ln>
          <a:effectLst>
            <a:outerShdw sx="100000" sy="100000" kx="0" ky="0" algn="bl" rotWithShape="0" blurRad="127000" dist="50800" dir="5400000">
              <a:srgbClr val="F2A740">
                <a:alpha val="45000"/>
              </a:srgbClr>
            </a:outerShdw>
          </a:effectLst>
        </p:spPr>
      </p:sp>
      <p:pic>
        <p:nvPicPr>
          <p:cNvPr id="23" name="Image 4" descr="assets/icons/star_w.png">    </p:cNvPr>
          <p:cNvPicPr>
            <a:picLocks noChangeAspect="1"/>
          </p:cNvPicPr>
          <p:nvPr/>
        </p:nvPicPr>
        <p:blipFill>
          <a:blip r:embed="rId6"/>
          <a:stretch>
            <a:fillRect/>
          </a:stretch>
        </p:blipFill>
        <p:spPr>
          <a:xfrm>
            <a:off x="877824" y="5166360"/>
            <a:ext cx="201168" cy="201168"/>
          </a:xfrm>
          <a:prstGeom prst="rect">
            <a:avLst/>
          </a:prstGeom>
        </p:spPr>
      </p:pic>
      <p:sp>
        <p:nvSpPr>
          <p:cNvPr id="24" name="Text 17"/>
          <p:cNvSpPr txBox="1"/>
          <p:nvPr/>
        </p:nvSpPr>
        <p:spPr>
          <a:xfrm>
            <a:off x="1371600" y="4928616"/>
            <a:ext cx="731520" cy="640080"/>
          </a:xfrm>
          <a:prstGeom prst="rect">
            <a:avLst/>
          </a:prstGeom>
          <a:noFill/>
          <a:ln/>
        </p:spPr>
        <p:txBody>
          <a:bodyPr wrap="square" lIns="0" tIns="0" rIns="0" bIns="0" rtlCol="0" anchor="ctr"/>
          <a:lstStyle/>
          <a:p>
            <a:pPr indent="0" marL="0">
              <a:lnSpc>
                <a:spcPct val="100000"/>
              </a:lnSpc>
              <a:buNone/>
            </a:pPr>
            <a:r>
              <a:rPr lang="en-US" sz="2200" b="1" dirty="0">
                <a:solidFill>
                  <a:srgbClr val="F2A740"/>
                </a:solidFill>
                <a:latin typeface="Calibri" pitchFamily="34" charset="0"/>
                <a:ea typeface="Calibri" pitchFamily="34" charset="-122"/>
                <a:cs typeface="Calibri" pitchFamily="34" charset="-120"/>
              </a:rPr>
              <a:t>03</a:t>
            </a:r>
            <a:endParaRPr lang="en-US" sz="2200" dirty="0"/>
          </a:p>
        </p:txBody>
      </p:sp>
      <p:sp>
        <p:nvSpPr>
          <p:cNvPr id="25" name="Text 18"/>
          <p:cNvSpPr txBox="1"/>
          <p:nvPr/>
        </p:nvSpPr>
        <p:spPr>
          <a:xfrm>
            <a:off x="2103120" y="5020056"/>
            <a:ext cx="6949440" cy="292608"/>
          </a:xfrm>
          <a:prstGeom prst="rect">
            <a:avLst/>
          </a:prstGeom>
          <a:noFill/>
          <a:ln/>
        </p:spPr>
        <p:txBody>
          <a:bodyPr wrap="square" lIns="0" tIns="0" rIns="0" bIns="0" rtlCol="0" anchor="ctr"/>
          <a:lstStyle/>
          <a:p>
            <a:pPr indent="0" marL="0">
              <a:lnSpc>
                <a:spcPct val="100000"/>
              </a:lnSpc>
              <a:buNone/>
            </a:pPr>
            <a:r>
              <a:rPr lang="en-US" sz="1450" b="1" dirty="0">
                <a:solidFill>
                  <a:srgbClr val="FFFFFF"/>
                </a:solidFill>
                <a:latin typeface="Calibri" pitchFamily="34" charset="0"/>
                <a:ea typeface="Calibri" pitchFamily="34" charset="-122"/>
                <a:cs typeface="Calibri" pitchFamily="34" charset="-120"/>
              </a:rPr>
              <a:t>Adaptive AI Tutor Agent</a:t>
            </a:r>
            <a:endParaRPr lang="en-US" sz="1450" dirty="0"/>
          </a:p>
        </p:txBody>
      </p:sp>
      <p:sp>
        <p:nvSpPr>
          <p:cNvPr id="26" name="Text 19"/>
          <p:cNvSpPr txBox="1"/>
          <p:nvPr/>
        </p:nvSpPr>
        <p:spPr>
          <a:xfrm>
            <a:off x="2103120" y="5312664"/>
            <a:ext cx="6949440" cy="256032"/>
          </a:xfrm>
          <a:prstGeom prst="rect">
            <a:avLst/>
          </a:prstGeom>
          <a:noFill/>
          <a:ln/>
        </p:spPr>
        <p:txBody>
          <a:bodyPr wrap="square" lIns="0" tIns="0" rIns="0" bIns="0" rtlCol="0" anchor="ctr"/>
          <a:lstStyle/>
          <a:p>
            <a:pPr indent="0" marL="0">
              <a:lnSpc>
                <a:spcPct val="100000"/>
              </a:lnSpc>
              <a:buNone/>
            </a:pPr>
            <a:r>
              <a:rPr lang="en-US" sz="1000" dirty="0">
                <a:solidFill>
                  <a:srgbClr val="9FE7C9"/>
                </a:solidFill>
                <a:latin typeface="Calibri" pitchFamily="34" charset="0"/>
                <a:ea typeface="Calibri" pitchFamily="34" charset="-122"/>
                <a:cs typeface="Calibri" pitchFamily="34" charset="-120"/>
              </a:rPr>
              <a:t>Ekanayake E M N D · IT23283930</a:t>
            </a:r>
            <a:endParaRPr lang="en-US" sz="1000" dirty="0"/>
          </a:p>
        </p:txBody>
      </p:sp>
      <p:sp>
        <p:nvSpPr>
          <p:cNvPr id="27" name="Shape 20"/>
          <p:cNvSpPr/>
          <p:nvPr/>
        </p:nvSpPr>
        <p:spPr>
          <a:xfrm>
            <a:off x="9966960" y="4919472"/>
            <a:ext cx="566928" cy="566928"/>
          </a:xfrm>
          <a:prstGeom prst="ellipse">
            <a:avLst/>
          </a:prstGeom>
          <a:solidFill>
            <a:srgbClr val="1A1640"/>
          </a:solidFill>
          <a:ln w="25400">
            <a:solidFill>
              <a:srgbClr val="A99FF0"/>
            </a:solidFill>
            <a:prstDash val="solid"/>
          </a:ln>
          <a:effectLst>
            <a:outerShdw sx="100000" sy="100000" kx="0" ky="0" algn="bl" rotWithShape="0" blurRad="127000" dist="50800" dir="5400000">
              <a:srgbClr val="4A3DC2">
                <a:alpha val="45000"/>
              </a:srgbClr>
            </a:outerShdw>
          </a:effectLst>
        </p:spPr>
      </p:sp>
      <p:pic>
        <p:nvPicPr>
          <p:cNvPr id="28" name="Image 5" descr="assets/ekanayake.jpg">    </p:cNvPr>
          <p:cNvPicPr>
            <a:picLocks noChangeAspect="1"/>
          </p:cNvPicPr>
          <p:nvPr/>
        </p:nvPicPr>
        <p:blipFill>
          <a:blip r:embed="rId7"/>
          <a:stretch>
            <a:fillRect/>
          </a:stretch>
        </p:blipFill>
        <p:spPr>
          <a:xfrm>
            <a:off x="10012680" y="4965192"/>
            <a:ext cx="475488" cy="475488"/>
          </a:xfrm>
          <a:prstGeom prst="ellipse">
            <a:avLst/>
          </a:prstGeom>
        </p:spPr>
      </p:pic>
      <p:sp>
        <p:nvSpPr>
          <p:cNvPr id="29" name="Shape 21"/>
          <p:cNvSpPr/>
          <p:nvPr/>
        </p:nvSpPr>
        <p:spPr>
          <a:xfrm>
            <a:off x="566928" y="5678424"/>
            <a:ext cx="10149840" cy="640080"/>
          </a:xfrm>
          <a:prstGeom prst="roundRect">
            <a:avLst>
              <a:gd name="adj" fmla="val 15714"/>
            </a:avLst>
          </a:prstGeom>
          <a:solidFill>
            <a:srgbClr val="FFFFFF">
              <a:alpha val="12000"/>
            </a:srgbClr>
          </a:solidFill>
          <a:ln w="12700">
            <a:solidFill>
              <a:srgbClr val="FFFFFF">
                <a:alpha val="18000"/>
              </a:srgbClr>
            </a:solidFill>
            <a:prstDash val="solid"/>
          </a:ln>
          <a:effectLst>
            <a:outerShdw sx="100000" sy="100000" kx="0" ky="0" algn="bl" rotWithShape="0" blurRad="177800" dist="63500" dir="5400000">
              <a:srgbClr val="0B0920">
                <a:alpha val="45000"/>
              </a:srgbClr>
            </a:outerShdw>
          </a:effectLst>
        </p:spPr>
      </p:sp>
      <p:sp>
        <p:nvSpPr>
          <p:cNvPr id="30" name="Shape 22"/>
          <p:cNvSpPr/>
          <p:nvPr/>
        </p:nvSpPr>
        <p:spPr>
          <a:xfrm>
            <a:off x="749808" y="5788152"/>
            <a:ext cx="457200" cy="457200"/>
          </a:xfrm>
          <a:prstGeom prst="ellipse">
            <a:avLst/>
          </a:prstGeom>
          <a:solidFill>
            <a:srgbClr val="23925B"/>
          </a:solidFill>
          <a:ln w="17780">
            <a:solidFill>
              <a:srgbClr val="39BC7A"/>
            </a:solidFill>
            <a:prstDash val="solid"/>
          </a:ln>
          <a:effectLst>
            <a:outerShdw sx="100000" sy="100000" kx="0" ky="0" algn="bl" rotWithShape="0" blurRad="127000" dist="50800" dir="5400000">
              <a:srgbClr val="39BC7A">
                <a:alpha val="45000"/>
              </a:srgbClr>
            </a:outerShdw>
          </a:effectLst>
        </p:spPr>
      </p:sp>
      <p:pic>
        <p:nvPicPr>
          <p:cNvPr id="31" name="Image 6" descr="assets/icons/star_w.png">    </p:cNvPr>
          <p:cNvPicPr>
            <a:picLocks noChangeAspect="1"/>
          </p:cNvPicPr>
          <p:nvPr/>
        </p:nvPicPr>
        <p:blipFill>
          <a:blip r:embed="rId8"/>
          <a:stretch>
            <a:fillRect/>
          </a:stretch>
        </p:blipFill>
        <p:spPr>
          <a:xfrm>
            <a:off x="877824" y="5916168"/>
            <a:ext cx="201168" cy="201168"/>
          </a:xfrm>
          <a:prstGeom prst="rect">
            <a:avLst/>
          </a:prstGeom>
        </p:spPr>
      </p:pic>
      <p:sp>
        <p:nvSpPr>
          <p:cNvPr id="32" name="Text 23"/>
          <p:cNvSpPr txBox="1"/>
          <p:nvPr/>
        </p:nvSpPr>
        <p:spPr>
          <a:xfrm>
            <a:off x="1371600" y="5678424"/>
            <a:ext cx="731520" cy="640080"/>
          </a:xfrm>
          <a:prstGeom prst="rect">
            <a:avLst/>
          </a:prstGeom>
          <a:noFill/>
          <a:ln/>
        </p:spPr>
        <p:txBody>
          <a:bodyPr wrap="square" lIns="0" tIns="0" rIns="0" bIns="0" rtlCol="0" anchor="ctr"/>
          <a:lstStyle/>
          <a:p>
            <a:pPr indent="0" marL="0">
              <a:lnSpc>
                <a:spcPct val="100000"/>
              </a:lnSpc>
              <a:buNone/>
            </a:pPr>
            <a:r>
              <a:rPr lang="en-US" sz="2200" b="1" dirty="0">
                <a:solidFill>
                  <a:srgbClr val="39BC7A"/>
                </a:solidFill>
                <a:latin typeface="Calibri" pitchFamily="34" charset="0"/>
                <a:ea typeface="Calibri" pitchFamily="34" charset="-122"/>
                <a:cs typeface="Calibri" pitchFamily="34" charset="-120"/>
              </a:rPr>
              <a:t>04</a:t>
            </a:r>
            <a:endParaRPr lang="en-US" sz="2200" dirty="0"/>
          </a:p>
        </p:txBody>
      </p:sp>
      <p:sp>
        <p:nvSpPr>
          <p:cNvPr id="33" name="Text 24"/>
          <p:cNvSpPr txBox="1"/>
          <p:nvPr/>
        </p:nvSpPr>
        <p:spPr>
          <a:xfrm>
            <a:off x="2103120" y="5769864"/>
            <a:ext cx="6949440" cy="292608"/>
          </a:xfrm>
          <a:prstGeom prst="rect">
            <a:avLst/>
          </a:prstGeom>
          <a:noFill/>
          <a:ln/>
        </p:spPr>
        <p:txBody>
          <a:bodyPr wrap="square" lIns="0" tIns="0" rIns="0" bIns="0" rtlCol="0" anchor="ctr"/>
          <a:lstStyle/>
          <a:p>
            <a:pPr indent="0" marL="0">
              <a:lnSpc>
                <a:spcPct val="100000"/>
              </a:lnSpc>
              <a:buNone/>
            </a:pPr>
            <a:r>
              <a:rPr lang="en-US" sz="1450" b="1" dirty="0">
                <a:solidFill>
                  <a:srgbClr val="FFFFFF"/>
                </a:solidFill>
                <a:latin typeface="Calibri" pitchFamily="34" charset="0"/>
                <a:ea typeface="Calibri" pitchFamily="34" charset="-122"/>
                <a:cs typeface="Calibri" pitchFamily="34" charset="-120"/>
              </a:rPr>
              <a:t>Security-Aware Multi-Agent Framework</a:t>
            </a:r>
            <a:endParaRPr lang="en-US" sz="1450" dirty="0"/>
          </a:p>
        </p:txBody>
      </p:sp>
      <p:sp>
        <p:nvSpPr>
          <p:cNvPr id="34" name="Text 25"/>
          <p:cNvSpPr txBox="1"/>
          <p:nvPr/>
        </p:nvSpPr>
        <p:spPr>
          <a:xfrm>
            <a:off x="2103120" y="6062472"/>
            <a:ext cx="6949440" cy="256032"/>
          </a:xfrm>
          <a:prstGeom prst="rect">
            <a:avLst/>
          </a:prstGeom>
          <a:noFill/>
          <a:ln/>
        </p:spPr>
        <p:txBody>
          <a:bodyPr wrap="square" lIns="0" tIns="0" rIns="0" bIns="0" rtlCol="0" anchor="ctr"/>
          <a:lstStyle/>
          <a:p>
            <a:pPr indent="0" marL="0">
              <a:lnSpc>
                <a:spcPct val="100000"/>
              </a:lnSpc>
              <a:buNone/>
            </a:pPr>
            <a:r>
              <a:rPr lang="en-US" sz="1000" dirty="0">
                <a:solidFill>
                  <a:srgbClr val="9FE7C9"/>
                </a:solidFill>
                <a:latin typeface="Calibri" pitchFamily="34" charset="0"/>
                <a:ea typeface="Calibri" pitchFamily="34" charset="-122"/>
                <a:cs typeface="Calibri" pitchFamily="34" charset="-120"/>
              </a:rPr>
              <a:t>Croos E D · IT23314238</a:t>
            </a:r>
            <a:endParaRPr lang="en-US" sz="1000" dirty="0"/>
          </a:p>
        </p:txBody>
      </p:sp>
      <p:sp>
        <p:nvSpPr>
          <p:cNvPr id="35" name="Shape 26"/>
          <p:cNvSpPr/>
          <p:nvPr/>
        </p:nvSpPr>
        <p:spPr>
          <a:xfrm>
            <a:off x="9966960" y="5669280"/>
            <a:ext cx="566928" cy="566928"/>
          </a:xfrm>
          <a:prstGeom prst="ellipse">
            <a:avLst/>
          </a:prstGeom>
          <a:solidFill>
            <a:srgbClr val="1A1640"/>
          </a:solidFill>
          <a:ln w="25400">
            <a:solidFill>
              <a:srgbClr val="A99FF0"/>
            </a:solidFill>
            <a:prstDash val="solid"/>
          </a:ln>
          <a:effectLst>
            <a:outerShdw sx="100000" sy="100000" kx="0" ky="0" algn="bl" rotWithShape="0" blurRad="127000" dist="50800" dir="5400000">
              <a:srgbClr val="4A3DC2">
                <a:alpha val="45000"/>
              </a:srgbClr>
            </a:outerShdw>
          </a:effectLst>
        </p:spPr>
      </p:sp>
      <p:pic>
        <p:nvPicPr>
          <p:cNvPr id="36" name="Image 7" descr="assets/croos.jpg">    </p:cNvPr>
          <p:cNvPicPr>
            <a:picLocks noChangeAspect="1"/>
          </p:cNvPicPr>
          <p:nvPr/>
        </p:nvPicPr>
        <p:blipFill>
          <a:blip r:embed="rId9"/>
          <a:stretch>
            <a:fillRect/>
          </a:stretch>
        </p:blipFill>
        <p:spPr>
          <a:xfrm>
            <a:off x="10012680" y="5715000"/>
            <a:ext cx="475488" cy="475488"/>
          </a:xfrm>
          <a:prstGeom prst="ellipse">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Shape 0"/>
          <p:cNvSpPr/>
          <p:nvPr/>
        </p:nvSpPr>
        <p:spPr>
          <a:xfrm>
            <a:off x="10515600" y="411480"/>
            <a:ext cx="1143000" cy="1143000"/>
          </a:xfrm>
          <a:prstGeom prst="ellipse">
            <a:avLst/>
          </a:prstGeom>
          <a:solidFill>
            <a:srgbClr val="1A1640"/>
          </a:solidFill>
          <a:ln w="25400">
            <a:solidFill>
              <a:srgbClr val="7E6CF4"/>
            </a:solidFill>
            <a:prstDash val="solid"/>
          </a:ln>
          <a:effectLst>
            <a:outerShdw sx="100000" sy="100000" kx="0" ky="0" algn="bl" rotWithShape="0" blurRad="127000" dist="50800" dir="5400000">
              <a:srgbClr val="4A3DC2">
                <a:alpha val="45000"/>
              </a:srgbClr>
            </a:outerShdw>
          </a:effectLst>
        </p:spPr>
      </p:sp>
      <p:pic>
        <p:nvPicPr>
          <p:cNvPr id="3" name="Image 0" descr="assets/rajapaksha.jpg">    </p:cNvPr>
          <p:cNvPicPr>
            <a:picLocks noChangeAspect="1"/>
          </p:cNvPicPr>
          <p:nvPr/>
        </p:nvPicPr>
        <p:blipFill>
          <a:blip r:embed="rId2"/>
          <a:stretch>
            <a:fillRect/>
          </a:stretch>
        </p:blipFill>
        <p:spPr>
          <a:xfrm>
            <a:off x="10561320" y="457200"/>
            <a:ext cx="1051560" cy="1051560"/>
          </a:xfrm>
          <a:prstGeom prst="ellipse">
            <a:avLst/>
          </a:prstGeom>
        </p:spPr>
      </p:pic>
      <p:sp>
        <p:nvSpPr>
          <p:cNvPr id="4" name="Text 1"/>
          <p:cNvSpPr txBox="1"/>
          <p:nvPr/>
        </p:nvSpPr>
        <p:spPr>
          <a:xfrm>
            <a:off x="603504" y="493776"/>
            <a:ext cx="10058400" cy="274320"/>
          </a:xfrm>
          <a:prstGeom prst="rect">
            <a:avLst/>
          </a:prstGeom>
          <a:noFill/>
          <a:ln/>
        </p:spPr>
        <p:txBody>
          <a:bodyPr wrap="square" lIns="0" tIns="0" rIns="0" bIns="0" rtlCol="0" anchor="ctr"/>
          <a:lstStyle/>
          <a:p>
            <a:pPr indent="0" marL="0">
              <a:lnSpc>
                <a:spcPct val="100000"/>
              </a:lnSpc>
              <a:buNone/>
            </a:pPr>
            <a:r>
              <a:rPr lang="en-US" sz="1100" b="1" spc="260" kern="0" dirty="0">
                <a:solidFill>
                  <a:srgbClr val="9FE7C9"/>
                </a:solidFill>
                <a:latin typeface="Calibri" pitchFamily="34" charset="0"/>
                <a:ea typeface="Calibri" pitchFamily="34" charset="-122"/>
                <a:cs typeface="Calibri" pitchFamily="34" charset="-120"/>
              </a:rPr>
              <a:t>INDIVIDUAL COMPONENT  ·  01</a:t>
            </a:r>
            <a:endParaRPr lang="en-US" sz="1100" dirty="0"/>
          </a:p>
        </p:txBody>
      </p:sp>
      <p:sp>
        <p:nvSpPr>
          <p:cNvPr id="5" name="Text 2"/>
          <p:cNvSpPr txBox="1"/>
          <p:nvPr/>
        </p:nvSpPr>
        <p:spPr>
          <a:xfrm>
            <a:off x="566928" y="749808"/>
            <a:ext cx="9692640" cy="1005840"/>
          </a:xfrm>
          <a:prstGeom prst="rect">
            <a:avLst/>
          </a:prstGeom>
          <a:noFill/>
          <a:ln/>
        </p:spPr>
        <p:txBody>
          <a:bodyPr wrap="square" lIns="0" tIns="0" rIns="0" bIns="0" rtlCol="0" anchor="ctr"/>
          <a:lstStyle/>
          <a:p>
            <a:pPr indent="0" marL="0">
              <a:lnSpc>
                <a:spcPct val="98000"/>
              </a:lnSpc>
              <a:buNone/>
            </a:pPr>
            <a:r>
              <a:rPr lang="en-US" sz="2600" b="1" dirty="0">
                <a:solidFill>
                  <a:srgbClr val="FFFFFF"/>
                </a:solidFill>
                <a:latin typeface="Calibri" pitchFamily="34" charset="0"/>
                <a:ea typeface="Calibri" pitchFamily="34" charset="-122"/>
                <a:cs typeface="Calibri" pitchFamily="34" charset="-120"/>
              </a:rPr>
              <a:t>Requirement Analysis &amp; Intelligent Project Planning</a:t>
            </a:r>
            <a:endParaRPr lang="en-US" sz="2600" dirty="0"/>
          </a:p>
        </p:txBody>
      </p:sp>
      <p:sp>
        <p:nvSpPr>
          <p:cNvPr id="6" name="Shape 3"/>
          <p:cNvSpPr/>
          <p:nvPr/>
        </p:nvSpPr>
        <p:spPr>
          <a:xfrm>
            <a:off x="566928" y="1901952"/>
            <a:ext cx="2011680" cy="365760"/>
          </a:xfrm>
          <a:prstGeom prst="roundRect">
            <a:avLst>
              <a:gd name="adj" fmla="val 50000"/>
            </a:avLst>
          </a:prstGeom>
          <a:solidFill>
            <a:srgbClr val="FFFFFF">
              <a:alpha val="14000"/>
            </a:srgbClr>
          </a:solidFill>
          <a:ln w="12700">
            <a:solidFill>
              <a:srgbClr val="FFFFFF">
                <a:alpha val="34000"/>
              </a:srgbClr>
            </a:solidFill>
            <a:prstDash val="solid"/>
          </a:ln>
        </p:spPr>
      </p:sp>
      <p:sp>
        <p:nvSpPr>
          <p:cNvPr id="7" name="Text 4"/>
          <p:cNvSpPr txBox="1"/>
          <p:nvPr/>
        </p:nvSpPr>
        <p:spPr>
          <a:xfrm>
            <a:off x="566928" y="1901952"/>
            <a:ext cx="2011680" cy="365760"/>
          </a:xfrm>
          <a:prstGeom prst="rect">
            <a:avLst/>
          </a:prstGeom>
          <a:noFill/>
          <a:ln/>
        </p:spPr>
        <p:txBody>
          <a:bodyPr wrap="square" lIns="0" tIns="0" rIns="0" bIns="0" rtlCol="0" anchor="ctr"/>
          <a:lstStyle/>
          <a:p>
            <a:pPr algn="ctr" indent="0" marL="0">
              <a:lnSpc>
                <a:spcPct val="100000"/>
              </a:lnSpc>
              <a:buNone/>
            </a:pPr>
            <a:r>
              <a:rPr lang="en-US" sz="1000" b="1" dirty="0">
                <a:solidFill>
                  <a:srgbClr val="E7E3FF"/>
                </a:solidFill>
                <a:latin typeface="Calibri" pitchFamily="34" charset="0"/>
                <a:ea typeface="Calibri" pitchFamily="34" charset="-122"/>
                <a:cs typeface="Calibri" pitchFamily="34" charset="-120"/>
              </a:rPr>
              <a:t>Software Engineering</a:t>
            </a:r>
            <a:endParaRPr lang="en-US" sz="1000" dirty="0"/>
          </a:p>
        </p:txBody>
      </p:sp>
      <p:sp>
        <p:nvSpPr>
          <p:cNvPr id="8" name="Shape 5"/>
          <p:cNvSpPr/>
          <p:nvPr/>
        </p:nvSpPr>
        <p:spPr>
          <a:xfrm>
            <a:off x="2697480" y="1901952"/>
            <a:ext cx="3291840" cy="365760"/>
          </a:xfrm>
          <a:prstGeom prst="roundRect">
            <a:avLst>
              <a:gd name="adj" fmla="val 50000"/>
            </a:avLst>
          </a:prstGeom>
          <a:solidFill>
            <a:srgbClr val="5A47CE"/>
          </a:solidFill>
          <a:ln w="12700">
            <a:solidFill>
              <a:srgbClr val="7E6CF4"/>
            </a:solidFill>
            <a:prstDash val="solid"/>
          </a:ln>
        </p:spPr>
      </p:sp>
      <p:sp>
        <p:nvSpPr>
          <p:cNvPr id="9" name="Text 6"/>
          <p:cNvSpPr txBox="1"/>
          <p:nvPr/>
        </p:nvSpPr>
        <p:spPr>
          <a:xfrm>
            <a:off x="2697480" y="1901952"/>
            <a:ext cx="3291840" cy="365760"/>
          </a:xfrm>
          <a:prstGeom prst="rect">
            <a:avLst/>
          </a:prstGeom>
          <a:noFill/>
          <a:ln/>
        </p:spPr>
        <p:txBody>
          <a:bodyPr wrap="square" lIns="0" tIns="0" rIns="0" bIns="0" rtlCol="0" anchor="ctr"/>
          <a:lstStyle/>
          <a:p>
            <a:pPr algn="ctr" indent="0" marL="0">
              <a:lnSpc>
                <a:spcPct val="100000"/>
              </a:lnSpc>
              <a:buNone/>
            </a:pPr>
            <a:r>
              <a:rPr lang="en-US" sz="1000" b="1" dirty="0">
                <a:solidFill>
                  <a:srgbClr val="FFFFFF"/>
                </a:solidFill>
                <a:latin typeface="Calibri" pitchFamily="34" charset="0"/>
                <a:ea typeface="Calibri" pitchFamily="34" charset="-122"/>
                <a:cs typeface="Calibri" pitchFamily="34" charset="-120"/>
              </a:rPr>
              <a:t>Rajapaksha R W V C V  ·  IT23152878</a:t>
            </a:r>
            <a:endParaRPr lang="en-US" sz="1000" dirty="0"/>
          </a:p>
        </p:txBody>
      </p:sp>
      <p:sp>
        <p:nvSpPr>
          <p:cNvPr id="10" name="Text 7"/>
          <p:cNvSpPr txBox="1"/>
          <p:nvPr/>
        </p:nvSpPr>
        <p:spPr>
          <a:xfrm>
            <a:off x="566928" y="2505456"/>
            <a:ext cx="9692640" cy="731520"/>
          </a:xfrm>
          <a:prstGeom prst="rect">
            <a:avLst/>
          </a:prstGeom>
          <a:noFill/>
          <a:ln/>
        </p:spPr>
        <p:txBody>
          <a:bodyPr wrap="square" lIns="0" tIns="0" rIns="0" bIns="0" rtlCol="0" anchor="ctr"/>
          <a:lstStyle/>
          <a:p>
            <a:pPr indent="0" marL="0">
              <a:lnSpc>
                <a:spcPct val="108000"/>
              </a:lnSpc>
              <a:buNone/>
            </a:pPr>
            <a:r>
              <a:rPr lang="en-US" sz="1500" dirty="0">
                <a:solidFill>
                  <a:srgbClr val="CFCBEF"/>
                </a:solidFill>
                <a:latin typeface="Calibri" pitchFamily="34" charset="0"/>
                <a:ea typeface="Calibri" pitchFamily="34" charset="-122"/>
                <a:cs typeface="Calibri" pitchFamily="34" charset="-120"/>
              </a:rPr>
              <a:t>Improve requirement quality and bring real-world project-planning practice to student teams — testable requirements, structured decomposition and effort estimation.</a:t>
            </a:r>
            <a:endParaRPr lang="en-US" sz="1500" dirty="0"/>
          </a:p>
        </p:txBody>
      </p:sp>
      <p:sp>
        <p:nvSpPr>
          <p:cNvPr id="11" name="Shape 8"/>
          <p:cNvSpPr/>
          <p:nvPr/>
        </p:nvSpPr>
        <p:spPr>
          <a:xfrm>
            <a:off x="566928" y="3474720"/>
            <a:ext cx="11064240" cy="1097280"/>
          </a:xfrm>
          <a:prstGeom prst="roundRect">
            <a:avLst>
              <a:gd name="adj" fmla="val 9167"/>
            </a:avLst>
          </a:prstGeom>
          <a:solidFill>
            <a:srgbClr val="FFFFFF">
              <a:alpha val="12000"/>
            </a:srgbClr>
          </a:solidFill>
          <a:ln w="12700">
            <a:solidFill>
              <a:srgbClr val="FFFFFF">
                <a:alpha val="18000"/>
              </a:srgbClr>
            </a:solidFill>
            <a:prstDash val="solid"/>
          </a:ln>
          <a:effectLst>
            <a:outerShdw sx="100000" sy="100000" kx="0" ky="0" algn="bl" rotWithShape="0" blurRad="177800" dist="63500" dir="5400000">
              <a:srgbClr val="0B0920">
                <a:alpha val="45000"/>
              </a:srgbClr>
            </a:outerShdw>
          </a:effectLst>
        </p:spPr>
      </p:sp>
      <p:sp>
        <p:nvSpPr>
          <p:cNvPr id="12" name="Shape 9"/>
          <p:cNvSpPr/>
          <p:nvPr/>
        </p:nvSpPr>
        <p:spPr>
          <a:xfrm>
            <a:off x="932688" y="3218688"/>
            <a:ext cx="1832458" cy="512064"/>
          </a:xfrm>
          <a:prstGeom prst="roundRect">
            <a:avLst>
              <a:gd name="adj" fmla="val 50000"/>
            </a:avLst>
          </a:prstGeom>
          <a:solidFill>
            <a:srgbClr val="16C78C"/>
          </a:solidFill>
          <a:ln/>
          <a:effectLst>
            <a:outerShdw sx="100000" sy="100000" kx="0" ky="0" algn="bl" rotWithShape="0" blurRad="127000" dist="50800" dir="5400000">
              <a:srgbClr val="16C78C">
                <a:alpha val="45000"/>
              </a:srgbClr>
            </a:outerShdw>
          </a:effectLst>
        </p:spPr>
      </p:sp>
      <p:sp>
        <p:nvSpPr>
          <p:cNvPr id="13" name="Shape 10"/>
          <p:cNvSpPr/>
          <p:nvPr/>
        </p:nvSpPr>
        <p:spPr>
          <a:xfrm>
            <a:off x="676656" y="3145536"/>
            <a:ext cx="676656" cy="676656"/>
          </a:xfrm>
          <a:prstGeom prst="ellipse">
            <a:avLst/>
          </a:prstGeom>
          <a:solidFill>
            <a:srgbClr val="0E9E6E"/>
          </a:solidFill>
          <a:ln w="15240">
            <a:solidFill>
              <a:srgbClr val="FFFFFF">
                <a:alpha val="38000"/>
              </a:srgbClr>
            </a:solidFill>
            <a:prstDash val="solid"/>
          </a:ln>
          <a:effectLst>
            <a:outerShdw sx="100000" sy="100000" kx="0" ky="0" algn="bl" rotWithShape="0" blurRad="127000" dist="50800" dir="5400000">
              <a:srgbClr val="0E9E6E">
                <a:alpha val="45000"/>
              </a:srgbClr>
            </a:outerShdw>
          </a:effectLst>
        </p:spPr>
      </p:sp>
      <p:pic>
        <p:nvPicPr>
          <p:cNvPr id="14" name="Image 1" descr="assets/icons/star_w.png">    </p:cNvPr>
          <p:cNvPicPr>
            <a:picLocks noChangeAspect="1"/>
          </p:cNvPicPr>
          <p:nvPr/>
        </p:nvPicPr>
        <p:blipFill>
          <a:blip r:embed="rId3"/>
          <a:stretch>
            <a:fillRect/>
          </a:stretch>
        </p:blipFill>
        <p:spPr>
          <a:xfrm>
            <a:off x="866120" y="3335000"/>
            <a:ext cx="297729" cy="297729"/>
          </a:xfrm>
          <a:prstGeom prst="rect">
            <a:avLst/>
          </a:prstGeom>
        </p:spPr>
      </p:pic>
      <p:sp>
        <p:nvSpPr>
          <p:cNvPr id="15" name="Text 11"/>
          <p:cNvSpPr txBox="1"/>
          <p:nvPr/>
        </p:nvSpPr>
        <p:spPr>
          <a:xfrm>
            <a:off x="1389888" y="3218688"/>
            <a:ext cx="1338682" cy="512064"/>
          </a:xfrm>
          <a:prstGeom prst="rect">
            <a:avLst/>
          </a:prstGeom>
          <a:noFill/>
          <a:ln/>
        </p:spPr>
        <p:txBody>
          <a:bodyPr wrap="square" lIns="0" tIns="0" rIns="0" bIns="0" rtlCol="0" anchor="ctr"/>
          <a:lstStyle/>
          <a:p>
            <a:pPr indent="0" marL="0">
              <a:lnSpc>
                <a:spcPct val="100000"/>
              </a:lnSpc>
              <a:buNone/>
            </a:pPr>
            <a:r>
              <a:rPr lang="en-US" sz="1150" b="1" dirty="0">
                <a:solidFill>
                  <a:srgbClr val="FFFFFF"/>
                </a:solidFill>
                <a:latin typeface="Calibri" pitchFamily="34" charset="0"/>
                <a:ea typeface="Calibri" pitchFamily="34" charset="-122"/>
                <a:cs typeface="Calibri" pitchFamily="34" charset="-120"/>
              </a:rPr>
              <a:t>Core novelty</a:t>
            </a:r>
            <a:endParaRPr lang="en-US" sz="1150" dirty="0"/>
          </a:p>
        </p:txBody>
      </p:sp>
      <p:sp>
        <p:nvSpPr>
          <p:cNvPr id="16" name="Text 12"/>
          <p:cNvSpPr txBox="1"/>
          <p:nvPr/>
        </p:nvSpPr>
        <p:spPr>
          <a:xfrm>
            <a:off x="822960" y="3950208"/>
            <a:ext cx="10332720" cy="548640"/>
          </a:xfrm>
          <a:prstGeom prst="rect">
            <a:avLst/>
          </a:prstGeom>
          <a:noFill/>
          <a:ln/>
        </p:spPr>
        <p:txBody>
          <a:bodyPr wrap="square" lIns="0" tIns="0" rIns="0" bIns="0" rtlCol="0" anchor="ctr"/>
          <a:lstStyle/>
          <a:p>
            <a:pPr indent="0" marL="0">
              <a:lnSpc>
                <a:spcPct val="98000"/>
              </a:lnSpc>
              <a:buNone/>
            </a:pPr>
            <a:r>
              <a:rPr lang="en-US" sz="1600" b="1" dirty="0">
                <a:solidFill>
                  <a:srgbClr val="FFFFFF"/>
                </a:solidFill>
                <a:latin typeface="Calibri" pitchFamily="34" charset="0"/>
                <a:ea typeface="Calibri" pitchFamily="34" charset="-122"/>
                <a:cs typeface="Calibri" pitchFamily="34" charset="-120"/>
              </a:rPr>
              <a:t>DART — Diagnostic Arbitration Routing Technique</a:t>
            </a:r>
            <a:endParaRPr lang="en-US" sz="1600" dirty="0"/>
          </a:p>
        </p:txBody>
      </p:sp>
      <p:sp>
        <p:nvSpPr>
          <p:cNvPr id="17" name="Shape 13"/>
          <p:cNvSpPr/>
          <p:nvPr/>
        </p:nvSpPr>
        <p:spPr>
          <a:xfrm>
            <a:off x="566928" y="4800600"/>
            <a:ext cx="3535680" cy="1051560"/>
          </a:xfrm>
          <a:prstGeom prst="roundRect">
            <a:avLst>
              <a:gd name="adj" fmla="val 9565"/>
            </a:avLst>
          </a:prstGeom>
          <a:solidFill>
            <a:srgbClr val="FFFFFF">
              <a:alpha val="12000"/>
            </a:srgbClr>
          </a:solidFill>
          <a:ln w="12700">
            <a:solidFill>
              <a:srgbClr val="FFFFFF">
                <a:alpha val="18000"/>
              </a:srgbClr>
            </a:solidFill>
            <a:prstDash val="solid"/>
          </a:ln>
          <a:effectLst>
            <a:outerShdw sx="100000" sy="100000" kx="0" ky="0" algn="bl" rotWithShape="0" blurRad="177800" dist="63500" dir="5400000">
              <a:srgbClr val="0B0920">
                <a:alpha val="45000"/>
              </a:srgbClr>
            </a:outerShdw>
          </a:effectLst>
        </p:spPr>
      </p:sp>
      <p:sp>
        <p:nvSpPr>
          <p:cNvPr id="18" name="Shape 14"/>
          <p:cNvSpPr/>
          <p:nvPr/>
        </p:nvSpPr>
        <p:spPr>
          <a:xfrm>
            <a:off x="786384" y="5074920"/>
            <a:ext cx="512064" cy="512064"/>
          </a:xfrm>
          <a:prstGeom prst="ellipse">
            <a:avLst/>
          </a:prstGeom>
          <a:solidFill>
            <a:srgbClr val="0E9E6E"/>
          </a:solidFill>
          <a:ln w="17780">
            <a:solidFill>
              <a:srgbClr val="16C78C"/>
            </a:solidFill>
            <a:prstDash val="solid"/>
          </a:ln>
          <a:effectLst>
            <a:outerShdw sx="100000" sy="100000" kx="0" ky="0" algn="bl" rotWithShape="0" blurRad="127000" dist="50800" dir="5400000">
              <a:srgbClr val="16C78C">
                <a:alpha val="45000"/>
              </a:srgbClr>
            </a:outerShdw>
          </a:effectLst>
        </p:spPr>
      </p:sp>
      <p:pic>
        <p:nvPicPr>
          <p:cNvPr id="19" name="Image 2" descr="assets/icons/checksq_w.png">    </p:cNvPr>
          <p:cNvPicPr>
            <a:picLocks noChangeAspect="1"/>
          </p:cNvPicPr>
          <p:nvPr/>
        </p:nvPicPr>
        <p:blipFill>
          <a:blip r:embed="rId4"/>
          <a:stretch>
            <a:fillRect/>
          </a:stretch>
        </p:blipFill>
        <p:spPr>
          <a:xfrm>
            <a:off x="929762" y="5218298"/>
            <a:ext cx="225308" cy="225308"/>
          </a:xfrm>
          <a:prstGeom prst="rect">
            <a:avLst/>
          </a:prstGeom>
        </p:spPr>
      </p:pic>
      <p:sp>
        <p:nvSpPr>
          <p:cNvPr id="20" name="Text 15"/>
          <p:cNvSpPr txBox="1"/>
          <p:nvPr/>
        </p:nvSpPr>
        <p:spPr>
          <a:xfrm>
            <a:off x="1444752" y="5056632"/>
            <a:ext cx="2493264" cy="292608"/>
          </a:xfrm>
          <a:prstGeom prst="rect">
            <a:avLst/>
          </a:prstGeom>
          <a:noFill/>
          <a:ln/>
        </p:spPr>
        <p:txBody>
          <a:bodyPr wrap="square" lIns="0" tIns="0" rIns="0" bIns="0" rtlCol="0" anchor="ctr"/>
          <a:lstStyle/>
          <a:p>
            <a:pPr indent="0" marL="0">
              <a:lnSpc>
                <a:spcPct val="100000"/>
              </a:lnSpc>
              <a:buNone/>
            </a:pPr>
            <a:r>
              <a:rPr lang="en-US" sz="1350" b="1" dirty="0">
                <a:solidFill>
                  <a:srgbClr val="FFFFFF"/>
                </a:solidFill>
                <a:latin typeface="Calibri" pitchFamily="34" charset="0"/>
                <a:ea typeface="Calibri" pitchFamily="34" charset="-122"/>
                <a:cs typeface="Calibri" pitchFamily="34" charset="-120"/>
              </a:rPr>
              <a:t>Quality gate</a:t>
            </a:r>
            <a:endParaRPr lang="en-US" sz="1350" dirty="0"/>
          </a:p>
        </p:txBody>
      </p:sp>
      <p:sp>
        <p:nvSpPr>
          <p:cNvPr id="21" name="Text 16"/>
          <p:cNvSpPr txBox="1"/>
          <p:nvPr/>
        </p:nvSpPr>
        <p:spPr>
          <a:xfrm>
            <a:off x="1444752" y="5367528"/>
            <a:ext cx="2493264" cy="384048"/>
          </a:xfrm>
          <a:prstGeom prst="rect">
            <a:avLst/>
          </a:prstGeom>
          <a:noFill/>
          <a:ln/>
        </p:spPr>
        <p:txBody>
          <a:bodyPr wrap="square" lIns="0" tIns="0" rIns="0" bIns="0" rtlCol="0" anchor="ctr"/>
          <a:lstStyle/>
          <a:p>
            <a:pPr indent="0" marL="0">
              <a:lnSpc>
                <a:spcPct val="95000"/>
              </a:lnSpc>
              <a:buNone/>
            </a:pPr>
            <a:r>
              <a:rPr lang="en-US" sz="1000" dirty="0">
                <a:solidFill>
                  <a:srgbClr val="CFCBEF"/>
                </a:solidFill>
                <a:latin typeface="Calibri" pitchFamily="34" charset="0"/>
                <a:ea typeface="Calibri" pitchFamily="34" charset="-122"/>
                <a:cs typeface="Calibri" pitchFamily="34" charset="-120"/>
              </a:rPr>
              <a:t>Testable-requirement checks</a:t>
            </a:r>
            <a:endParaRPr lang="en-US" sz="1000" dirty="0"/>
          </a:p>
        </p:txBody>
      </p:sp>
      <p:sp>
        <p:nvSpPr>
          <p:cNvPr id="22" name="Shape 17"/>
          <p:cNvSpPr/>
          <p:nvPr/>
        </p:nvSpPr>
        <p:spPr>
          <a:xfrm>
            <a:off x="4331208" y="4800600"/>
            <a:ext cx="3535680" cy="1051560"/>
          </a:xfrm>
          <a:prstGeom prst="roundRect">
            <a:avLst>
              <a:gd name="adj" fmla="val 9565"/>
            </a:avLst>
          </a:prstGeom>
          <a:solidFill>
            <a:srgbClr val="FFFFFF">
              <a:alpha val="12000"/>
            </a:srgbClr>
          </a:solidFill>
          <a:ln w="12700">
            <a:solidFill>
              <a:srgbClr val="FFFFFF">
                <a:alpha val="18000"/>
              </a:srgbClr>
            </a:solidFill>
            <a:prstDash val="solid"/>
          </a:ln>
          <a:effectLst>
            <a:outerShdw sx="100000" sy="100000" kx="0" ky="0" algn="bl" rotWithShape="0" blurRad="177800" dist="63500" dir="5400000">
              <a:srgbClr val="0B0920">
                <a:alpha val="45000"/>
              </a:srgbClr>
            </a:outerShdw>
          </a:effectLst>
        </p:spPr>
      </p:sp>
      <p:sp>
        <p:nvSpPr>
          <p:cNvPr id="23" name="Shape 18"/>
          <p:cNvSpPr/>
          <p:nvPr/>
        </p:nvSpPr>
        <p:spPr>
          <a:xfrm>
            <a:off x="4550664" y="5074920"/>
            <a:ext cx="512064" cy="512064"/>
          </a:xfrm>
          <a:prstGeom prst="ellipse">
            <a:avLst/>
          </a:prstGeom>
          <a:solidFill>
            <a:srgbClr val="5A47CE"/>
          </a:solidFill>
          <a:ln w="17780">
            <a:solidFill>
              <a:srgbClr val="7E6CF4"/>
            </a:solidFill>
            <a:prstDash val="solid"/>
          </a:ln>
          <a:effectLst>
            <a:outerShdw sx="100000" sy="100000" kx="0" ky="0" algn="bl" rotWithShape="0" blurRad="127000" dist="50800" dir="5400000">
              <a:srgbClr val="7E6CF4">
                <a:alpha val="45000"/>
              </a:srgbClr>
            </a:outerShdw>
          </a:effectLst>
        </p:spPr>
      </p:sp>
      <p:pic>
        <p:nvPicPr>
          <p:cNvPr id="24" name="Image 3" descr="assets/icons/merge_w.png">    </p:cNvPr>
          <p:cNvPicPr>
            <a:picLocks noChangeAspect="1"/>
          </p:cNvPicPr>
          <p:nvPr/>
        </p:nvPicPr>
        <p:blipFill>
          <a:blip r:embed="rId5"/>
          <a:stretch>
            <a:fillRect/>
          </a:stretch>
        </p:blipFill>
        <p:spPr>
          <a:xfrm>
            <a:off x="4694042" y="5218298"/>
            <a:ext cx="225308" cy="225308"/>
          </a:xfrm>
          <a:prstGeom prst="rect">
            <a:avLst/>
          </a:prstGeom>
        </p:spPr>
      </p:pic>
      <p:sp>
        <p:nvSpPr>
          <p:cNvPr id="25" name="Text 19"/>
          <p:cNvSpPr txBox="1"/>
          <p:nvPr/>
        </p:nvSpPr>
        <p:spPr>
          <a:xfrm>
            <a:off x="5209032" y="5056632"/>
            <a:ext cx="2493264" cy="292608"/>
          </a:xfrm>
          <a:prstGeom prst="rect">
            <a:avLst/>
          </a:prstGeom>
          <a:noFill/>
          <a:ln/>
        </p:spPr>
        <p:txBody>
          <a:bodyPr wrap="square" lIns="0" tIns="0" rIns="0" bIns="0" rtlCol="0" anchor="ctr"/>
          <a:lstStyle/>
          <a:p>
            <a:pPr indent="0" marL="0">
              <a:lnSpc>
                <a:spcPct val="100000"/>
              </a:lnSpc>
              <a:buNone/>
            </a:pPr>
            <a:r>
              <a:rPr lang="en-US" sz="1350" b="1" dirty="0">
                <a:solidFill>
                  <a:srgbClr val="FFFFFF"/>
                </a:solidFill>
                <a:latin typeface="Calibri" pitchFamily="34" charset="0"/>
                <a:ea typeface="Calibri" pitchFamily="34" charset="-122"/>
                <a:cs typeface="Calibri" pitchFamily="34" charset="-120"/>
              </a:rPr>
              <a:t>DART routing</a:t>
            </a:r>
            <a:endParaRPr lang="en-US" sz="1350" dirty="0"/>
          </a:p>
        </p:txBody>
      </p:sp>
      <p:sp>
        <p:nvSpPr>
          <p:cNvPr id="26" name="Text 20"/>
          <p:cNvSpPr txBox="1"/>
          <p:nvPr/>
        </p:nvSpPr>
        <p:spPr>
          <a:xfrm>
            <a:off x="5209032" y="5367528"/>
            <a:ext cx="2493264" cy="384048"/>
          </a:xfrm>
          <a:prstGeom prst="rect">
            <a:avLst/>
          </a:prstGeom>
          <a:noFill/>
          <a:ln/>
        </p:spPr>
        <p:txBody>
          <a:bodyPr wrap="square" lIns="0" tIns="0" rIns="0" bIns="0" rtlCol="0" anchor="ctr"/>
          <a:lstStyle/>
          <a:p>
            <a:pPr indent="0" marL="0">
              <a:lnSpc>
                <a:spcPct val="95000"/>
              </a:lnSpc>
              <a:buNone/>
            </a:pPr>
            <a:r>
              <a:rPr lang="en-US" sz="1000" dirty="0">
                <a:solidFill>
                  <a:srgbClr val="CFCBEF"/>
                </a:solidFill>
                <a:latin typeface="Calibri" pitchFamily="34" charset="0"/>
                <a:ea typeface="Calibri" pitchFamily="34" charset="-122"/>
                <a:cs typeface="Calibri" pitchFamily="34" charset="-120"/>
              </a:rPr>
              <a:t>Diagnostic arbitration</a:t>
            </a:r>
            <a:endParaRPr lang="en-US" sz="1000" dirty="0"/>
          </a:p>
        </p:txBody>
      </p:sp>
      <p:sp>
        <p:nvSpPr>
          <p:cNvPr id="27" name="Shape 21"/>
          <p:cNvSpPr/>
          <p:nvPr/>
        </p:nvSpPr>
        <p:spPr>
          <a:xfrm>
            <a:off x="8095488" y="4800600"/>
            <a:ext cx="3535680" cy="1051560"/>
          </a:xfrm>
          <a:prstGeom prst="roundRect">
            <a:avLst>
              <a:gd name="adj" fmla="val 9565"/>
            </a:avLst>
          </a:prstGeom>
          <a:solidFill>
            <a:srgbClr val="FFFFFF">
              <a:alpha val="12000"/>
            </a:srgbClr>
          </a:solidFill>
          <a:ln w="12700">
            <a:solidFill>
              <a:srgbClr val="FFFFFF">
                <a:alpha val="18000"/>
              </a:srgbClr>
            </a:solidFill>
            <a:prstDash val="solid"/>
          </a:ln>
          <a:effectLst>
            <a:outerShdw sx="100000" sy="100000" kx="0" ky="0" algn="bl" rotWithShape="0" blurRad="177800" dist="63500" dir="5400000">
              <a:srgbClr val="0B0920">
                <a:alpha val="45000"/>
              </a:srgbClr>
            </a:outerShdw>
          </a:effectLst>
        </p:spPr>
      </p:sp>
      <p:sp>
        <p:nvSpPr>
          <p:cNvPr id="28" name="Shape 22"/>
          <p:cNvSpPr/>
          <p:nvPr/>
        </p:nvSpPr>
        <p:spPr>
          <a:xfrm>
            <a:off x="8314944" y="5074920"/>
            <a:ext cx="512064" cy="512064"/>
          </a:xfrm>
          <a:prstGeom prst="ellipse">
            <a:avLst/>
          </a:prstGeom>
          <a:solidFill>
            <a:srgbClr val="E0891C"/>
          </a:solidFill>
          <a:ln w="17780">
            <a:solidFill>
              <a:srgbClr val="F2A740"/>
            </a:solidFill>
            <a:prstDash val="solid"/>
          </a:ln>
          <a:effectLst>
            <a:outerShdw sx="100000" sy="100000" kx="0" ky="0" algn="bl" rotWithShape="0" blurRad="127000" dist="50800" dir="5400000">
              <a:srgbClr val="F2A740">
                <a:alpha val="45000"/>
              </a:srgbClr>
            </a:outerShdw>
          </a:effectLst>
        </p:spPr>
      </p:sp>
      <p:pic>
        <p:nvPicPr>
          <p:cNvPr id="29" name="Image 4" descr="assets/icons/bar_w.png">    </p:cNvPr>
          <p:cNvPicPr>
            <a:picLocks noChangeAspect="1"/>
          </p:cNvPicPr>
          <p:nvPr/>
        </p:nvPicPr>
        <p:blipFill>
          <a:blip r:embed="rId6"/>
          <a:stretch>
            <a:fillRect/>
          </a:stretch>
        </p:blipFill>
        <p:spPr>
          <a:xfrm>
            <a:off x="8458322" y="5218298"/>
            <a:ext cx="225308" cy="225308"/>
          </a:xfrm>
          <a:prstGeom prst="rect">
            <a:avLst/>
          </a:prstGeom>
        </p:spPr>
      </p:pic>
      <p:sp>
        <p:nvSpPr>
          <p:cNvPr id="30" name="Text 23"/>
          <p:cNvSpPr txBox="1"/>
          <p:nvPr/>
        </p:nvSpPr>
        <p:spPr>
          <a:xfrm>
            <a:off x="8973312" y="5056632"/>
            <a:ext cx="2493264" cy="292608"/>
          </a:xfrm>
          <a:prstGeom prst="rect">
            <a:avLst/>
          </a:prstGeom>
          <a:noFill/>
          <a:ln/>
        </p:spPr>
        <p:txBody>
          <a:bodyPr wrap="square" lIns="0" tIns="0" rIns="0" bIns="0" rtlCol="0" anchor="ctr"/>
          <a:lstStyle/>
          <a:p>
            <a:pPr indent="0" marL="0">
              <a:lnSpc>
                <a:spcPct val="100000"/>
              </a:lnSpc>
              <a:buNone/>
            </a:pPr>
            <a:r>
              <a:rPr lang="en-US" sz="1350" b="1" dirty="0">
                <a:solidFill>
                  <a:srgbClr val="FFFFFF"/>
                </a:solidFill>
                <a:latin typeface="Calibri" pitchFamily="34" charset="0"/>
                <a:ea typeface="Calibri" pitchFamily="34" charset="-122"/>
                <a:cs typeface="Calibri" pitchFamily="34" charset="-120"/>
              </a:rPr>
              <a:t>TAWOS</a:t>
            </a:r>
            <a:endParaRPr lang="en-US" sz="1350" dirty="0"/>
          </a:p>
        </p:txBody>
      </p:sp>
      <p:sp>
        <p:nvSpPr>
          <p:cNvPr id="31" name="Text 24"/>
          <p:cNvSpPr txBox="1"/>
          <p:nvPr/>
        </p:nvSpPr>
        <p:spPr>
          <a:xfrm>
            <a:off x="8973312" y="5367528"/>
            <a:ext cx="2493264" cy="384048"/>
          </a:xfrm>
          <a:prstGeom prst="rect">
            <a:avLst/>
          </a:prstGeom>
          <a:noFill/>
          <a:ln/>
        </p:spPr>
        <p:txBody>
          <a:bodyPr wrap="square" lIns="0" tIns="0" rIns="0" bIns="0" rtlCol="0" anchor="ctr"/>
          <a:lstStyle/>
          <a:p>
            <a:pPr indent="0" marL="0">
              <a:lnSpc>
                <a:spcPct val="95000"/>
              </a:lnSpc>
              <a:buNone/>
            </a:pPr>
            <a:r>
              <a:rPr lang="en-US" sz="1000" dirty="0">
                <a:solidFill>
                  <a:srgbClr val="CFCBEF"/>
                </a:solidFill>
                <a:latin typeface="Calibri" pitchFamily="34" charset="0"/>
                <a:ea typeface="Calibri" pitchFamily="34" charset="-122"/>
                <a:cs typeface="Calibri" pitchFamily="34" charset="-120"/>
              </a:rPr>
              <a:t>Validation dataset</a:t>
            </a:r>
            <a:endParaRPr lang="en-US" sz="1000" dirty="0"/>
          </a:p>
        </p:txBody>
      </p:sp>
      <p:sp>
        <p:nvSpPr>
          <p:cNvPr id="32" name="Text 25"/>
          <p:cNvSpPr txBox="1"/>
          <p:nvPr/>
        </p:nvSpPr>
        <p:spPr>
          <a:xfrm>
            <a:off x="603504" y="6528816"/>
            <a:ext cx="8229600" cy="256032"/>
          </a:xfrm>
          <a:prstGeom prst="rect">
            <a:avLst/>
          </a:prstGeom>
          <a:noFill/>
          <a:ln/>
        </p:spPr>
        <p:txBody>
          <a:bodyPr wrap="square" lIns="0" tIns="0" rIns="0" bIns="0" rtlCol="0" anchor="ctr"/>
          <a:lstStyle/>
          <a:p>
            <a:pPr indent="0" marL="0">
              <a:lnSpc>
                <a:spcPct val="100000"/>
              </a:lnSpc>
              <a:buNone/>
            </a:pPr>
            <a:r>
              <a:rPr lang="en-US" sz="900" b="1" dirty="0">
                <a:solidFill>
                  <a:srgbClr val="9C97CC"/>
                </a:solidFill>
                <a:latin typeface="Calibri" pitchFamily="34" charset="0"/>
                <a:ea typeface="Calibri" pitchFamily="34" charset="-122"/>
                <a:cs typeface="Calibri" pitchFamily="34" charset="-120"/>
              </a:rPr>
              <a:t>IT23152878  |  Rajapaksha R W V C V  |  J26-SE-363</a:t>
            </a:r>
            <a:endParaRPr lang="en-US" sz="900" dirty="0"/>
          </a:p>
        </p:txBody>
      </p:sp>
      <p:sp>
        <p:nvSpPr>
          <p:cNvPr id="33" name="Text 26"/>
          <p:cNvSpPr txBox="1"/>
          <p:nvPr/>
        </p:nvSpPr>
        <p:spPr>
          <a:xfrm>
            <a:off x="10972800" y="6528816"/>
            <a:ext cx="640080" cy="256032"/>
          </a:xfrm>
          <a:prstGeom prst="rect">
            <a:avLst/>
          </a:prstGeom>
          <a:noFill/>
          <a:ln/>
        </p:spPr>
        <p:txBody>
          <a:bodyPr wrap="square" lIns="0" tIns="0" rIns="0" bIns="0" rtlCol="0" anchor="ctr"/>
          <a:lstStyle/>
          <a:p>
            <a:pPr algn="r" indent="0" marL="0">
              <a:lnSpc>
                <a:spcPct val="100000"/>
              </a:lnSpc>
              <a:buNone/>
            </a:pPr>
            <a:r>
              <a:rPr lang="en-US" sz="850" dirty="0">
                <a:solidFill>
                  <a:srgbClr val="726CA6"/>
                </a:solidFill>
                <a:latin typeface="Calibri" pitchFamily="34" charset="0"/>
                <a:ea typeface="Calibri" pitchFamily="34" charset="-122"/>
                <a:cs typeface="Calibri" pitchFamily="34" charset="-120"/>
              </a:rPr>
              <a:t>8</a:t>
            </a:r>
            <a:endParaRPr lang="en-US" sz="8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Shape 0"/>
          <p:cNvSpPr/>
          <p:nvPr/>
        </p:nvSpPr>
        <p:spPr>
          <a:xfrm>
            <a:off x="10515600" y="411480"/>
            <a:ext cx="1143000" cy="1143000"/>
          </a:xfrm>
          <a:prstGeom prst="ellipse">
            <a:avLst/>
          </a:prstGeom>
          <a:solidFill>
            <a:srgbClr val="1A1640"/>
          </a:solidFill>
          <a:ln w="25400">
            <a:solidFill>
              <a:srgbClr val="7E6CF4"/>
            </a:solidFill>
            <a:prstDash val="solid"/>
          </a:ln>
          <a:effectLst>
            <a:outerShdw sx="100000" sy="100000" kx="0" ky="0" algn="bl" rotWithShape="0" blurRad="127000" dist="50800" dir="5400000">
              <a:srgbClr val="4A3DC2">
                <a:alpha val="45000"/>
              </a:srgbClr>
            </a:outerShdw>
          </a:effectLst>
        </p:spPr>
      </p:sp>
      <p:pic>
        <p:nvPicPr>
          <p:cNvPr id="3" name="Image 0" descr="assets/rajapaksha.jpg">    </p:cNvPr>
          <p:cNvPicPr>
            <a:picLocks noChangeAspect="1"/>
          </p:cNvPicPr>
          <p:nvPr/>
        </p:nvPicPr>
        <p:blipFill>
          <a:blip r:embed="rId2"/>
          <a:stretch>
            <a:fillRect/>
          </a:stretch>
        </p:blipFill>
        <p:spPr>
          <a:xfrm>
            <a:off x="10561320" y="457200"/>
            <a:ext cx="1051560" cy="1051560"/>
          </a:xfrm>
          <a:prstGeom prst="ellipse">
            <a:avLst/>
          </a:prstGeom>
        </p:spPr>
      </p:pic>
      <p:sp>
        <p:nvSpPr>
          <p:cNvPr id="4" name="Text 1"/>
          <p:cNvSpPr txBox="1"/>
          <p:nvPr/>
        </p:nvSpPr>
        <p:spPr>
          <a:xfrm>
            <a:off x="603504" y="493776"/>
            <a:ext cx="10058400" cy="274320"/>
          </a:xfrm>
          <a:prstGeom prst="rect">
            <a:avLst/>
          </a:prstGeom>
          <a:noFill/>
          <a:ln/>
        </p:spPr>
        <p:txBody>
          <a:bodyPr wrap="square" lIns="0" tIns="0" rIns="0" bIns="0" rtlCol="0" anchor="ctr"/>
          <a:lstStyle/>
          <a:p>
            <a:pPr indent="0" marL="0">
              <a:lnSpc>
                <a:spcPct val="100000"/>
              </a:lnSpc>
              <a:buNone/>
            </a:pPr>
            <a:r>
              <a:rPr lang="en-US" sz="1100" b="1" spc="260" kern="0" dirty="0">
                <a:solidFill>
                  <a:srgbClr val="9FE7C9"/>
                </a:solidFill>
                <a:latin typeface="Calibri" pitchFamily="34" charset="0"/>
                <a:ea typeface="Calibri" pitchFamily="34" charset="-122"/>
                <a:cs typeface="Calibri" pitchFamily="34" charset="-120"/>
              </a:rPr>
              <a:t>REQUIREMENTS &amp; PLANNING  ·  COMPONENT OVERVIEW</a:t>
            </a:r>
            <a:endParaRPr lang="en-US" sz="1100" dirty="0"/>
          </a:p>
        </p:txBody>
      </p:sp>
      <p:sp>
        <p:nvSpPr>
          <p:cNvPr id="5" name="Text 2"/>
          <p:cNvSpPr txBox="1"/>
          <p:nvPr/>
        </p:nvSpPr>
        <p:spPr>
          <a:xfrm>
            <a:off x="566928" y="749808"/>
            <a:ext cx="9692640" cy="777240"/>
          </a:xfrm>
          <a:prstGeom prst="rect">
            <a:avLst/>
          </a:prstGeom>
          <a:noFill/>
          <a:ln/>
        </p:spPr>
        <p:txBody>
          <a:bodyPr wrap="square" lIns="0" tIns="0" rIns="0" bIns="0" rtlCol="0" anchor="ctr"/>
          <a:lstStyle/>
          <a:p>
            <a:pPr indent="0" marL="0">
              <a:lnSpc>
                <a:spcPct val="98000"/>
              </a:lnSpc>
              <a:buNone/>
            </a:pPr>
            <a:r>
              <a:rPr lang="en-US" sz="2200" b="1" dirty="0">
                <a:solidFill>
                  <a:srgbClr val="FFFFFF"/>
                </a:solidFill>
                <a:latin typeface="Calibri" pitchFamily="34" charset="0"/>
                <a:ea typeface="Calibri" pitchFamily="34" charset="-122"/>
                <a:cs typeface="Calibri" pitchFamily="34" charset="-120"/>
              </a:rPr>
              <a:t>Requirement Analysis &amp; Intelligent Project Planning</a:t>
            </a:r>
            <a:endParaRPr lang="en-US" sz="2200" dirty="0"/>
          </a:p>
        </p:txBody>
      </p:sp>
      <p:sp>
        <p:nvSpPr>
          <p:cNvPr id="6" name="Shape 3"/>
          <p:cNvSpPr/>
          <p:nvPr/>
        </p:nvSpPr>
        <p:spPr>
          <a:xfrm>
            <a:off x="566928" y="2011680"/>
            <a:ext cx="5440680" cy="1847088"/>
          </a:xfrm>
          <a:prstGeom prst="roundRect">
            <a:avLst>
              <a:gd name="adj" fmla="val 5446"/>
            </a:avLst>
          </a:prstGeom>
          <a:solidFill>
            <a:srgbClr val="FFFFFF">
              <a:alpha val="12000"/>
            </a:srgbClr>
          </a:solidFill>
          <a:ln w="12700">
            <a:solidFill>
              <a:srgbClr val="FFFFFF">
                <a:alpha val="18000"/>
              </a:srgbClr>
            </a:solidFill>
            <a:prstDash val="solid"/>
          </a:ln>
          <a:effectLst>
            <a:outerShdw sx="100000" sy="100000" kx="0" ky="0" algn="bl" rotWithShape="0" blurRad="177800" dist="63500" dir="5400000">
              <a:srgbClr val="0B0920">
                <a:alpha val="45000"/>
              </a:srgbClr>
            </a:outerShdw>
          </a:effectLst>
        </p:spPr>
      </p:sp>
      <p:sp>
        <p:nvSpPr>
          <p:cNvPr id="7" name="Shape 4"/>
          <p:cNvSpPr/>
          <p:nvPr/>
        </p:nvSpPr>
        <p:spPr>
          <a:xfrm>
            <a:off x="932688" y="1755648"/>
            <a:ext cx="2926080" cy="512064"/>
          </a:xfrm>
          <a:prstGeom prst="roundRect">
            <a:avLst>
              <a:gd name="adj" fmla="val 50000"/>
            </a:avLst>
          </a:prstGeom>
          <a:solidFill>
            <a:srgbClr val="7E6CF4"/>
          </a:solidFill>
          <a:ln/>
          <a:effectLst>
            <a:outerShdw sx="100000" sy="100000" kx="0" ky="0" algn="bl" rotWithShape="0" blurRad="127000" dist="50800" dir="5400000">
              <a:srgbClr val="7E6CF4">
                <a:alpha val="45000"/>
              </a:srgbClr>
            </a:outerShdw>
          </a:effectLst>
        </p:spPr>
      </p:sp>
      <p:sp>
        <p:nvSpPr>
          <p:cNvPr id="8" name="Shape 5"/>
          <p:cNvSpPr/>
          <p:nvPr/>
        </p:nvSpPr>
        <p:spPr>
          <a:xfrm>
            <a:off x="676656" y="1682496"/>
            <a:ext cx="676656" cy="676656"/>
          </a:xfrm>
          <a:prstGeom prst="ellipse">
            <a:avLst/>
          </a:prstGeom>
          <a:solidFill>
            <a:srgbClr val="5A47CE"/>
          </a:solidFill>
          <a:ln w="15240">
            <a:solidFill>
              <a:srgbClr val="FFFFFF">
                <a:alpha val="38000"/>
              </a:srgbClr>
            </a:solidFill>
            <a:prstDash val="solid"/>
          </a:ln>
          <a:effectLst>
            <a:outerShdw sx="100000" sy="100000" kx="0" ky="0" algn="bl" rotWithShape="0" blurRad="127000" dist="50800" dir="5400000">
              <a:srgbClr val="5A47CE">
                <a:alpha val="45000"/>
              </a:srgbClr>
            </a:outerShdw>
          </a:effectLst>
        </p:spPr>
      </p:sp>
      <p:pic>
        <p:nvPicPr>
          <p:cNvPr id="9" name="Image 1" descr="assets/icons/target_w.png">    </p:cNvPr>
          <p:cNvPicPr>
            <a:picLocks noChangeAspect="1"/>
          </p:cNvPicPr>
          <p:nvPr/>
        </p:nvPicPr>
        <p:blipFill>
          <a:blip r:embed="rId3"/>
          <a:stretch>
            <a:fillRect/>
          </a:stretch>
        </p:blipFill>
        <p:spPr>
          <a:xfrm>
            <a:off x="866120" y="1871960"/>
            <a:ext cx="297729" cy="297729"/>
          </a:xfrm>
          <a:prstGeom prst="rect">
            <a:avLst/>
          </a:prstGeom>
        </p:spPr>
      </p:pic>
      <p:sp>
        <p:nvSpPr>
          <p:cNvPr id="10" name="Text 6"/>
          <p:cNvSpPr txBox="1"/>
          <p:nvPr/>
        </p:nvSpPr>
        <p:spPr>
          <a:xfrm>
            <a:off x="1389888" y="1755648"/>
            <a:ext cx="2432304" cy="512064"/>
          </a:xfrm>
          <a:prstGeom prst="rect">
            <a:avLst/>
          </a:prstGeom>
          <a:noFill/>
          <a:ln/>
        </p:spPr>
        <p:txBody>
          <a:bodyPr wrap="square" lIns="0" tIns="0" rIns="0" bIns="0" rtlCol="0" anchor="ctr"/>
          <a:lstStyle/>
          <a:p>
            <a:pPr indent="0" marL="0">
              <a:lnSpc>
                <a:spcPct val="100000"/>
              </a:lnSpc>
              <a:buNone/>
            </a:pPr>
            <a:r>
              <a:rPr lang="en-US" sz="1150" b="1" dirty="0">
                <a:solidFill>
                  <a:srgbClr val="FFFFFF"/>
                </a:solidFill>
                <a:latin typeface="Calibri" pitchFamily="34" charset="0"/>
                <a:ea typeface="Calibri" pitchFamily="34" charset="-122"/>
                <a:cs typeface="Calibri" pitchFamily="34" charset="-120"/>
              </a:rPr>
              <a:t>Addresses the sub-problem</a:t>
            </a:r>
            <a:endParaRPr lang="en-US" sz="1150" dirty="0"/>
          </a:p>
        </p:txBody>
      </p:sp>
      <p:sp>
        <p:nvSpPr>
          <p:cNvPr id="11" name="Text 7"/>
          <p:cNvSpPr txBox="1"/>
          <p:nvPr/>
        </p:nvSpPr>
        <p:spPr>
          <a:xfrm>
            <a:off x="822960" y="2596896"/>
            <a:ext cx="4946904" cy="1097280"/>
          </a:xfrm>
          <a:prstGeom prst="rect">
            <a:avLst/>
          </a:prstGeom>
          <a:noFill/>
          <a:ln/>
        </p:spPr>
        <p:txBody>
          <a:bodyPr wrap="square" lIns="0" tIns="0" rIns="0" bIns="0" rtlCol="0" anchor="ctr"/>
          <a:lstStyle/>
          <a:p>
            <a:pPr indent="0" marL="0">
              <a:lnSpc>
                <a:spcPct val="102000"/>
              </a:lnSpc>
              <a:buNone/>
            </a:pPr>
            <a:r>
              <a:rPr lang="en-US" sz="1100" dirty="0">
                <a:solidFill>
                  <a:srgbClr val="CFCBEF"/>
                </a:solidFill>
                <a:latin typeface="Calibri" pitchFamily="34" charset="0"/>
                <a:ea typeface="Calibri" pitchFamily="34" charset="-122"/>
                <a:cs typeface="Calibri" pitchFamily="34" charset="-120"/>
              </a:rPr>
              <a:t>Students write untestable requirements and plan poorly. Autonomous agents analyse requirement quality, decompose work and estimate effort to guide planning.</a:t>
            </a:r>
            <a:endParaRPr lang="en-US" sz="1100" dirty="0"/>
          </a:p>
        </p:txBody>
      </p:sp>
      <p:sp>
        <p:nvSpPr>
          <p:cNvPr id="12" name="Shape 8"/>
          <p:cNvSpPr/>
          <p:nvPr/>
        </p:nvSpPr>
        <p:spPr>
          <a:xfrm>
            <a:off x="6208776" y="2011680"/>
            <a:ext cx="5440680" cy="1847088"/>
          </a:xfrm>
          <a:prstGeom prst="roundRect">
            <a:avLst>
              <a:gd name="adj" fmla="val 5446"/>
            </a:avLst>
          </a:prstGeom>
          <a:solidFill>
            <a:srgbClr val="FFFFFF">
              <a:alpha val="12000"/>
            </a:srgbClr>
          </a:solidFill>
          <a:ln w="12700">
            <a:solidFill>
              <a:srgbClr val="FFFFFF">
                <a:alpha val="18000"/>
              </a:srgbClr>
            </a:solidFill>
            <a:prstDash val="solid"/>
          </a:ln>
          <a:effectLst>
            <a:outerShdw sx="100000" sy="100000" kx="0" ky="0" algn="bl" rotWithShape="0" blurRad="177800" dist="63500" dir="5400000">
              <a:srgbClr val="0B0920">
                <a:alpha val="45000"/>
              </a:srgbClr>
            </a:outerShdw>
          </a:effectLst>
        </p:spPr>
      </p:sp>
      <p:sp>
        <p:nvSpPr>
          <p:cNvPr id="13" name="Shape 9"/>
          <p:cNvSpPr/>
          <p:nvPr/>
        </p:nvSpPr>
        <p:spPr>
          <a:xfrm>
            <a:off x="6574536" y="1755648"/>
            <a:ext cx="2589581" cy="512064"/>
          </a:xfrm>
          <a:prstGeom prst="roundRect">
            <a:avLst>
              <a:gd name="adj" fmla="val 50000"/>
            </a:avLst>
          </a:prstGeom>
          <a:solidFill>
            <a:srgbClr val="16C78C"/>
          </a:solidFill>
          <a:ln/>
          <a:effectLst>
            <a:outerShdw sx="100000" sy="100000" kx="0" ky="0" algn="bl" rotWithShape="0" blurRad="127000" dist="50800" dir="5400000">
              <a:srgbClr val="16C78C">
                <a:alpha val="45000"/>
              </a:srgbClr>
            </a:outerShdw>
          </a:effectLst>
        </p:spPr>
      </p:sp>
      <p:sp>
        <p:nvSpPr>
          <p:cNvPr id="14" name="Shape 10"/>
          <p:cNvSpPr/>
          <p:nvPr/>
        </p:nvSpPr>
        <p:spPr>
          <a:xfrm>
            <a:off x="6318504" y="1682496"/>
            <a:ext cx="676656" cy="676656"/>
          </a:xfrm>
          <a:prstGeom prst="ellipse">
            <a:avLst/>
          </a:prstGeom>
          <a:solidFill>
            <a:srgbClr val="0E9E6E"/>
          </a:solidFill>
          <a:ln w="15240">
            <a:solidFill>
              <a:srgbClr val="FFFFFF">
                <a:alpha val="38000"/>
              </a:srgbClr>
            </a:solidFill>
            <a:prstDash val="solid"/>
          </a:ln>
          <a:effectLst>
            <a:outerShdw sx="100000" sy="100000" kx="0" ky="0" algn="bl" rotWithShape="0" blurRad="127000" dist="50800" dir="5400000">
              <a:srgbClr val="0E9E6E">
                <a:alpha val="45000"/>
              </a:srgbClr>
            </a:outerShdw>
          </a:effectLst>
        </p:spPr>
      </p:sp>
      <p:pic>
        <p:nvPicPr>
          <p:cNvPr id="15" name="Image 2" descr="assets/icons/checksq_w.png">    </p:cNvPr>
          <p:cNvPicPr>
            <a:picLocks noChangeAspect="1"/>
          </p:cNvPicPr>
          <p:nvPr/>
        </p:nvPicPr>
        <p:blipFill>
          <a:blip r:embed="rId4"/>
          <a:stretch>
            <a:fillRect/>
          </a:stretch>
        </p:blipFill>
        <p:spPr>
          <a:xfrm>
            <a:off x="6507968" y="1871960"/>
            <a:ext cx="297729" cy="297729"/>
          </a:xfrm>
          <a:prstGeom prst="rect">
            <a:avLst/>
          </a:prstGeom>
        </p:spPr>
      </p:pic>
      <p:sp>
        <p:nvSpPr>
          <p:cNvPr id="16" name="Text 11"/>
          <p:cNvSpPr txBox="1"/>
          <p:nvPr/>
        </p:nvSpPr>
        <p:spPr>
          <a:xfrm>
            <a:off x="7031736" y="1755648"/>
            <a:ext cx="2095805" cy="512064"/>
          </a:xfrm>
          <a:prstGeom prst="rect">
            <a:avLst/>
          </a:prstGeom>
          <a:noFill/>
          <a:ln/>
        </p:spPr>
        <p:txBody>
          <a:bodyPr wrap="square" lIns="0" tIns="0" rIns="0" bIns="0" rtlCol="0" anchor="ctr"/>
          <a:lstStyle/>
          <a:p>
            <a:pPr indent="0" marL="0">
              <a:lnSpc>
                <a:spcPct val="100000"/>
              </a:lnSpc>
              <a:buNone/>
            </a:pPr>
            <a:r>
              <a:rPr lang="en-US" sz="1150" b="1" dirty="0">
                <a:solidFill>
                  <a:srgbClr val="FFFFFF"/>
                </a:solidFill>
                <a:latin typeface="Calibri" pitchFamily="34" charset="0"/>
                <a:ea typeface="Calibri" pitchFamily="34" charset="-122"/>
                <a:cs typeface="Calibri" pitchFamily="34" charset="-120"/>
              </a:rPr>
              <a:t>User requirements met</a:t>
            </a:r>
            <a:endParaRPr lang="en-US" sz="1150" dirty="0"/>
          </a:p>
        </p:txBody>
      </p:sp>
      <p:pic>
        <p:nvPicPr>
          <p:cNvPr id="17" name="Image 3" descr="assets/icons/check_w.png">    </p:cNvPr>
          <p:cNvPicPr>
            <a:picLocks noChangeAspect="1"/>
          </p:cNvPicPr>
          <p:nvPr/>
        </p:nvPicPr>
        <p:blipFill>
          <a:blip r:embed="rId5"/>
          <a:stretch>
            <a:fillRect/>
          </a:stretch>
        </p:blipFill>
        <p:spPr>
          <a:xfrm>
            <a:off x="6464808" y="2615184"/>
            <a:ext cx="155448" cy="155448"/>
          </a:xfrm>
          <a:prstGeom prst="rect">
            <a:avLst/>
          </a:prstGeom>
        </p:spPr>
      </p:pic>
      <p:sp>
        <p:nvSpPr>
          <p:cNvPr id="18" name="Text 12"/>
          <p:cNvSpPr txBox="1"/>
          <p:nvPr/>
        </p:nvSpPr>
        <p:spPr>
          <a:xfrm>
            <a:off x="6702552" y="2569464"/>
            <a:ext cx="4690872" cy="365760"/>
          </a:xfrm>
          <a:prstGeom prst="rect">
            <a:avLst/>
          </a:prstGeom>
          <a:noFill/>
          <a:ln/>
        </p:spPr>
        <p:txBody>
          <a:bodyPr wrap="square" lIns="0" tIns="0" rIns="0" bIns="0" rtlCol="0" anchor="ctr"/>
          <a:lstStyle/>
          <a:p>
            <a:pPr indent="0" marL="0">
              <a:lnSpc>
                <a:spcPct val="95000"/>
              </a:lnSpc>
              <a:buNone/>
            </a:pPr>
            <a:r>
              <a:rPr lang="en-US" sz="1050" dirty="0">
                <a:solidFill>
                  <a:srgbClr val="E7E4FA"/>
                </a:solidFill>
                <a:latin typeface="Calibri" pitchFamily="34" charset="0"/>
                <a:ea typeface="Calibri" pitchFamily="34" charset="-122"/>
                <a:cs typeface="Calibri" pitchFamily="34" charset="-120"/>
              </a:rPr>
              <a:t>Testable, unambiguous requirement checks</a:t>
            </a:r>
            <a:endParaRPr lang="en-US" sz="1050" dirty="0"/>
          </a:p>
        </p:txBody>
      </p:sp>
      <p:pic>
        <p:nvPicPr>
          <p:cNvPr id="19" name="Image 4" descr="assets/icons/check_w.png">    </p:cNvPr>
          <p:cNvPicPr>
            <a:picLocks noChangeAspect="1"/>
          </p:cNvPicPr>
          <p:nvPr/>
        </p:nvPicPr>
        <p:blipFill>
          <a:blip r:embed="rId6"/>
          <a:stretch>
            <a:fillRect/>
          </a:stretch>
        </p:blipFill>
        <p:spPr>
          <a:xfrm>
            <a:off x="6464808" y="2999232"/>
            <a:ext cx="155448" cy="155448"/>
          </a:xfrm>
          <a:prstGeom prst="rect">
            <a:avLst/>
          </a:prstGeom>
        </p:spPr>
      </p:pic>
      <p:sp>
        <p:nvSpPr>
          <p:cNvPr id="20" name="Text 13"/>
          <p:cNvSpPr txBox="1"/>
          <p:nvPr/>
        </p:nvSpPr>
        <p:spPr>
          <a:xfrm>
            <a:off x="6702552" y="2953512"/>
            <a:ext cx="4690872" cy="365760"/>
          </a:xfrm>
          <a:prstGeom prst="rect">
            <a:avLst/>
          </a:prstGeom>
          <a:noFill/>
          <a:ln/>
        </p:spPr>
        <p:txBody>
          <a:bodyPr wrap="square" lIns="0" tIns="0" rIns="0" bIns="0" rtlCol="0" anchor="ctr"/>
          <a:lstStyle/>
          <a:p>
            <a:pPr indent="0" marL="0">
              <a:lnSpc>
                <a:spcPct val="95000"/>
              </a:lnSpc>
              <a:buNone/>
            </a:pPr>
            <a:r>
              <a:rPr lang="en-US" sz="1050" dirty="0">
                <a:solidFill>
                  <a:srgbClr val="E7E4FA"/>
                </a:solidFill>
                <a:latin typeface="Calibri" pitchFamily="34" charset="0"/>
                <a:ea typeface="Calibri" pitchFamily="34" charset="-122"/>
                <a:cs typeface="Calibri" pitchFamily="34" charset="-120"/>
              </a:rPr>
              <a:t>Structured work decomposition</a:t>
            </a:r>
            <a:endParaRPr lang="en-US" sz="1050" dirty="0"/>
          </a:p>
        </p:txBody>
      </p:sp>
      <p:pic>
        <p:nvPicPr>
          <p:cNvPr id="21" name="Image 5" descr="assets/icons/check_w.png">    </p:cNvPr>
          <p:cNvPicPr>
            <a:picLocks noChangeAspect="1"/>
          </p:cNvPicPr>
          <p:nvPr/>
        </p:nvPicPr>
        <p:blipFill>
          <a:blip r:embed="rId7"/>
          <a:stretch>
            <a:fillRect/>
          </a:stretch>
        </p:blipFill>
        <p:spPr>
          <a:xfrm>
            <a:off x="6464808" y="3383280"/>
            <a:ext cx="155448" cy="155448"/>
          </a:xfrm>
          <a:prstGeom prst="rect">
            <a:avLst/>
          </a:prstGeom>
        </p:spPr>
      </p:pic>
      <p:sp>
        <p:nvSpPr>
          <p:cNvPr id="22" name="Text 14"/>
          <p:cNvSpPr txBox="1"/>
          <p:nvPr/>
        </p:nvSpPr>
        <p:spPr>
          <a:xfrm>
            <a:off x="6702552" y="3337560"/>
            <a:ext cx="4690872" cy="365760"/>
          </a:xfrm>
          <a:prstGeom prst="rect">
            <a:avLst/>
          </a:prstGeom>
          <a:noFill/>
          <a:ln/>
        </p:spPr>
        <p:txBody>
          <a:bodyPr wrap="square" lIns="0" tIns="0" rIns="0" bIns="0" rtlCol="0" anchor="ctr"/>
          <a:lstStyle/>
          <a:p>
            <a:pPr indent="0" marL="0">
              <a:lnSpc>
                <a:spcPct val="95000"/>
              </a:lnSpc>
              <a:buNone/>
            </a:pPr>
            <a:r>
              <a:rPr lang="en-US" sz="1050" dirty="0">
                <a:solidFill>
                  <a:srgbClr val="E7E4FA"/>
                </a:solidFill>
                <a:latin typeface="Calibri" pitchFamily="34" charset="0"/>
                <a:ea typeface="Calibri" pitchFamily="34" charset="-122"/>
                <a:cs typeface="Calibri" pitchFamily="34" charset="-120"/>
              </a:rPr>
              <a:t>Effort / story-point estimation to industry norms</a:t>
            </a:r>
            <a:endParaRPr lang="en-US" sz="1050" dirty="0"/>
          </a:p>
        </p:txBody>
      </p:sp>
      <p:sp>
        <p:nvSpPr>
          <p:cNvPr id="23" name="Shape 15"/>
          <p:cNvSpPr/>
          <p:nvPr/>
        </p:nvSpPr>
        <p:spPr>
          <a:xfrm>
            <a:off x="566928" y="4315968"/>
            <a:ext cx="5440680" cy="1847088"/>
          </a:xfrm>
          <a:prstGeom prst="roundRect">
            <a:avLst>
              <a:gd name="adj" fmla="val 5446"/>
            </a:avLst>
          </a:prstGeom>
          <a:solidFill>
            <a:srgbClr val="FFFFFF">
              <a:alpha val="12000"/>
            </a:srgbClr>
          </a:solidFill>
          <a:ln w="12700">
            <a:solidFill>
              <a:srgbClr val="FFFFFF">
                <a:alpha val="18000"/>
              </a:srgbClr>
            </a:solidFill>
            <a:prstDash val="solid"/>
          </a:ln>
          <a:effectLst>
            <a:outerShdw sx="100000" sy="100000" kx="0" ky="0" algn="bl" rotWithShape="0" blurRad="177800" dist="63500" dir="5400000">
              <a:srgbClr val="0B0920">
                <a:alpha val="45000"/>
              </a:srgbClr>
            </a:outerShdw>
          </a:effectLst>
        </p:spPr>
      </p:sp>
      <p:sp>
        <p:nvSpPr>
          <p:cNvPr id="24" name="Shape 16"/>
          <p:cNvSpPr/>
          <p:nvPr/>
        </p:nvSpPr>
        <p:spPr>
          <a:xfrm>
            <a:off x="932688" y="4059936"/>
            <a:ext cx="3514954" cy="512064"/>
          </a:xfrm>
          <a:prstGeom prst="roundRect">
            <a:avLst>
              <a:gd name="adj" fmla="val 50000"/>
            </a:avLst>
          </a:prstGeom>
          <a:solidFill>
            <a:srgbClr val="F2A740"/>
          </a:solidFill>
          <a:ln/>
          <a:effectLst>
            <a:outerShdw sx="100000" sy="100000" kx="0" ky="0" algn="bl" rotWithShape="0" blurRad="127000" dist="50800" dir="5400000">
              <a:srgbClr val="F2A740">
                <a:alpha val="45000"/>
              </a:srgbClr>
            </a:outerShdw>
          </a:effectLst>
        </p:spPr>
      </p:sp>
      <p:sp>
        <p:nvSpPr>
          <p:cNvPr id="25" name="Shape 17"/>
          <p:cNvSpPr/>
          <p:nvPr/>
        </p:nvSpPr>
        <p:spPr>
          <a:xfrm>
            <a:off x="676656" y="3986784"/>
            <a:ext cx="676656" cy="676656"/>
          </a:xfrm>
          <a:prstGeom prst="ellipse">
            <a:avLst/>
          </a:prstGeom>
          <a:solidFill>
            <a:srgbClr val="E0891C"/>
          </a:solidFill>
          <a:ln w="15240">
            <a:solidFill>
              <a:srgbClr val="FFFFFF">
                <a:alpha val="38000"/>
              </a:srgbClr>
            </a:solidFill>
            <a:prstDash val="solid"/>
          </a:ln>
          <a:effectLst>
            <a:outerShdw sx="100000" sy="100000" kx="0" ky="0" algn="bl" rotWithShape="0" blurRad="127000" dist="50800" dir="5400000">
              <a:srgbClr val="E0891C">
                <a:alpha val="45000"/>
              </a:srgbClr>
            </a:outerShdw>
          </a:effectLst>
        </p:spPr>
      </p:sp>
      <p:pic>
        <p:nvPicPr>
          <p:cNvPr id="26" name="Image 6" descr="assets/icons/award_w.png">    </p:cNvPr>
          <p:cNvPicPr>
            <a:picLocks noChangeAspect="1"/>
          </p:cNvPicPr>
          <p:nvPr/>
        </p:nvPicPr>
        <p:blipFill>
          <a:blip r:embed="rId8"/>
          <a:stretch>
            <a:fillRect/>
          </a:stretch>
        </p:blipFill>
        <p:spPr>
          <a:xfrm>
            <a:off x="866120" y="4176248"/>
            <a:ext cx="297729" cy="297729"/>
          </a:xfrm>
          <a:prstGeom prst="rect">
            <a:avLst/>
          </a:prstGeom>
        </p:spPr>
      </p:pic>
      <p:sp>
        <p:nvSpPr>
          <p:cNvPr id="27" name="Text 18"/>
          <p:cNvSpPr txBox="1"/>
          <p:nvPr/>
        </p:nvSpPr>
        <p:spPr>
          <a:xfrm>
            <a:off x="1389888" y="4059936"/>
            <a:ext cx="3021178" cy="512064"/>
          </a:xfrm>
          <a:prstGeom prst="rect">
            <a:avLst/>
          </a:prstGeom>
          <a:noFill/>
          <a:ln/>
        </p:spPr>
        <p:txBody>
          <a:bodyPr wrap="square" lIns="0" tIns="0" rIns="0" bIns="0" rtlCol="0" anchor="ctr"/>
          <a:lstStyle/>
          <a:p>
            <a:pPr indent="0" marL="0">
              <a:lnSpc>
                <a:spcPct val="100000"/>
              </a:lnSpc>
              <a:buNone/>
            </a:pPr>
            <a:r>
              <a:rPr lang="en-US" sz="1150" b="1" dirty="0">
                <a:solidFill>
                  <a:srgbClr val="FFFFFF"/>
                </a:solidFill>
                <a:latin typeface="Calibri" pitchFamily="34" charset="0"/>
                <a:ea typeface="Calibri" pitchFamily="34" charset="-122"/>
                <a:cs typeface="Calibri" pitchFamily="34" charset="-120"/>
              </a:rPr>
              <a:t>Design excellence &amp; contribution</a:t>
            </a:r>
            <a:endParaRPr lang="en-US" sz="1150" dirty="0"/>
          </a:p>
        </p:txBody>
      </p:sp>
      <p:pic>
        <p:nvPicPr>
          <p:cNvPr id="28" name="Image 7" descr="assets/icons/check_w.png">    </p:cNvPr>
          <p:cNvPicPr>
            <a:picLocks noChangeAspect="1"/>
          </p:cNvPicPr>
          <p:nvPr/>
        </p:nvPicPr>
        <p:blipFill>
          <a:blip r:embed="rId9"/>
          <a:stretch>
            <a:fillRect/>
          </a:stretch>
        </p:blipFill>
        <p:spPr>
          <a:xfrm>
            <a:off x="822960" y="4919472"/>
            <a:ext cx="155448" cy="155448"/>
          </a:xfrm>
          <a:prstGeom prst="rect">
            <a:avLst/>
          </a:prstGeom>
        </p:spPr>
      </p:pic>
      <p:sp>
        <p:nvSpPr>
          <p:cNvPr id="29" name="Text 19"/>
          <p:cNvSpPr txBox="1"/>
          <p:nvPr/>
        </p:nvSpPr>
        <p:spPr>
          <a:xfrm>
            <a:off x="1060704" y="4873752"/>
            <a:ext cx="4690872" cy="365760"/>
          </a:xfrm>
          <a:prstGeom prst="rect">
            <a:avLst/>
          </a:prstGeom>
          <a:noFill/>
          <a:ln/>
        </p:spPr>
        <p:txBody>
          <a:bodyPr wrap="square" lIns="0" tIns="0" rIns="0" bIns="0" rtlCol="0" anchor="ctr"/>
          <a:lstStyle/>
          <a:p>
            <a:pPr indent="0" marL="0">
              <a:lnSpc>
                <a:spcPct val="95000"/>
              </a:lnSpc>
              <a:buNone/>
            </a:pPr>
            <a:r>
              <a:rPr lang="en-US" sz="1050" dirty="0">
                <a:solidFill>
                  <a:srgbClr val="E7E4FA"/>
                </a:solidFill>
                <a:latin typeface="Calibri" pitchFamily="34" charset="0"/>
                <a:ea typeface="Calibri" pitchFamily="34" charset="-122"/>
                <a:cs typeface="Calibri" pitchFamily="34" charset="-120"/>
              </a:rPr>
              <a:t>DART arbitration routes each diagnostic to the right agent</a:t>
            </a:r>
            <a:endParaRPr lang="en-US" sz="1050" dirty="0"/>
          </a:p>
        </p:txBody>
      </p:sp>
      <p:pic>
        <p:nvPicPr>
          <p:cNvPr id="30" name="Image 8" descr="assets/icons/check_w.png">    </p:cNvPr>
          <p:cNvPicPr>
            <a:picLocks noChangeAspect="1"/>
          </p:cNvPicPr>
          <p:nvPr/>
        </p:nvPicPr>
        <p:blipFill>
          <a:blip r:embed="rId10"/>
          <a:stretch>
            <a:fillRect/>
          </a:stretch>
        </p:blipFill>
        <p:spPr>
          <a:xfrm>
            <a:off x="822960" y="5303520"/>
            <a:ext cx="155448" cy="155448"/>
          </a:xfrm>
          <a:prstGeom prst="rect">
            <a:avLst/>
          </a:prstGeom>
        </p:spPr>
      </p:pic>
      <p:sp>
        <p:nvSpPr>
          <p:cNvPr id="31" name="Text 20"/>
          <p:cNvSpPr txBox="1"/>
          <p:nvPr/>
        </p:nvSpPr>
        <p:spPr>
          <a:xfrm>
            <a:off x="1060704" y="5257800"/>
            <a:ext cx="4690872" cy="365760"/>
          </a:xfrm>
          <a:prstGeom prst="rect">
            <a:avLst/>
          </a:prstGeom>
          <a:noFill/>
          <a:ln/>
        </p:spPr>
        <p:txBody>
          <a:bodyPr wrap="square" lIns="0" tIns="0" rIns="0" bIns="0" rtlCol="0" anchor="ctr"/>
          <a:lstStyle/>
          <a:p>
            <a:pPr indent="0" marL="0">
              <a:lnSpc>
                <a:spcPct val="95000"/>
              </a:lnSpc>
              <a:buNone/>
            </a:pPr>
            <a:r>
              <a:rPr lang="en-US" sz="1050" dirty="0">
                <a:solidFill>
                  <a:srgbClr val="E7E4FA"/>
                </a:solidFill>
                <a:latin typeface="Calibri" pitchFamily="34" charset="0"/>
                <a:ea typeface="Calibri" pitchFamily="34" charset="-122"/>
                <a:cs typeface="Calibri" pitchFamily="34" charset="-120"/>
              </a:rPr>
              <a:t>Quality gate blocks weak requirements before planning</a:t>
            </a:r>
            <a:endParaRPr lang="en-US" sz="1050" dirty="0"/>
          </a:p>
        </p:txBody>
      </p:sp>
      <p:pic>
        <p:nvPicPr>
          <p:cNvPr id="32" name="Image 9" descr="assets/icons/check_w.png">    </p:cNvPr>
          <p:cNvPicPr>
            <a:picLocks noChangeAspect="1"/>
          </p:cNvPicPr>
          <p:nvPr/>
        </p:nvPicPr>
        <p:blipFill>
          <a:blip r:embed="rId11"/>
          <a:stretch>
            <a:fillRect/>
          </a:stretch>
        </p:blipFill>
        <p:spPr>
          <a:xfrm>
            <a:off x="822960" y="5687568"/>
            <a:ext cx="155448" cy="155448"/>
          </a:xfrm>
          <a:prstGeom prst="rect">
            <a:avLst/>
          </a:prstGeom>
        </p:spPr>
      </p:pic>
      <p:sp>
        <p:nvSpPr>
          <p:cNvPr id="33" name="Text 21"/>
          <p:cNvSpPr txBox="1"/>
          <p:nvPr/>
        </p:nvSpPr>
        <p:spPr>
          <a:xfrm>
            <a:off x="1060704" y="5641848"/>
            <a:ext cx="4690872" cy="365760"/>
          </a:xfrm>
          <a:prstGeom prst="rect">
            <a:avLst/>
          </a:prstGeom>
          <a:noFill/>
          <a:ln/>
        </p:spPr>
        <p:txBody>
          <a:bodyPr wrap="square" lIns="0" tIns="0" rIns="0" bIns="0" rtlCol="0" anchor="ctr"/>
          <a:lstStyle/>
          <a:p>
            <a:pPr indent="0" marL="0">
              <a:lnSpc>
                <a:spcPct val="95000"/>
              </a:lnSpc>
              <a:buNone/>
            </a:pPr>
            <a:r>
              <a:rPr lang="en-US" sz="1050" dirty="0">
                <a:solidFill>
                  <a:srgbClr val="E7E4FA"/>
                </a:solidFill>
                <a:latin typeface="Calibri" pitchFamily="34" charset="0"/>
                <a:ea typeface="Calibri" pitchFamily="34" charset="-122"/>
                <a:cs typeface="Calibri" pitchFamily="34" charset="-120"/>
              </a:rPr>
              <a:t>Autonomous agents — tools, memory, decisions (not scripts)</a:t>
            </a:r>
            <a:endParaRPr lang="en-US" sz="1050" dirty="0"/>
          </a:p>
        </p:txBody>
      </p:sp>
      <p:sp>
        <p:nvSpPr>
          <p:cNvPr id="34" name="Shape 22"/>
          <p:cNvSpPr/>
          <p:nvPr/>
        </p:nvSpPr>
        <p:spPr>
          <a:xfrm>
            <a:off x="6208776" y="4315968"/>
            <a:ext cx="5440680" cy="1847088"/>
          </a:xfrm>
          <a:prstGeom prst="roundRect">
            <a:avLst>
              <a:gd name="adj" fmla="val 5446"/>
            </a:avLst>
          </a:prstGeom>
          <a:solidFill>
            <a:srgbClr val="FFFFFF">
              <a:alpha val="12000"/>
            </a:srgbClr>
          </a:solidFill>
          <a:ln w="12700">
            <a:solidFill>
              <a:srgbClr val="FFFFFF">
                <a:alpha val="18000"/>
              </a:srgbClr>
            </a:solidFill>
            <a:prstDash val="solid"/>
          </a:ln>
          <a:effectLst>
            <a:outerShdw sx="100000" sy="100000" kx="0" ky="0" algn="bl" rotWithShape="0" blurRad="177800" dist="63500" dir="5400000">
              <a:srgbClr val="0B0920">
                <a:alpha val="45000"/>
              </a:srgbClr>
            </a:outerShdw>
          </a:effectLst>
        </p:spPr>
      </p:sp>
      <p:sp>
        <p:nvSpPr>
          <p:cNvPr id="35" name="Shape 23"/>
          <p:cNvSpPr/>
          <p:nvPr/>
        </p:nvSpPr>
        <p:spPr>
          <a:xfrm>
            <a:off x="6574536" y="4059936"/>
            <a:ext cx="2421331" cy="512064"/>
          </a:xfrm>
          <a:prstGeom prst="roundRect">
            <a:avLst>
              <a:gd name="adj" fmla="val 50000"/>
            </a:avLst>
          </a:prstGeom>
          <a:solidFill>
            <a:srgbClr val="39BC7A"/>
          </a:solidFill>
          <a:ln/>
          <a:effectLst>
            <a:outerShdw sx="100000" sy="100000" kx="0" ky="0" algn="bl" rotWithShape="0" blurRad="127000" dist="50800" dir="5400000">
              <a:srgbClr val="39BC7A">
                <a:alpha val="45000"/>
              </a:srgbClr>
            </a:outerShdw>
          </a:effectLst>
        </p:spPr>
      </p:sp>
      <p:sp>
        <p:nvSpPr>
          <p:cNvPr id="36" name="Shape 24"/>
          <p:cNvSpPr/>
          <p:nvPr/>
        </p:nvSpPr>
        <p:spPr>
          <a:xfrm>
            <a:off x="6318504" y="3986784"/>
            <a:ext cx="676656" cy="676656"/>
          </a:xfrm>
          <a:prstGeom prst="ellipse">
            <a:avLst/>
          </a:prstGeom>
          <a:solidFill>
            <a:srgbClr val="23925B"/>
          </a:solidFill>
          <a:ln w="15240">
            <a:solidFill>
              <a:srgbClr val="FFFFFF">
                <a:alpha val="38000"/>
              </a:srgbClr>
            </a:solidFill>
            <a:prstDash val="solid"/>
          </a:ln>
          <a:effectLst>
            <a:outerShdw sx="100000" sy="100000" kx="0" ky="0" algn="bl" rotWithShape="0" blurRad="127000" dist="50800" dir="5400000">
              <a:srgbClr val="23925B">
                <a:alpha val="45000"/>
              </a:srgbClr>
            </a:outerShdw>
          </a:effectLst>
        </p:spPr>
      </p:sp>
      <p:pic>
        <p:nvPicPr>
          <p:cNvPr id="37" name="Image 10" descr="assets/icons/activity_w.png">    </p:cNvPr>
          <p:cNvPicPr>
            <a:picLocks noChangeAspect="1"/>
          </p:cNvPicPr>
          <p:nvPr/>
        </p:nvPicPr>
        <p:blipFill>
          <a:blip r:embed="rId12"/>
          <a:stretch>
            <a:fillRect/>
          </a:stretch>
        </p:blipFill>
        <p:spPr>
          <a:xfrm>
            <a:off x="6507968" y="4176248"/>
            <a:ext cx="297729" cy="297729"/>
          </a:xfrm>
          <a:prstGeom prst="rect">
            <a:avLst/>
          </a:prstGeom>
        </p:spPr>
      </p:pic>
      <p:sp>
        <p:nvSpPr>
          <p:cNvPr id="38" name="Text 25"/>
          <p:cNvSpPr txBox="1"/>
          <p:nvPr/>
        </p:nvSpPr>
        <p:spPr>
          <a:xfrm>
            <a:off x="7031736" y="4059936"/>
            <a:ext cx="1927555" cy="512064"/>
          </a:xfrm>
          <a:prstGeom prst="rect">
            <a:avLst/>
          </a:prstGeom>
          <a:noFill/>
          <a:ln/>
        </p:spPr>
        <p:txBody>
          <a:bodyPr wrap="square" lIns="0" tIns="0" rIns="0" bIns="0" rtlCol="0" anchor="ctr"/>
          <a:lstStyle/>
          <a:p>
            <a:pPr indent="0" marL="0">
              <a:lnSpc>
                <a:spcPct val="100000"/>
              </a:lnSpc>
              <a:buNone/>
            </a:pPr>
            <a:r>
              <a:rPr lang="en-US" sz="1150" b="1" dirty="0">
                <a:solidFill>
                  <a:srgbClr val="FFFFFF"/>
                </a:solidFill>
                <a:latin typeface="Calibri" pitchFamily="34" charset="0"/>
                <a:ea typeface="Calibri" pitchFamily="34" charset="-122"/>
                <a:cs typeface="Calibri" pitchFamily="34" charset="-120"/>
              </a:rPr>
              <a:t>Progress &amp; feedback</a:t>
            </a:r>
            <a:endParaRPr lang="en-US" sz="1150" dirty="0"/>
          </a:p>
        </p:txBody>
      </p:sp>
      <p:pic>
        <p:nvPicPr>
          <p:cNvPr id="39" name="Image 11" descr="assets/icons/check_e.png">    </p:cNvPr>
          <p:cNvPicPr>
            <a:picLocks noChangeAspect="1"/>
          </p:cNvPicPr>
          <p:nvPr/>
        </p:nvPicPr>
        <p:blipFill>
          <a:blip r:embed="rId13"/>
          <a:stretch>
            <a:fillRect/>
          </a:stretch>
        </p:blipFill>
        <p:spPr>
          <a:xfrm>
            <a:off x="6464808" y="4919472"/>
            <a:ext cx="155448" cy="155448"/>
          </a:xfrm>
          <a:prstGeom prst="rect">
            <a:avLst/>
          </a:prstGeom>
        </p:spPr>
      </p:pic>
      <p:sp>
        <p:nvSpPr>
          <p:cNvPr id="40" name="Text 26"/>
          <p:cNvSpPr txBox="1"/>
          <p:nvPr/>
        </p:nvSpPr>
        <p:spPr>
          <a:xfrm>
            <a:off x="6702552" y="4873752"/>
            <a:ext cx="4690872" cy="365760"/>
          </a:xfrm>
          <a:prstGeom prst="rect">
            <a:avLst/>
          </a:prstGeom>
          <a:noFill/>
          <a:ln/>
        </p:spPr>
        <p:txBody>
          <a:bodyPr wrap="square" lIns="0" tIns="0" rIns="0" bIns="0" rtlCol="0" anchor="ctr"/>
          <a:lstStyle/>
          <a:p>
            <a:pPr indent="0" marL="0">
              <a:lnSpc>
                <a:spcPct val="95000"/>
              </a:lnSpc>
              <a:buNone/>
            </a:pPr>
            <a:r>
              <a:rPr lang="en-US" sz="1050" dirty="0">
                <a:solidFill>
                  <a:srgbClr val="9FE7C9"/>
                </a:solidFill>
                <a:latin typeface="Calibri" pitchFamily="34" charset="0"/>
                <a:ea typeface="Calibri" pitchFamily="34" charset="-122"/>
                <a:cs typeface="Calibri" pitchFamily="34" charset="-120"/>
              </a:rPr>
              <a:t>Quality &amp; decomposition agents prototyped</a:t>
            </a:r>
            <a:endParaRPr lang="en-US" sz="1050" dirty="0"/>
          </a:p>
        </p:txBody>
      </p:sp>
      <p:pic>
        <p:nvPicPr>
          <p:cNvPr id="41" name="Image 12" descr="assets/icons/check_e.png">    </p:cNvPr>
          <p:cNvPicPr>
            <a:picLocks noChangeAspect="1"/>
          </p:cNvPicPr>
          <p:nvPr/>
        </p:nvPicPr>
        <p:blipFill>
          <a:blip r:embed="rId14"/>
          <a:stretch>
            <a:fillRect/>
          </a:stretch>
        </p:blipFill>
        <p:spPr>
          <a:xfrm>
            <a:off x="6464808" y="5303520"/>
            <a:ext cx="155448" cy="155448"/>
          </a:xfrm>
          <a:prstGeom prst="rect">
            <a:avLst/>
          </a:prstGeom>
        </p:spPr>
      </p:pic>
      <p:sp>
        <p:nvSpPr>
          <p:cNvPr id="42" name="Text 27"/>
          <p:cNvSpPr txBox="1"/>
          <p:nvPr/>
        </p:nvSpPr>
        <p:spPr>
          <a:xfrm>
            <a:off x="6702552" y="5257800"/>
            <a:ext cx="4690872" cy="365760"/>
          </a:xfrm>
          <a:prstGeom prst="rect">
            <a:avLst/>
          </a:prstGeom>
          <a:noFill/>
          <a:ln/>
        </p:spPr>
        <p:txBody>
          <a:bodyPr wrap="square" lIns="0" tIns="0" rIns="0" bIns="0" rtlCol="0" anchor="ctr"/>
          <a:lstStyle/>
          <a:p>
            <a:pPr indent="0" marL="0">
              <a:lnSpc>
                <a:spcPct val="95000"/>
              </a:lnSpc>
              <a:buNone/>
            </a:pPr>
            <a:r>
              <a:rPr lang="en-US" sz="1050" dirty="0">
                <a:solidFill>
                  <a:srgbClr val="9FE7C9"/>
                </a:solidFill>
                <a:latin typeface="Calibri" pitchFamily="34" charset="0"/>
                <a:ea typeface="Calibri" pitchFamily="34" charset="-122"/>
                <a:cs typeface="Calibri" pitchFamily="34" charset="-120"/>
              </a:rPr>
              <a:t>DART routing logic defined; estimation next</a:t>
            </a:r>
            <a:endParaRPr lang="en-US" sz="1050" dirty="0"/>
          </a:p>
        </p:txBody>
      </p:sp>
      <p:pic>
        <p:nvPicPr>
          <p:cNvPr id="43" name="Image 13" descr="assets/icons/check_e.png">    </p:cNvPr>
          <p:cNvPicPr>
            <a:picLocks noChangeAspect="1"/>
          </p:cNvPicPr>
          <p:nvPr/>
        </p:nvPicPr>
        <p:blipFill>
          <a:blip r:embed="rId15"/>
          <a:stretch>
            <a:fillRect/>
          </a:stretch>
        </p:blipFill>
        <p:spPr>
          <a:xfrm>
            <a:off x="6464808" y="5687568"/>
            <a:ext cx="155448" cy="155448"/>
          </a:xfrm>
          <a:prstGeom prst="rect">
            <a:avLst/>
          </a:prstGeom>
        </p:spPr>
      </p:pic>
      <p:sp>
        <p:nvSpPr>
          <p:cNvPr id="44" name="Text 28"/>
          <p:cNvSpPr txBox="1"/>
          <p:nvPr/>
        </p:nvSpPr>
        <p:spPr>
          <a:xfrm>
            <a:off x="6702552" y="5641848"/>
            <a:ext cx="4690872" cy="365760"/>
          </a:xfrm>
          <a:prstGeom prst="rect">
            <a:avLst/>
          </a:prstGeom>
          <a:noFill/>
          <a:ln/>
        </p:spPr>
        <p:txBody>
          <a:bodyPr wrap="square" lIns="0" tIns="0" rIns="0" bIns="0" rtlCol="0" anchor="ctr"/>
          <a:lstStyle/>
          <a:p>
            <a:pPr indent="0" marL="0">
              <a:lnSpc>
                <a:spcPct val="95000"/>
              </a:lnSpc>
              <a:buNone/>
            </a:pPr>
            <a:r>
              <a:rPr lang="en-US" sz="1050" dirty="0">
                <a:solidFill>
                  <a:srgbClr val="9FE7C9"/>
                </a:solidFill>
                <a:latin typeface="Calibri" pitchFamily="34" charset="0"/>
                <a:ea typeface="Calibri" pitchFamily="34" charset="-122"/>
                <a:cs typeface="Calibri" pitchFamily="34" charset="-120"/>
              </a:rPr>
              <a:t>Validated on the TAWOS dataset</a:t>
            </a:r>
            <a:endParaRPr lang="en-US" sz="1050" dirty="0"/>
          </a:p>
        </p:txBody>
      </p:sp>
      <p:sp>
        <p:nvSpPr>
          <p:cNvPr id="45" name="Text 29"/>
          <p:cNvSpPr txBox="1"/>
          <p:nvPr/>
        </p:nvSpPr>
        <p:spPr>
          <a:xfrm>
            <a:off x="603504" y="6528816"/>
            <a:ext cx="8229600" cy="256032"/>
          </a:xfrm>
          <a:prstGeom prst="rect">
            <a:avLst/>
          </a:prstGeom>
          <a:noFill/>
          <a:ln/>
        </p:spPr>
        <p:txBody>
          <a:bodyPr wrap="square" lIns="0" tIns="0" rIns="0" bIns="0" rtlCol="0" anchor="ctr"/>
          <a:lstStyle/>
          <a:p>
            <a:pPr indent="0" marL="0">
              <a:lnSpc>
                <a:spcPct val="100000"/>
              </a:lnSpc>
              <a:buNone/>
            </a:pPr>
            <a:r>
              <a:rPr lang="en-US" sz="900" b="1" dirty="0">
                <a:solidFill>
                  <a:srgbClr val="9C97CC"/>
                </a:solidFill>
                <a:latin typeface="Calibri" pitchFamily="34" charset="0"/>
                <a:ea typeface="Calibri" pitchFamily="34" charset="-122"/>
                <a:cs typeface="Calibri" pitchFamily="34" charset="-120"/>
              </a:rPr>
              <a:t>IT23152878  |  Rajapaksha R W V C V  |  J26-SE-363</a:t>
            </a:r>
            <a:endParaRPr lang="en-US" sz="900" dirty="0"/>
          </a:p>
        </p:txBody>
      </p:sp>
      <p:sp>
        <p:nvSpPr>
          <p:cNvPr id="46" name="Text 30"/>
          <p:cNvSpPr txBox="1"/>
          <p:nvPr/>
        </p:nvSpPr>
        <p:spPr>
          <a:xfrm>
            <a:off x="10972800" y="6528816"/>
            <a:ext cx="640080" cy="256032"/>
          </a:xfrm>
          <a:prstGeom prst="rect">
            <a:avLst/>
          </a:prstGeom>
          <a:noFill/>
          <a:ln/>
        </p:spPr>
        <p:txBody>
          <a:bodyPr wrap="square" lIns="0" tIns="0" rIns="0" bIns="0" rtlCol="0" anchor="ctr"/>
          <a:lstStyle/>
          <a:p>
            <a:pPr algn="r" indent="0" marL="0">
              <a:lnSpc>
                <a:spcPct val="100000"/>
              </a:lnSpc>
              <a:buNone/>
            </a:pPr>
            <a:r>
              <a:rPr lang="en-US" sz="850" dirty="0">
                <a:solidFill>
                  <a:srgbClr val="726CA6"/>
                </a:solidFill>
                <a:latin typeface="Calibri" pitchFamily="34" charset="0"/>
                <a:ea typeface="Calibri" pitchFamily="34" charset="-122"/>
                <a:cs typeface="Calibri" pitchFamily="34" charset="-120"/>
              </a:rPr>
              <a:t>9</a:t>
            </a:r>
            <a:endParaRPr lang="en-US" sz="8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Shape 0"/>
          <p:cNvSpPr/>
          <p:nvPr/>
        </p:nvSpPr>
        <p:spPr>
          <a:xfrm>
            <a:off x="10515600" y="411480"/>
            <a:ext cx="1005840" cy="1005840"/>
          </a:xfrm>
          <a:prstGeom prst="ellipse">
            <a:avLst/>
          </a:prstGeom>
          <a:solidFill>
            <a:srgbClr val="1A1640"/>
          </a:solidFill>
          <a:ln w="25400">
            <a:solidFill>
              <a:srgbClr val="7E6CF4"/>
            </a:solidFill>
            <a:prstDash val="solid"/>
          </a:ln>
          <a:effectLst>
            <a:outerShdw sx="100000" sy="100000" kx="0" ky="0" algn="bl" rotWithShape="0" blurRad="127000" dist="50800" dir="5400000">
              <a:srgbClr val="4A3DC2">
                <a:alpha val="45000"/>
              </a:srgbClr>
            </a:outerShdw>
          </a:effectLst>
        </p:spPr>
      </p:sp>
      <p:pic>
        <p:nvPicPr>
          <p:cNvPr id="3" name="Image 0" descr="assets/rajapaksha.jpg">    </p:cNvPr>
          <p:cNvPicPr>
            <a:picLocks noChangeAspect="1"/>
          </p:cNvPicPr>
          <p:nvPr/>
        </p:nvPicPr>
        <p:blipFill>
          <a:blip r:embed="rId2"/>
          <a:stretch>
            <a:fillRect/>
          </a:stretch>
        </p:blipFill>
        <p:spPr>
          <a:xfrm>
            <a:off x="10561320" y="457200"/>
            <a:ext cx="914400" cy="914400"/>
          </a:xfrm>
          <a:prstGeom prst="ellipse">
            <a:avLst/>
          </a:prstGeom>
        </p:spPr>
      </p:pic>
      <p:sp>
        <p:nvSpPr>
          <p:cNvPr id="4" name="Text 1"/>
          <p:cNvSpPr txBox="1"/>
          <p:nvPr/>
        </p:nvSpPr>
        <p:spPr>
          <a:xfrm>
            <a:off x="603504" y="493776"/>
            <a:ext cx="10058400" cy="274320"/>
          </a:xfrm>
          <a:prstGeom prst="rect">
            <a:avLst/>
          </a:prstGeom>
          <a:noFill/>
          <a:ln/>
        </p:spPr>
        <p:txBody>
          <a:bodyPr wrap="square" lIns="0" tIns="0" rIns="0" bIns="0" rtlCol="0" anchor="ctr"/>
          <a:lstStyle/>
          <a:p>
            <a:pPr indent="0" marL="0">
              <a:lnSpc>
                <a:spcPct val="100000"/>
              </a:lnSpc>
              <a:buNone/>
            </a:pPr>
            <a:r>
              <a:rPr lang="en-US" sz="1100" b="1" spc="260" kern="0" dirty="0">
                <a:solidFill>
                  <a:srgbClr val="9FE7C9"/>
                </a:solidFill>
                <a:latin typeface="Calibri" pitchFamily="34" charset="0"/>
                <a:ea typeface="Calibri" pitchFamily="34" charset="-122"/>
                <a:cs typeface="Calibri" pitchFamily="34" charset="-120"/>
              </a:rPr>
              <a:t>REQUIREMENTS &amp; PLANNING  ·  COMPONENT DIAGRAM</a:t>
            </a:r>
            <a:endParaRPr lang="en-US" sz="1100" dirty="0"/>
          </a:p>
        </p:txBody>
      </p:sp>
      <p:sp>
        <p:nvSpPr>
          <p:cNvPr id="5" name="Text 2"/>
          <p:cNvSpPr txBox="1"/>
          <p:nvPr/>
        </p:nvSpPr>
        <p:spPr>
          <a:xfrm>
            <a:off x="566928" y="749808"/>
            <a:ext cx="9601200" cy="777240"/>
          </a:xfrm>
          <a:prstGeom prst="rect">
            <a:avLst/>
          </a:prstGeom>
          <a:noFill/>
          <a:ln/>
        </p:spPr>
        <p:txBody>
          <a:bodyPr wrap="square" lIns="0" tIns="0" rIns="0" bIns="0" rtlCol="0" anchor="ctr"/>
          <a:lstStyle/>
          <a:p>
            <a:pPr indent="0" marL="0">
              <a:lnSpc>
                <a:spcPct val="98000"/>
              </a:lnSpc>
              <a:buNone/>
            </a:pPr>
            <a:r>
              <a:rPr lang="en-US" sz="2200" b="1" dirty="0">
                <a:solidFill>
                  <a:srgbClr val="FFFFFF"/>
                </a:solidFill>
                <a:latin typeface="Calibri" pitchFamily="34" charset="0"/>
                <a:ea typeface="Calibri" pitchFamily="34" charset="-122"/>
                <a:cs typeface="Calibri" pitchFamily="34" charset="-120"/>
              </a:rPr>
              <a:t>DART — Agents, Quality Gate &amp; Planning Flow</a:t>
            </a:r>
            <a:endParaRPr lang="en-US" sz="2200" dirty="0"/>
          </a:p>
        </p:txBody>
      </p:sp>
      <p:sp>
        <p:nvSpPr>
          <p:cNvPr id="6" name="Shape 3"/>
          <p:cNvSpPr/>
          <p:nvPr/>
        </p:nvSpPr>
        <p:spPr>
          <a:xfrm>
            <a:off x="566928" y="2834640"/>
            <a:ext cx="1828800" cy="1280160"/>
          </a:xfrm>
          <a:prstGeom prst="roundRect">
            <a:avLst>
              <a:gd name="adj" fmla="val 7857"/>
            </a:avLst>
          </a:prstGeom>
          <a:solidFill>
            <a:srgbClr val="FFFFFF">
              <a:alpha val="12000"/>
            </a:srgbClr>
          </a:solidFill>
          <a:ln w="12700">
            <a:solidFill>
              <a:srgbClr val="FFFFFF">
                <a:alpha val="18000"/>
              </a:srgbClr>
            </a:solidFill>
            <a:prstDash val="solid"/>
          </a:ln>
          <a:effectLst>
            <a:outerShdw sx="100000" sy="100000" kx="0" ky="0" algn="bl" rotWithShape="0" blurRad="177800" dist="63500" dir="5400000">
              <a:srgbClr val="0B0920">
                <a:alpha val="45000"/>
              </a:srgbClr>
            </a:outerShdw>
          </a:effectLst>
        </p:spPr>
      </p:sp>
      <p:sp>
        <p:nvSpPr>
          <p:cNvPr id="7" name="Shape 4"/>
          <p:cNvSpPr/>
          <p:nvPr/>
        </p:nvSpPr>
        <p:spPr>
          <a:xfrm>
            <a:off x="1152144" y="2980944"/>
            <a:ext cx="658368" cy="658368"/>
          </a:xfrm>
          <a:prstGeom prst="ellipse">
            <a:avLst/>
          </a:prstGeom>
          <a:solidFill>
            <a:srgbClr val="5A47CE"/>
          </a:solidFill>
          <a:ln w="17780">
            <a:solidFill>
              <a:srgbClr val="7E6CF4"/>
            </a:solidFill>
            <a:prstDash val="solid"/>
          </a:ln>
          <a:effectLst>
            <a:outerShdw sx="100000" sy="100000" kx="0" ky="0" algn="bl" rotWithShape="0" blurRad="127000" dist="50800" dir="5400000">
              <a:srgbClr val="7E6CF4">
                <a:alpha val="45000"/>
              </a:srgbClr>
            </a:outerShdw>
          </a:effectLst>
        </p:spPr>
      </p:sp>
      <p:pic>
        <p:nvPicPr>
          <p:cNvPr id="8" name="Image 1" descr="assets/icons/clipboard_w.png">    </p:cNvPr>
          <p:cNvPicPr>
            <a:picLocks noChangeAspect="1"/>
          </p:cNvPicPr>
          <p:nvPr/>
        </p:nvPicPr>
        <p:blipFill>
          <a:blip r:embed="rId3"/>
          <a:stretch>
            <a:fillRect/>
          </a:stretch>
        </p:blipFill>
        <p:spPr>
          <a:xfrm>
            <a:off x="1336487" y="3165287"/>
            <a:ext cx="289682" cy="289682"/>
          </a:xfrm>
          <a:prstGeom prst="rect">
            <a:avLst/>
          </a:prstGeom>
        </p:spPr>
      </p:pic>
      <p:sp>
        <p:nvSpPr>
          <p:cNvPr id="9" name="Text 5"/>
          <p:cNvSpPr txBox="1"/>
          <p:nvPr/>
        </p:nvSpPr>
        <p:spPr>
          <a:xfrm>
            <a:off x="566928" y="3694176"/>
            <a:ext cx="1828800" cy="502920"/>
          </a:xfrm>
          <a:prstGeom prst="rect">
            <a:avLst/>
          </a:prstGeom>
          <a:noFill/>
          <a:ln/>
        </p:spPr>
        <p:txBody>
          <a:bodyPr wrap="square" lIns="0" tIns="0" rIns="0" bIns="0" rtlCol="0" anchor="ctr"/>
          <a:lstStyle/>
          <a:p>
            <a:pPr algn="ctr" indent="0" marL="0">
              <a:lnSpc>
                <a:spcPct val="95000"/>
              </a:lnSpc>
              <a:buNone/>
            </a:pPr>
            <a:r>
              <a:rPr lang="en-US" sz="1050" b="1" dirty="0">
                <a:solidFill>
                  <a:srgbClr val="FFFFFF"/>
                </a:solidFill>
                <a:latin typeface="Calibri" pitchFamily="34" charset="0"/>
                <a:ea typeface="Calibri" pitchFamily="34" charset="-122"/>
                <a:cs typeface="Calibri" pitchFamily="34" charset="-120"/>
              </a:rPr>
              <a:t>Student requirement</a:t>
            </a:r>
            <a:endParaRPr lang="en-US" sz="1050" dirty="0"/>
          </a:p>
          <a:p>
            <a:pPr algn="ctr" indent="0" marL="0">
              <a:lnSpc>
                <a:spcPct val="95000"/>
              </a:lnSpc>
              <a:buNone/>
            </a:pPr>
            <a:r>
              <a:rPr lang="en-US" sz="1050" b="1" dirty="0">
                <a:solidFill>
                  <a:srgbClr val="FFFFFF"/>
                </a:solidFill>
                <a:latin typeface="Calibri" pitchFamily="34" charset="0"/>
                <a:ea typeface="Calibri" pitchFamily="34" charset="-122"/>
                <a:cs typeface="Calibri" pitchFamily="34" charset="-120"/>
              </a:rPr>
              <a:t>&amp; project input</a:t>
            </a:r>
            <a:endParaRPr lang="en-US" sz="1050" dirty="0"/>
          </a:p>
        </p:txBody>
      </p:sp>
      <p:sp>
        <p:nvSpPr>
          <p:cNvPr id="10" name="Shape 6"/>
          <p:cNvSpPr/>
          <p:nvPr/>
        </p:nvSpPr>
        <p:spPr>
          <a:xfrm>
            <a:off x="2441448" y="3474720"/>
            <a:ext cx="411480" cy="0"/>
          </a:xfrm>
          <a:prstGeom prst="line">
            <a:avLst/>
          </a:prstGeom>
          <a:noFill/>
          <a:ln w="22225">
            <a:solidFill>
              <a:srgbClr val="7E6CF4"/>
            </a:solidFill>
            <a:prstDash val="solid"/>
            <a:tailEnd type="triangle"/>
          </a:ln>
        </p:spPr>
      </p:sp>
      <p:sp>
        <p:nvSpPr>
          <p:cNvPr id="11" name="Shape 7"/>
          <p:cNvSpPr/>
          <p:nvPr/>
        </p:nvSpPr>
        <p:spPr>
          <a:xfrm>
            <a:off x="2944368" y="3200400"/>
            <a:ext cx="2057400" cy="685800"/>
          </a:xfrm>
          <a:prstGeom prst="roundRect">
            <a:avLst>
              <a:gd name="adj" fmla="val 16000"/>
            </a:avLst>
          </a:prstGeom>
          <a:solidFill>
            <a:srgbClr val="4A3DC2"/>
          </a:solidFill>
          <a:ln w="15240">
            <a:solidFill>
              <a:srgbClr val="6E5CF0"/>
            </a:solidFill>
            <a:prstDash val="solid"/>
          </a:ln>
          <a:effectLst>
            <a:outerShdw sx="100000" sy="100000" kx="0" ky="0" algn="bl" rotWithShape="0" blurRad="127000" dist="50800" dir="5400000">
              <a:srgbClr val="6E5CF0">
                <a:alpha val="45000"/>
              </a:srgbClr>
            </a:outerShdw>
          </a:effectLst>
        </p:spPr>
      </p:sp>
      <p:pic>
        <p:nvPicPr>
          <p:cNvPr id="12" name="Image 2" descr="assets/icons/merge_w.png">    </p:cNvPr>
          <p:cNvPicPr>
            <a:picLocks noChangeAspect="1"/>
          </p:cNvPicPr>
          <p:nvPr/>
        </p:nvPicPr>
        <p:blipFill>
          <a:blip r:embed="rId4"/>
          <a:stretch>
            <a:fillRect/>
          </a:stretch>
        </p:blipFill>
        <p:spPr>
          <a:xfrm>
            <a:off x="3145536" y="3401568"/>
            <a:ext cx="301752" cy="301752"/>
          </a:xfrm>
          <a:prstGeom prst="rect">
            <a:avLst/>
          </a:prstGeom>
        </p:spPr>
      </p:pic>
      <p:sp>
        <p:nvSpPr>
          <p:cNvPr id="13" name="Text 8"/>
          <p:cNvSpPr txBox="1"/>
          <p:nvPr/>
        </p:nvSpPr>
        <p:spPr>
          <a:xfrm>
            <a:off x="3529584" y="3255264"/>
            <a:ext cx="1463040" cy="274320"/>
          </a:xfrm>
          <a:prstGeom prst="rect">
            <a:avLst/>
          </a:prstGeom>
          <a:noFill/>
          <a:ln/>
        </p:spPr>
        <p:txBody>
          <a:bodyPr wrap="square" lIns="0" tIns="0" rIns="0" bIns="0" rtlCol="0" anchor="ctr"/>
          <a:lstStyle/>
          <a:p>
            <a:pPr indent="0" marL="0">
              <a:lnSpc>
                <a:spcPct val="100000"/>
              </a:lnSpc>
              <a:buNone/>
            </a:pPr>
            <a:r>
              <a:rPr lang="en-US" sz="1300" b="1" dirty="0">
                <a:solidFill>
                  <a:srgbClr val="FFFFFF"/>
                </a:solidFill>
                <a:latin typeface="Calibri" pitchFamily="34" charset="0"/>
                <a:ea typeface="Calibri" pitchFamily="34" charset="-122"/>
                <a:cs typeface="Calibri" pitchFamily="34" charset="-120"/>
              </a:rPr>
              <a:t>DART Router</a:t>
            </a:r>
            <a:endParaRPr lang="en-US" sz="1300" dirty="0"/>
          </a:p>
        </p:txBody>
      </p:sp>
      <p:sp>
        <p:nvSpPr>
          <p:cNvPr id="14" name="Text 9"/>
          <p:cNvSpPr txBox="1"/>
          <p:nvPr/>
        </p:nvSpPr>
        <p:spPr>
          <a:xfrm>
            <a:off x="3529584" y="3529584"/>
            <a:ext cx="1417320" cy="274320"/>
          </a:xfrm>
          <a:prstGeom prst="rect">
            <a:avLst/>
          </a:prstGeom>
          <a:noFill/>
          <a:ln/>
        </p:spPr>
        <p:txBody>
          <a:bodyPr wrap="square" lIns="0" tIns="0" rIns="0" bIns="0" rtlCol="0" anchor="ctr"/>
          <a:lstStyle/>
          <a:p>
            <a:pPr indent="0" marL="0">
              <a:lnSpc>
                <a:spcPct val="100000"/>
              </a:lnSpc>
              <a:buNone/>
            </a:pPr>
            <a:r>
              <a:rPr lang="en-US" sz="800" dirty="0">
                <a:solidFill>
                  <a:srgbClr val="E7E3FF"/>
                </a:solidFill>
                <a:latin typeface="Calibri" pitchFamily="34" charset="0"/>
                <a:ea typeface="Calibri" pitchFamily="34" charset="-122"/>
                <a:cs typeface="Calibri" pitchFamily="34" charset="-120"/>
              </a:rPr>
              <a:t>Diagnostic arbitration routing</a:t>
            </a:r>
            <a:endParaRPr lang="en-US" sz="800" dirty="0"/>
          </a:p>
        </p:txBody>
      </p:sp>
      <p:sp>
        <p:nvSpPr>
          <p:cNvPr id="15" name="Shape 10"/>
          <p:cNvSpPr/>
          <p:nvPr/>
        </p:nvSpPr>
        <p:spPr>
          <a:xfrm>
            <a:off x="5431536" y="2011680"/>
            <a:ext cx="2514600" cy="960120"/>
          </a:xfrm>
          <a:prstGeom prst="roundRect">
            <a:avLst>
              <a:gd name="adj" fmla="val 10476"/>
            </a:avLst>
          </a:prstGeom>
          <a:solidFill>
            <a:srgbClr val="FFFFFF">
              <a:alpha val="12000"/>
            </a:srgbClr>
          </a:solidFill>
          <a:ln w="12700">
            <a:solidFill>
              <a:srgbClr val="FFFFFF">
                <a:alpha val="18000"/>
              </a:srgbClr>
            </a:solidFill>
            <a:prstDash val="solid"/>
          </a:ln>
          <a:effectLst>
            <a:outerShdw sx="100000" sy="100000" kx="0" ky="0" algn="bl" rotWithShape="0" blurRad="177800" dist="63500" dir="5400000">
              <a:srgbClr val="0B0920">
                <a:alpha val="45000"/>
              </a:srgbClr>
            </a:outerShdw>
          </a:effectLst>
        </p:spPr>
      </p:sp>
      <p:sp>
        <p:nvSpPr>
          <p:cNvPr id="16" name="Shape 11"/>
          <p:cNvSpPr/>
          <p:nvPr/>
        </p:nvSpPr>
        <p:spPr>
          <a:xfrm>
            <a:off x="5614416" y="2231136"/>
            <a:ext cx="530352" cy="530352"/>
          </a:xfrm>
          <a:prstGeom prst="ellipse">
            <a:avLst/>
          </a:prstGeom>
          <a:solidFill>
            <a:srgbClr val="0E9E6E"/>
          </a:solidFill>
          <a:ln w="17780">
            <a:solidFill>
              <a:srgbClr val="16C78C"/>
            </a:solidFill>
            <a:prstDash val="solid"/>
          </a:ln>
          <a:effectLst>
            <a:outerShdw sx="100000" sy="100000" kx="0" ky="0" algn="bl" rotWithShape="0" blurRad="127000" dist="50800" dir="5400000">
              <a:srgbClr val="16C78C">
                <a:alpha val="45000"/>
              </a:srgbClr>
            </a:outerShdw>
          </a:effectLst>
        </p:spPr>
      </p:sp>
      <p:pic>
        <p:nvPicPr>
          <p:cNvPr id="17" name="Image 3" descr="assets/icons/checksq_w.png">    </p:cNvPr>
          <p:cNvPicPr>
            <a:picLocks noChangeAspect="1"/>
          </p:cNvPicPr>
          <p:nvPr/>
        </p:nvPicPr>
        <p:blipFill>
          <a:blip r:embed="rId5"/>
          <a:stretch>
            <a:fillRect/>
          </a:stretch>
        </p:blipFill>
        <p:spPr>
          <a:xfrm>
            <a:off x="5762915" y="2379635"/>
            <a:ext cx="233355" cy="233355"/>
          </a:xfrm>
          <a:prstGeom prst="rect">
            <a:avLst/>
          </a:prstGeom>
        </p:spPr>
      </p:pic>
      <p:sp>
        <p:nvSpPr>
          <p:cNvPr id="18" name="Text 12"/>
          <p:cNvSpPr txBox="1"/>
          <p:nvPr/>
        </p:nvSpPr>
        <p:spPr>
          <a:xfrm>
            <a:off x="6272784" y="2176272"/>
            <a:ext cx="1554480" cy="274320"/>
          </a:xfrm>
          <a:prstGeom prst="rect">
            <a:avLst/>
          </a:prstGeom>
          <a:noFill/>
          <a:ln/>
        </p:spPr>
        <p:txBody>
          <a:bodyPr wrap="square" lIns="0" tIns="0" rIns="0" bIns="0" rtlCol="0" anchor="ctr"/>
          <a:lstStyle/>
          <a:p>
            <a:pPr indent="0" marL="0">
              <a:lnSpc>
                <a:spcPct val="100000"/>
              </a:lnSpc>
              <a:buNone/>
            </a:pPr>
            <a:r>
              <a:rPr lang="en-US" sz="1250" b="1" dirty="0">
                <a:solidFill>
                  <a:srgbClr val="FFFFFF"/>
                </a:solidFill>
                <a:latin typeface="Calibri" pitchFamily="34" charset="0"/>
                <a:ea typeface="Calibri" pitchFamily="34" charset="-122"/>
                <a:cs typeface="Calibri" pitchFamily="34" charset="-120"/>
              </a:rPr>
              <a:t>Quality Agent</a:t>
            </a:r>
            <a:endParaRPr lang="en-US" sz="1250" dirty="0"/>
          </a:p>
        </p:txBody>
      </p:sp>
      <p:sp>
        <p:nvSpPr>
          <p:cNvPr id="19" name="Text 13"/>
          <p:cNvSpPr txBox="1"/>
          <p:nvPr/>
        </p:nvSpPr>
        <p:spPr>
          <a:xfrm>
            <a:off x="6272784" y="2468880"/>
            <a:ext cx="1554480" cy="457200"/>
          </a:xfrm>
          <a:prstGeom prst="rect">
            <a:avLst/>
          </a:prstGeom>
          <a:noFill/>
          <a:ln/>
        </p:spPr>
        <p:txBody>
          <a:bodyPr wrap="square" lIns="0" tIns="0" rIns="0" bIns="0" rtlCol="0" anchor="ctr"/>
          <a:lstStyle/>
          <a:p>
            <a:pPr indent="0" marL="0">
              <a:lnSpc>
                <a:spcPct val="92000"/>
              </a:lnSpc>
              <a:buNone/>
            </a:pPr>
            <a:r>
              <a:rPr lang="en-US" sz="950" dirty="0">
                <a:solidFill>
                  <a:srgbClr val="CFCBEF"/>
                </a:solidFill>
                <a:latin typeface="Calibri" pitchFamily="34" charset="0"/>
                <a:ea typeface="Calibri" pitchFamily="34" charset="-122"/>
                <a:cs typeface="Calibri" pitchFamily="34" charset="-120"/>
              </a:rPr>
              <a:t>Validates testable, clear requirements — quality gate</a:t>
            </a:r>
            <a:endParaRPr lang="en-US" sz="950" dirty="0"/>
          </a:p>
        </p:txBody>
      </p:sp>
      <p:sp>
        <p:nvSpPr>
          <p:cNvPr id="20" name="Shape 14"/>
          <p:cNvSpPr/>
          <p:nvPr/>
        </p:nvSpPr>
        <p:spPr>
          <a:xfrm>
            <a:off x="5001768" y="3538728"/>
            <a:ext cx="429768" cy="-1051560"/>
          </a:xfrm>
          <a:prstGeom prst="line">
            <a:avLst/>
          </a:prstGeom>
          <a:noFill/>
          <a:ln w="15240">
            <a:solidFill>
              <a:srgbClr val="8E88C8"/>
            </a:solidFill>
            <a:prstDash val="solid"/>
            <a:tailEnd type="triangle"/>
          </a:ln>
        </p:spPr>
      </p:sp>
      <p:sp>
        <p:nvSpPr>
          <p:cNvPr id="21" name="Shape 15"/>
          <p:cNvSpPr/>
          <p:nvPr/>
        </p:nvSpPr>
        <p:spPr>
          <a:xfrm>
            <a:off x="5431536" y="3127248"/>
            <a:ext cx="2514600" cy="960120"/>
          </a:xfrm>
          <a:prstGeom prst="roundRect">
            <a:avLst>
              <a:gd name="adj" fmla="val 10476"/>
            </a:avLst>
          </a:prstGeom>
          <a:solidFill>
            <a:srgbClr val="FFFFFF">
              <a:alpha val="12000"/>
            </a:srgbClr>
          </a:solidFill>
          <a:ln w="12700">
            <a:solidFill>
              <a:srgbClr val="FFFFFF">
                <a:alpha val="18000"/>
              </a:srgbClr>
            </a:solidFill>
            <a:prstDash val="solid"/>
          </a:ln>
          <a:effectLst>
            <a:outerShdw sx="100000" sy="100000" kx="0" ky="0" algn="bl" rotWithShape="0" blurRad="177800" dist="63500" dir="5400000">
              <a:srgbClr val="0B0920">
                <a:alpha val="45000"/>
              </a:srgbClr>
            </a:outerShdw>
          </a:effectLst>
        </p:spPr>
      </p:sp>
      <p:sp>
        <p:nvSpPr>
          <p:cNvPr id="22" name="Shape 16"/>
          <p:cNvSpPr/>
          <p:nvPr/>
        </p:nvSpPr>
        <p:spPr>
          <a:xfrm>
            <a:off x="5614416" y="3346704"/>
            <a:ext cx="530352" cy="530352"/>
          </a:xfrm>
          <a:prstGeom prst="ellipse">
            <a:avLst/>
          </a:prstGeom>
          <a:solidFill>
            <a:srgbClr val="5A47CE"/>
          </a:solidFill>
          <a:ln w="17780">
            <a:solidFill>
              <a:srgbClr val="7E6CF4"/>
            </a:solidFill>
            <a:prstDash val="solid"/>
          </a:ln>
          <a:effectLst>
            <a:outerShdw sx="100000" sy="100000" kx="0" ky="0" algn="bl" rotWithShape="0" blurRad="127000" dist="50800" dir="5400000">
              <a:srgbClr val="7E6CF4">
                <a:alpha val="45000"/>
              </a:srgbClr>
            </a:outerShdw>
          </a:effectLst>
        </p:spPr>
      </p:sp>
      <p:pic>
        <p:nvPicPr>
          <p:cNvPr id="23" name="Image 4" descr="assets/icons/git_w.png">    </p:cNvPr>
          <p:cNvPicPr>
            <a:picLocks noChangeAspect="1"/>
          </p:cNvPicPr>
          <p:nvPr/>
        </p:nvPicPr>
        <p:blipFill>
          <a:blip r:embed="rId6"/>
          <a:stretch>
            <a:fillRect/>
          </a:stretch>
        </p:blipFill>
        <p:spPr>
          <a:xfrm>
            <a:off x="5762915" y="3495203"/>
            <a:ext cx="233355" cy="233355"/>
          </a:xfrm>
          <a:prstGeom prst="rect">
            <a:avLst/>
          </a:prstGeom>
        </p:spPr>
      </p:pic>
      <p:sp>
        <p:nvSpPr>
          <p:cNvPr id="24" name="Text 17"/>
          <p:cNvSpPr txBox="1"/>
          <p:nvPr/>
        </p:nvSpPr>
        <p:spPr>
          <a:xfrm>
            <a:off x="6272784" y="3291840"/>
            <a:ext cx="1554480" cy="274320"/>
          </a:xfrm>
          <a:prstGeom prst="rect">
            <a:avLst/>
          </a:prstGeom>
          <a:noFill/>
          <a:ln/>
        </p:spPr>
        <p:txBody>
          <a:bodyPr wrap="square" lIns="0" tIns="0" rIns="0" bIns="0" rtlCol="0" anchor="ctr"/>
          <a:lstStyle/>
          <a:p>
            <a:pPr indent="0" marL="0">
              <a:lnSpc>
                <a:spcPct val="100000"/>
              </a:lnSpc>
              <a:buNone/>
            </a:pPr>
            <a:r>
              <a:rPr lang="en-US" sz="1250" b="1" dirty="0">
                <a:solidFill>
                  <a:srgbClr val="FFFFFF"/>
                </a:solidFill>
                <a:latin typeface="Calibri" pitchFamily="34" charset="0"/>
                <a:ea typeface="Calibri" pitchFamily="34" charset="-122"/>
                <a:cs typeface="Calibri" pitchFamily="34" charset="-120"/>
              </a:rPr>
              <a:t>Decomposition Agent</a:t>
            </a:r>
            <a:endParaRPr lang="en-US" sz="1250" dirty="0"/>
          </a:p>
        </p:txBody>
      </p:sp>
      <p:sp>
        <p:nvSpPr>
          <p:cNvPr id="25" name="Text 18"/>
          <p:cNvSpPr txBox="1"/>
          <p:nvPr/>
        </p:nvSpPr>
        <p:spPr>
          <a:xfrm>
            <a:off x="6272784" y="3584448"/>
            <a:ext cx="1554480" cy="457200"/>
          </a:xfrm>
          <a:prstGeom prst="rect">
            <a:avLst/>
          </a:prstGeom>
          <a:noFill/>
          <a:ln/>
        </p:spPr>
        <p:txBody>
          <a:bodyPr wrap="square" lIns="0" tIns="0" rIns="0" bIns="0" rtlCol="0" anchor="ctr"/>
          <a:lstStyle/>
          <a:p>
            <a:pPr indent="0" marL="0">
              <a:lnSpc>
                <a:spcPct val="92000"/>
              </a:lnSpc>
              <a:buNone/>
            </a:pPr>
            <a:r>
              <a:rPr lang="en-US" sz="950" dirty="0">
                <a:solidFill>
                  <a:srgbClr val="CFCBEF"/>
                </a:solidFill>
                <a:latin typeface="Calibri" pitchFamily="34" charset="0"/>
                <a:ea typeface="Calibri" pitchFamily="34" charset="-122"/>
                <a:cs typeface="Calibri" pitchFamily="34" charset="-120"/>
              </a:rPr>
              <a:t>Breaks work into structured, trackable tasks</a:t>
            </a:r>
            <a:endParaRPr lang="en-US" sz="950" dirty="0"/>
          </a:p>
        </p:txBody>
      </p:sp>
      <p:sp>
        <p:nvSpPr>
          <p:cNvPr id="26" name="Shape 19"/>
          <p:cNvSpPr/>
          <p:nvPr/>
        </p:nvSpPr>
        <p:spPr>
          <a:xfrm>
            <a:off x="5001768" y="3538728"/>
            <a:ext cx="429768" cy="64008"/>
          </a:xfrm>
          <a:prstGeom prst="line">
            <a:avLst/>
          </a:prstGeom>
          <a:noFill/>
          <a:ln w="15240">
            <a:solidFill>
              <a:srgbClr val="8E88C8"/>
            </a:solidFill>
            <a:prstDash val="solid"/>
            <a:tailEnd type="triangle"/>
          </a:ln>
        </p:spPr>
      </p:sp>
      <p:sp>
        <p:nvSpPr>
          <p:cNvPr id="27" name="Shape 20"/>
          <p:cNvSpPr/>
          <p:nvPr/>
        </p:nvSpPr>
        <p:spPr>
          <a:xfrm>
            <a:off x="5431536" y="4242816"/>
            <a:ext cx="2514600" cy="960120"/>
          </a:xfrm>
          <a:prstGeom prst="roundRect">
            <a:avLst>
              <a:gd name="adj" fmla="val 10476"/>
            </a:avLst>
          </a:prstGeom>
          <a:solidFill>
            <a:srgbClr val="FFFFFF">
              <a:alpha val="12000"/>
            </a:srgbClr>
          </a:solidFill>
          <a:ln w="12700">
            <a:solidFill>
              <a:srgbClr val="FFFFFF">
                <a:alpha val="18000"/>
              </a:srgbClr>
            </a:solidFill>
            <a:prstDash val="solid"/>
          </a:ln>
          <a:effectLst>
            <a:outerShdw sx="100000" sy="100000" kx="0" ky="0" algn="bl" rotWithShape="0" blurRad="177800" dist="63500" dir="5400000">
              <a:srgbClr val="0B0920">
                <a:alpha val="45000"/>
              </a:srgbClr>
            </a:outerShdw>
          </a:effectLst>
        </p:spPr>
      </p:sp>
      <p:sp>
        <p:nvSpPr>
          <p:cNvPr id="28" name="Shape 21"/>
          <p:cNvSpPr/>
          <p:nvPr/>
        </p:nvSpPr>
        <p:spPr>
          <a:xfrm>
            <a:off x="5614416" y="4462272"/>
            <a:ext cx="530352" cy="530352"/>
          </a:xfrm>
          <a:prstGeom prst="ellipse">
            <a:avLst/>
          </a:prstGeom>
          <a:solidFill>
            <a:srgbClr val="E0891C"/>
          </a:solidFill>
          <a:ln w="17780">
            <a:solidFill>
              <a:srgbClr val="F2A740"/>
            </a:solidFill>
            <a:prstDash val="solid"/>
          </a:ln>
          <a:effectLst>
            <a:outerShdw sx="100000" sy="100000" kx="0" ky="0" algn="bl" rotWithShape="0" blurRad="127000" dist="50800" dir="5400000">
              <a:srgbClr val="F2A740">
                <a:alpha val="45000"/>
              </a:srgbClr>
            </a:outerShdw>
          </a:effectLst>
        </p:spPr>
      </p:sp>
      <p:pic>
        <p:nvPicPr>
          <p:cNvPr id="29" name="Image 5" descr="assets/icons/bar_w.png">    </p:cNvPr>
          <p:cNvPicPr>
            <a:picLocks noChangeAspect="1"/>
          </p:cNvPicPr>
          <p:nvPr/>
        </p:nvPicPr>
        <p:blipFill>
          <a:blip r:embed="rId7"/>
          <a:stretch>
            <a:fillRect/>
          </a:stretch>
        </p:blipFill>
        <p:spPr>
          <a:xfrm>
            <a:off x="5762915" y="4610771"/>
            <a:ext cx="233355" cy="233355"/>
          </a:xfrm>
          <a:prstGeom prst="rect">
            <a:avLst/>
          </a:prstGeom>
        </p:spPr>
      </p:pic>
      <p:sp>
        <p:nvSpPr>
          <p:cNvPr id="30" name="Text 22"/>
          <p:cNvSpPr txBox="1"/>
          <p:nvPr/>
        </p:nvSpPr>
        <p:spPr>
          <a:xfrm>
            <a:off x="6272784" y="4407408"/>
            <a:ext cx="1554480" cy="274320"/>
          </a:xfrm>
          <a:prstGeom prst="rect">
            <a:avLst/>
          </a:prstGeom>
          <a:noFill/>
          <a:ln/>
        </p:spPr>
        <p:txBody>
          <a:bodyPr wrap="square" lIns="0" tIns="0" rIns="0" bIns="0" rtlCol="0" anchor="ctr"/>
          <a:lstStyle/>
          <a:p>
            <a:pPr indent="0" marL="0">
              <a:lnSpc>
                <a:spcPct val="100000"/>
              </a:lnSpc>
              <a:buNone/>
            </a:pPr>
            <a:r>
              <a:rPr lang="en-US" sz="1250" b="1" dirty="0">
                <a:solidFill>
                  <a:srgbClr val="FFFFFF"/>
                </a:solidFill>
                <a:latin typeface="Calibri" pitchFamily="34" charset="0"/>
                <a:ea typeface="Calibri" pitchFamily="34" charset="-122"/>
                <a:cs typeface="Calibri" pitchFamily="34" charset="-120"/>
              </a:rPr>
              <a:t>Effort Estimation Agent</a:t>
            </a:r>
            <a:endParaRPr lang="en-US" sz="1250" dirty="0"/>
          </a:p>
        </p:txBody>
      </p:sp>
      <p:sp>
        <p:nvSpPr>
          <p:cNvPr id="31" name="Text 23"/>
          <p:cNvSpPr txBox="1"/>
          <p:nvPr/>
        </p:nvSpPr>
        <p:spPr>
          <a:xfrm>
            <a:off x="6272784" y="4700016"/>
            <a:ext cx="1554480" cy="457200"/>
          </a:xfrm>
          <a:prstGeom prst="rect">
            <a:avLst/>
          </a:prstGeom>
          <a:noFill/>
          <a:ln/>
        </p:spPr>
        <p:txBody>
          <a:bodyPr wrap="square" lIns="0" tIns="0" rIns="0" bIns="0" rtlCol="0" anchor="ctr"/>
          <a:lstStyle/>
          <a:p>
            <a:pPr indent="0" marL="0">
              <a:lnSpc>
                <a:spcPct val="92000"/>
              </a:lnSpc>
              <a:buNone/>
            </a:pPr>
            <a:r>
              <a:rPr lang="en-US" sz="950" dirty="0">
                <a:solidFill>
                  <a:srgbClr val="CFCBEF"/>
                </a:solidFill>
                <a:latin typeface="Calibri" pitchFamily="34" charset="0"/>
                <a:ea typeface="Calibri" pitchFamily="34" charset="-122"/>
                <a:cs typeface="Calibri" pitchFamily="34" charset="-120"/>
              </a:rPr>
              <a:t>Predicts effort &amp; story points</a:t>
            </a:r>
            <a:endParaRPr lang="en-US" sz="950" dirty="0"/>
          </a:p>
        </p:txBody>
      </p:sp>
      <p:sp>
        <p:nvSpPr>
          <p:cNvPr id="32" name="Shape 24"/>
          <p:cNvSpPr/>
          <p:nvPr/>
        </p:nvSpPr>
        <p:spPr>
          <a:xfrm>
            <a:off x="5001768" y="3538728"/>
            <a:ext cx="429768" cy="1179576"/>
          </a:xfrm>
          <a:prstGeom prst="line">
            <a:avLst/>
          </a:prstGeom>
          <a:noFill/>
          <a:ln w="15240">
            <a:solidFill>
              <a:srgbClr val="8E88C8"/>
            </a:solidFill>
            <a:prstDash val="solid"/>
            <a:tailEnd type="triangle"/>
          </a:ln>
        </p:spPr>
      </p:sp>
      <p:sp>
        <p:nvSpPr>
          <p:cNvPr id="33" name="Shape 25"/>
          <p:cNvSpPr/>
          <p:nvPr/>
        </p:nvSpPr>
        <p:spPr>
          <a:xfrm>
            <a:off x="566928" y="5303520"/>
            <a:ext cx="7379208" cy="530352"/>
          </a:xfrm>
          <a:prstGeom prst="roundRect">
            <a:avLst>
              <a:gd name="adj" fmla="val 18966"/>
            </a:avLst>
          </a:prstGeom>
          <a:solidFill>
            <a:srgbClr val="FFFFFF">
              <a:alpha val="16000"/>
            </a:srgbClr>
          </a:solidFill>
          <a:ln w="12700">
            <a:solidFill>
              <a:srgbClr val="FFFFFF">
                <a:alpha val="18000"/>
              </a:srgbClr>
            </a:solidFill>
            <a:prstDash val="solid"/>
          </a:ln>
          <a:effectLst>
            <a:outerShdw sx="100000" sy="100000" kx="0" ky="0" algn="bl" rotWithShape="0" blurRad="177800" dist="63500" dir="5400000">
              <a:srgbClr val="0B0920">
                <a:alpha val="45000"/>
              </a:srgbClr>
            </a:outerShdw>
          </a:effectLst>
        </p:spPr>
      </p:sp>
      <p:sp>
        <p:nvSpPr>
          <p:cNvPr id="34" name="Shape 26"/>
          <p:cNvSpPr/>
          <p:nvPr/>
        </p:nvSpPr>
        <p:spPr>
          <a:xfrm>
            <a:off x="749808" y="5404104"/>
            <a:ext cx="329184" cy="329184"/>
          </a:xfrm>
          <a:prstGeom prst="ellipse">
            <a:avLst/>
          </a:prstGeom>
          <a:solidFill>
            <a:srgbClr val="23925B"/>
          </a:solidFill>
          <a:ln w="17780">
            <a:solidFill>
              <a:srgbClr val="39BC7A"/>
            </a:solidFill>
            <a:prstDash val="solid"/>
          </a:ln>
          <a:effectLst>
            <a:outerShdw sx="100000" sy="100000" kx="0" ky="0" algn="bl" rotWithShape="0" blurRad="127000" dist="50800" dir="5400000">
              <a:srgbClr val="39BC7A">
                <a:alpha val="45000"/>
              </a:srgbClr>
            </a:outerShdw>
          </a:effectLst>
        </p:spPr>
      </p:sp>
      <p:pic>
        <p:nvPicPr>
          <p:cNvPr id="35" name="Image 6" descr="assets/icons/check_w.png">    </p:cNvPr>
          <p:cNvPicPr>
            <a:picLocks noChangeAspect="1"/>
          </p:cNvPicPr>
          <p:nvPr/>
        </p:nvPicPr>
        <p:blipFill>
          <a:blip r:embed="rId8"/>
          <a:stretch>
            <a:fillRect/>
          </a:stretch>
        </p:blipFill>
        <p:spPr>
          <a:xfrm>
            <a:off x="841980" y="5496276"/>
            <a:ext cx="144841" cy="144841"/>
          </a:xfrm>
          <a:prstGeom prst="rect">
            <a:avLst/>
          </a:prstGeom>
        </p:spPr>
      </p:pic>
      <p:sp>
        <p:nvSpPr>
          <p:cNvPr id="36" name="Text 27"/>
          <p:cNvSpPr txBox="1"/>
          <p:nvPr/>
        </p:nvSpPr>
        <p:spPr>
          <a:xfrm>
            <a:off x="1225296" y="5330952"/>
            <a:ext cx="6510528" cy="457200"/>
          </a:xfrm>
          <a:prstGeom prst="rect">
            <a:avLst/>
          </a:prstGeom>
          <a:noFill/>
          <a:ln/>
        </p:spPr>
        <p:txBody>
          <a:bodyPr wrap="square" lIns="0" tIns="0" rIns="0" bIns="0" rtlCol="0" anchor="ctr"/>
          <a:lstStyle/>
          <a:p>
            <a:pPr indent="0" marL="0">
              <a:lnSpc>
                <a:spcPct val="95000"/>
              </a:lnSpc>
              <a:buNone/>
            </a:pPr>
            <a:r>
              <a:rPr lang="en-US" sz="1050" b="1" dirty="0">
                <a:solidFill>
                  <a:srgbClr val="9FE7C9"/>
                </a:solidFill>
                <a:latin typeface="Calibri" pitchFamily="34" charset="0"/>
                <a:ea typeface="Calibri" pitchFamily="34" charset="-122"/>
                <a:cs typeface="Calibri" pitchFamily="34" charset="-120"/>
              </a:rPr>
              <a:t>Output:  </a:t>
            </a:r>
            <a:pPr indent="0" marL="0">
              <a:lnSpc>
                <a:spcPct val="95000"/>
              </a:lnSpc>
              <a:buNone/>
            </a:pPr>
            <a:r>
              <a:rPr lang="en-US" sz="1050" dirty="0">
                <a:solidFill>
                  <a:srgbClr val="CFCBEF"/>
                </a:solidFill>
                <a:latin typeface="Calibri" pitchFamily="34" charset="0"/>
                <a:ea typeface="Calibri" pitchFamily="34" charset="-122"/>
                <a:cs typeface="Calibri" pitchFamily="34" charset="-120"/>
              </a:rPr>
              <a:t>a planning-ready, testable requirement set with structured tasks and effort estimates — agents stay autonomous and coordinate through DART.</a:t>
            </a:r>
            <a:endParaRPr lang="en-US" sz="1050" dirty="0"/>
          </a:p>
        </p:txBody>
      </p:sp>
      <p:sp>
        <p:nvSpPr>
          <p:cNvPr id="37" name="Text 28"/>
          <p:cNvSpPr txBox="1"/>
          <p:nvPr/>
        </p:nvSpPr>
        <p:spPr>
          <a:xfrm>
            <a:off x="603504" y="6528816"/>
            <a:ext cx="8229600" cy="256032"/>
          </a:xfrm>
          <a:prstGeom prst="rect">
            <a:avLst/>
          </a:prstGeom>
          <a:noFill/>
          <a:ln/>
        </p:spPr>
        <p:txBody>
          <a:bodyPr wrap="square" lIns="0" tIns="0" rIns="0" bIns="0" rtlCol="0" anchor="ctr"/>
          <a:lstStyle/>
          <a:p>
            <a:pPr indent="0" marL="0">
              <a:lnSpc>
                <a:spcPct val="100000"/>
              </a:lnSpc>
              <a:buNone/>
            </a:pPr>
            <a:r>
              <a:rPr lang="en-US" sz="900" b="1" dirty="0">
                <a:solidFill>
                  <a:srgbClr val="9C97CC"/>
                </a:solidFill>
                <a:latin typeface="Calibri" pitchFamily="34" charset="0"/>
                <a:ea typeface="Calibri" pitchFamily="34" charset="-122"/>
                <a:cs typeface="Calibri" pitchFamily="34" charset="-120"/>
              </a:rPr>
              <a:t>IT23152878  |  Rajapaksha R W V C V  |  J26-SE-363</a:t>
            </a:r>
            <a:endParaRPr lang="en-US" sz="900" dirty="0"/>
          </a:p>
        </p:txBody>
      </p:sp>
      <p:sp>
        <p:nvSpPr>
          <p:cNvPr id="38" name="Text 29"/>
          <p:cNvSpPr txBox="1"/>
          <p:nvPr/>
        </p:nvSpPr>
        <p:spPr>
          <a:xfrm>
            <a:off x="10972800" y="6528816"/>
            <a:ext cx="640080" cy="256032"/>
          </a:xfrm>
          <a:prstGeom prst="rect">
            <a:avLst/>
          </a:prstGeom>
          <a:noFill/>
          <a:ln/>
        </p:spPr>
        <p:txBody>
          <a:bodyPr wrap="square" lIns="0" tIns="0" rIns="0" bIns="0" rtlCol="0" anchor="ctr"/>
          <a:lstStyle/>
          <a:p>
            <a:pPr algn="r" indent="0" marL="0">
              <a:lnSpc>
                <a:spcPct val="100000"/>
              </a:lnSpc>
              <a:buNone/>
            </a:pPr>
            <a:r>
              <a:rPr lang="en-US" sz="850" dirty="0">
                <a:solidFill>
                  <a:srgbClr val="726CA6"/>
                </a:solidFill>
                <a:latin typeface="Calibri" pitchFamily="34" charset="0"/>
                <a:ea typeface="Calibri" pitchFamily="34" charset="-122"/>
                <a:cs typeface="Calibri" pitchFamily="34" charset="-120"/>
              </a:rPr>
              <a:t>10</a:t>
            </a:r>
            <a:endParaRPr lang="en-US" sz="8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Shape 0"/>
          <p:cNvSpPr/>
          <p:nvPr/>
        </p:nvSpPr>
        <p:spPr>
          <a:xfrm>
            <a:off x="10515600" y="411480"/>
            <a:ext cx="1143000" cy="1143000"/>
          </a:xfrm>
          <a:prstGeom prst="ellipse">
            <a:avLst/>
          </a:prstGeom>
          <a:solidFill>
            <a:srgbClr val="1A1640"/>
          </a:solidFill>
          <a:ln w="25400">
            <a:solidFill>
              <a:srgbClr val="16C78C"/>
            </a:solidFill>
            <a:prstDash val="solid"/>
          </a:ln>
          <a:effectLst>
            <a:outerShdw sx="100000" sy="100000" kx="0" ky="0" algn="bl" rotWithShape="0" blurRad="127000" dist="50800" dir="5400000">
              <a:srgbClr val="4A3DC2">
                <a:alpha val="45000"/>
              </a:srgbClr>
            </a:outerShdw>
          </a:effectLst>
        </p:spPr>
      </p:sp>
      <p:pic>
        <p:nvPicPr>
          <p:cNvPr id="3" name="Image 0" descr="assets/kumbukage.jpg">    </p:cNvPr>
          <p:cNvPicPr>
            <a:picLocks noChangeAspect="1"/>
          </p:cNvPicPr>
          <p:nvPr/>
        </p:nvPicPr>
        <p:blipFill>
          <a:blip r:embed="rId2"/>
          <a:stretch>
            <a:fillRect/>
          </a:stretch>
        </p:blipFill>
        <p:spPr>
          <a:xfrm>
            <a:off x="10561320" y="457200"/>
            <a:ext cx="1051560" cy="1051560"/>
          </a:xfrm>
          <a:prstGeom prst="ellipse">
            <a:avLst/>
          </a:prstGeom>
        </p:spPr>
      </p:pic>
      <p:sp>
        <p:nvSpPr>
          <p:cNvPr id="4" name="Text 1"/>
          <p:cNvSpPr txBox="1"/>
          <p:nvPr/>
        </p:nvSpPr>
        <p:spPr>
          <a:xfrm>
            <a:off x="603504" y="493776"/>
            <a:ext cx="10058400" cy="274320"/>
          </a:xfrm>
          <a:prstGeom prst="rect">
            <a:avLst/>
          </a:prstGeom>
          <a:noFill/>
          <a:ln/>
        </p:spPr>
        <p:txBody>
          <a:bodyPr wrap="square" lIns="0" tIns="0" rIns="0" bIns="0" rtlCol="0" anchor="ctr"/>
          <a:lstStyle/>
          <a:p>
            <a:pPr indent="0" marL="0">
              <a:lnSpc>
                <a:spcPct val="100000"/>
              </a:lnSpc>
              <a:buNone/>
            </a:pPr>
            <a:r>
              <a:rPr lang="en-US" sz="1100" b="1" spc="260" kern="0" dirty="0">
                <a:solidFill>
                  <a:srgbClr val="9FE7C9"/>
                </a:solidFill>
                <a:latin typeface="Calibri" pitchFamily="34" charset="0"/>
                <a:ea typeface="Calibri" pitchFamily="34" charset="-122"/>
                <a:cs typeface="Calibri" pitchFamily="34" charset="-120"/>
              </a:rPr>
              <a:t>INDIVIDUAL COMPONENT  ·  02</a:t>
            </a:r>
            <a:endParaRPr lang="en-US" sz="1100" dirty="0"/>
          </a:p>
        </p:txBody>
      </p:sp>
      <p:sp>
        <p:nvSpPr>
          <p:cNvPr id="5" name="Text 2"/>
          <p:cNvSpPr txBox="1"/>
          <p:nvPr/>
        </p:nvSpPr>
        <p:spPr>
          <a:xfrm>
            <a:off x="566928" y="749808"/>
            <a:ext cx="9692640" cy="1005840"/>
          </a:xfrm>
          <a:prstGeom prst="rect">
            <a:avLst/>
          </a:prstGeom>
          <a:noFill/>
          <a:ln/>
        </p:spPr>
        <p:txBody>
          <a:bodyPr wrap="square" lIns="0" tIns="0" rIns="0" bIns="0" rtlCol="0" anchor="ctr"/>
          <a:lstStyle/>
          <a:p>
            <a:pPr indent="0" marL="0">
              <a:lnSpc>
                <a:spcPct val="98000"/>
              </a:lnSpc>
              <a:buNone/>
            </a:pPr>
            <a:r>
              <a:rPr lang="en-US" sz="2600" b="1" dirty="0">
                <a:solidFill>
                  <a:srgbClr val="FFFFFF"/>
                </a:solidFill>
                <a:latin typeface="Calibri" pitchFamily="34" charset="0"/>
                <a:ea typeface="Calibri" pitchFamily="34" charset="-122"/>
                <a:cs typeface="Calibri" pitchFamily="34" charset="-120"/>
              </a:rPr>
              <a:t>Automated Individual Student Performance Assessment</a:t>
            </a:r>
            <a:endParaRPr lang="en-US" sz="2600" dirty="0"/>
          </a:p>
        </p:txBody>
      </p:sp>
      <p:sp>
        <p:nvSpPr>
          <p:cNvPr id="6" name="Shape 3"/>
          <p:cNvSpPr/>
          <p:nvPr/>
        </p:nvSpPr>
        <p:spPr>
          <a:xfrm>
            <a:off x="566928" y="1901952"/>
            <a:ext cx="2011680" cy="365760"/>
          </a:xfrm>
          <a:prstGeom prst="roundRect">
            <a:avLst>
              <a:gd name="adj" fmla="val 50000"/>
            </a:avLst>
          </a:prstGeom>
          <a:solidFill>
            <a:srgbClr val="FFFFFF">
              <a:alpha val="14000"/>
            </a:srgbClr>
          </a:solidFill>
          <a:ln w="12700">
            <a:solidFill>
              <a:srgbClr val="FFFFFF">
                <a:alpha val="34000"/>
              </a:srgbClr>
            </a:solidFill>
            <a:prstDash val="solid"/>
          </a:ln>
        </p:spPr>
      </p:sp>
      <p:sp>
        <p:nvSpPr>
          <p:cNvPr id="7" name="Text 4"/>
          <p:cNvSpPr txBox="1"/>
          <p:nvPr/>
        </p:nvSpPr>
        <p:spPr>
          <a:xfrm>
            <a:off x="566928" y="1901952"/>
            <a:ext cx="2011680" cy="365760"/>
          </a:xfrm>
          <a:prstGeom prst="rect">
            <a:avLst/>
          </a:prstGeom>
          <a:noFill/>
          <a:ln/>
        </p:spPr>
        <p:txBody>
          <a:bodyPr wrap="square" lIns="0" tIns="0" rIns="0" bIns="0" rtlCol="0" anchor="ctr"/>
          <a:lstStyle/>
          <a:p>
            <a:pPr algn="ctr" indent="0" marL="0">
              <a:lnSpc>
                <a:spcPct val="100000"/>
              </a:lnSpc>
              <a:buNone/>
            </a:pPr>
            <a:r>
              <a:rPr lang="en-US" sz="1000" b="1" dirty="0">
                <a:solidFill>
                  <a:srgbClr val="E7E3FF"/>
                </a:solidFill>
                <a:latin typeface="Calibri" pitchFamily="34" charset="0"/>
                <a:ea typeface="Calibri" pitchFamily="34" charset="-122"/>
                <a:cs typeface="Calibri" pitchFamily="34" charset="-120"/>
              </a:rPr>
              <a:t>Software Engineering</a:t>
            </a:r>
            <a:endParaRPr lang="en-US" sz="1000" dirty="0"/>
          </a:p>
        </p:txBody>
      </p:sp>
      <p:sp>
        <p:nvSpPr>
          <p:cNvPr id="8" name="Shape 5"/>
          <p:cNvSpPr/>
          <p:nvPr/>
        </p:nvSpPr>
        <p:spPr>
          <a:xfrm>
            <a:off x="2697480" y="1901952"/>
            <a:ext cx="3291840" cy="365760"/>
          </a:xfrm>
          <a:prstGeom prst="roundRect">
            <a:avLst>
              <a:gd name="adj" fmla="val 50000"/>
            </a:avLst>
          </a:prstGeom>
          <a:solidFill>
            <a:srgbClr val="0E9E6E"/>
          </a:solidFill>
          <a:ln w="12700">
            <a:solidFill>
              <a:srgbClr val="16C78C"/>
            </a:solidFill>
            <a:prstDash val="solid"/>
          </a:ln>
        </p:spPr>
      </p:sp>
      <p:sp>
        <p:nvSpPr>
          <p:cNvPr id="9" name="Text 6"/>
          <p:cNvSpPr txBox="1"/>
          <p:nvPr/>
        </p:nvSpPr>
        <p:spPr>
          <a:xfrm>
            <a:off x="2697480" y="1901952"/>
            <a:ext cx="3291840" cy="365760"/>
          </a:xfrm>
          <a:prstGeom prst="rect">
            <a:avLst/>
          </a:prstGeom>
          <a:noFill/>
          <a:ln/>
        </p:spPr>
        <p:txBody>
          <a:bodyPr wrap="square" lIns="0" tIns="0" rIns="0" bIns="0" rtlCol="0" anchor="ctr"/>
          <a:lstStyle/>
          <a:p>
            <a:pPr algn="ctr" indent="0" marL="0">
              <a:lnSpc>
                <a:spcPct val="100000"/>
              </a:lnSpc>
              <a:buNone/>
            </a:pPr>
            <a:r>
              <a:rPr lang="en-US" sz="1000" b="1" dirty="0">
                <a:solidFill>
                  <a:srgbClr val="FFFFFF"/>
                </a:solidFill>
                <a:latin typeface="Calibri" pitchFamily="34" charset="0"/>
                <a:ea typeface="Calibri" pitchFamily="34" charset="-122"/>
                <a:cs typeface="Calibri" pitchFamily="34" charset="-120"/>
              </a:rPr>
              <a:t>Kumbukage S S  ·  IT23155534</a:t>
            </a:r>
            <a:endParaRPr lang="en-US" sz="1000" dirty="0"/>
          </a:p>
        </p:txBody>
      </p:sp>
      <p:sp>
        <p:nvSpPr>
          <p:cNvPr id="10" name="Text 7"/>
          <p:cNvSpPr txBox="1"/>
          <p:nvPr/>
        </p:nvSpPr>
        <p:spPr>
          <a:xfrm>
            <a:off x="566928" y="2505456"/>
            <a:ext cx="9692640" cy="731520"/>
          </a:xfrm>
          <a:prstGeom prst="rect">
            <a:avLst/>
          </a:prstGeom>
          <a:noFill/>
          <a:ln/>
        </p:spPr>
        <p:txBody>
          <a:bodyPr wrap="square" lIns="0" tIns="0" rIns="0" bIns="0" rtlCol="0" anchor="ctr"/>
          <a:lstStyle/>
          <a:p>
            <a:pPr indent="0" marL="0">
              <a:lnSpc>
                <a:spcPct val="108000"/>
              </a:lnSpc>
              <a:buNone/>
            </a:pPr>
            <a:r>
              <a:rPr lang="en-US" sz="1500" dirty="0">
                <a:solidFill>
                  <a:srgbClr val="CFCBEF"/>
                </a:solidFill>
                <a:latin typeface="Calibri" pitchFamily="34" charset="0"/>
                <a:ea typeface="Calibri" pitchFamily="34" charset="-122"/>
                <a:cs typeface="Calibri" pitchFamily="34" charset="-120"/>
              </a:rPr>
              <a:t>Mine Git and Scrum evidence across seven standardized factors, with active code-comprehension probes, for fair and explainable individual grading.</a:t>
            </a:r>
            <a:endParaRPr lang="en-US" sz="1500" dirty="0"/>
          </a:p>
        </p:txBody>
      </p:sp>
      <p:sp>
        <p:nvSpPr>
          <p:cNvPr id="11" name="Shape 8"/>
          <p:cNvSpPr/>
          <p:nvPr/>
        </p:nvSpPr>
        <p:spPr>
          <a:xfrm>
            <a:off x="566928" y="3474720"/>
            <a:ext cx="11064240" cy="1097280"/>
          </a:xfrm>
          <a:prstGeom prst="roundRect">
            <a:avLst>
              <a:gd name="adj" fmla="val 9167"/>
            </a:avLst>
          </a:prstGeom>
          <a:solidFill>
            <a:srgbClr val="FFFFFF">
              <a:alpha val="12000"/>
            </a:srgbClr>
          </a:solidFill>
          <a:ln w="12700">
            <a:solidFill>
              <a:srgbClr val="FFFFFF">
                <a:alpha val="18000"/>
              </a:srgbClr>
            </a:solidFill>
            <a:prstDash val="solid"/>
          </a:ln>
          <a:effectLst>
            <a:outerShdw sx="100000" sy="100000" kx="0" ky="0" algn="bl" rotWithShape="0" blurRad="177800" dist="63500" dir="5400000">
              <a:srgbClr val="0B0920">
                <a:alpha val="45000"/>
              </a:srgbClr>
            </a:outerShdw>
          </a:effectLst>
        </p:spPr>
      </p:sp>
      <p:sp>
        <p:nvSpPr>
          <p:cNvPr id="12" name="Shape 9"/>
          <p:cNvSpPr/>
          <p:nvPr/>
        </p:nvSpPr>
        <p:spPr>
          <a:xfrm>
            <a:off x="932688" y="3218688"/>
            <a:ext cx="1832458" cy="512064"/>
          </a:xfrm>
          <a:prstGeom prst="roundRect">
            <a:avLst>
              <a:gd name="adj" fmla="val 50000"/>
            </a:avLst>
          </a:prstGeom>
          <a:solidFill>
            <a:srgbClr val="16C78C"/>
          </a:solidFill>
          <a:ln/>
          <a:effectLst>
            <a:outerShdw sx="100000" sy="100000" kx="0" ky="0" algn="bl" rotWithShape="0" blurRad="127000" dist="50800" dir="5400000">
              <a:srgbClr val="16C78C">
                <a:alpha val="45000"/>
              </a:srgbClr>
            </a:outerShdw>
          </a:effectLst>
        </p:spPr>
      </p:sp>
      <p:sp>
        <p:nvSpPr>
          <p:cNvPr id="13" name="Shape 10"/>
          <p:cNvSpPr/>
          <p:nvPr/>
        </p:nvSpPr>
        <p:spPr>
          <a:xfrm>
            <a:off x="676656" y="3145536"/>
            <a:ext cx="676656" cy="676656"/>
          </a:xfrm>
          <a:prstGeom prst="ellipse">
            <a:avLst/>
          </a:prstGeom>
          <a:solidFill>
            <a:srgbClr val="0E9E6E"/>
          </a:solidFill>
          <a:ln w="15240">
            <a:solidFill>
              <a:srgbClr val="FFFFFF">
                <a:alpha val="38000"/>
              </a:srgbClr>
            </a:solidFill>
            <a:prstDash val="solid"/>
          </a:ln>
          <a:effectLst>
            <a:outerShdw sx="100000" sy="100000" kx="0" ky="0" algn="bl" rotWithShape="0" blurRad="127000" dist="50800" dir="5400000">
              <a:srgbClr val="0E9E6E">
                <a:alpha val="45000"/>
              </a:srgbClr>
            </a:outerShdw>
          </a:effectLst>
        </p:spPr>
      </p:sp>
      <p:pic>
        <p:nvPicPr>
          <p:cNvPr id="14" name="Image 1" descr="assets/icons/star_w.png">    </p:cNvPr>
          <p:cNvPicPr>
            <a:picLocks noChangeAspect="1"/>
          </p:cNvPicPr>
          <p:nvPr/>
        </p:nvPicPr>
        <p:blipFill>
          <a:blip r:embed="rId3"/>
          <a:stretch>
            <a:fillRect/>
          </a:stretch>
        </p:blipFill>
        <p:spPr>
          <a:xfrm>
            <a:off x="866120" y="3335000"/>
            <a:ext cx="297729" cy="297729"/>
          </a:xfrm>
          <a:prstGeom prst="rect">
            <a:avLst/>
          </a:prstGeom>
        </p:spPr>
      </p:pic>
      <p:sp>
        <p:nvSpPr>
          <p:cNvPr id="15" name="Text 11"/>
          <p:cNvSpPr txBox="1"/>
          <p:nvPr/>
        </p:nvSpPr>
        <p:spPr>
          <a:xfrm>
            <a:off x="1389888" y="3218688"/>
            <a:ext cx="1338682" cy="512064"/>
          </a:xfrm>
          <a:prstGeom prst="rect">
            <a:avLst/>
          </a:prstGeom>
          <a:noFill/>
          <a:ln/>
        </p:spPr>
        <p:txBody>
          <a:bodyPr wrap="square" lIns="0" tIns="0" rIns="0" bIns="0" rtlCol="0" anchor="ctr"/>
          <a:lstStyle/>
          <a:p>
            <a:pPr indent="0" marL="0">
              <a:lnSpc>
                <a:spcPct val="100000"/>
              </a:lnSpc>
              <a:buNone/>
            </a:pPr>
            <a:r>
              <a:rPr lang="en-US" sz="1150" b="1" dirty="0">
                <a:solidFill>
                  <a:srgbClr val="FFFFFF"/>
                </a:solidFill>
                <a:latin typeface="Calibri" pitchFamily="34" charset="0"/>
                <a:ea typeface="Calibri" pitchFamily="34" charset="-122"/>
                <a:cs typeface="Calibri" pitchFamily="34" charset="-120"/>
              </a:rPr>
              <a:t>Core novelty</a:t>
            </a:r>
            <a:endParaRPr lang="en-US" sz="1150" dirty="0"/>
          </a:p>
        </p:txBody>
      </p:sp>
      <p:sp>
        <p:nvSpPr>
          <p:cNvPr id="16" name="Text 12"/>
          <p:cNvSpPr txBox="1"/>
          <p:nvPr/>
        </p:nvSpPr>
        <p:spPr>
          <a:xfrm>
            <a:off x="822960" y="3950208"/>
            <a:ext cx="10332720" cy="548640"/>
          </a:xfrm>
          <a:prstGeom prst="rect">
            <a:avLst/>
          </a:prstGeom>
          <a:noFill/>
          <a:ln/>
        </p:spPr>
        <p:txBody>
          <a:bodyPr wrap="square" lIns="0" tIns="0" rIns="0" bIns="0" rtlCol="0" anchor="ctr"/>
          <a:lstStyle/>
          <a:p>
            <a:pPr indent="0" marL="0">
              <a:lnSpc>
                <a:spcPct val="98000"/>
              </a:lnSpc>
              <a:buNone/>
            </a:pPr>
            <a:r>
              <a:rPr lang="en-US" sz="1600" b="1" dirty="0">
                <a:solidFill>
                  <a:srgbClr val="FFFFFF"/>
                </a:solidFill>
                <a:latin typeface="Calibri" pitchFamily="34" charset="0"/>
                <a:ea typeface="Calibri" pitchFamily="34" charset="-122"/>
                <a:cs typeface="Calibri" pitchFamily="34" charset="-120"/>
              </a:rPr>
              <a:t>Hybrid Passive–Active Assessment</a:t>
            </a:r>
            <a:endParaRPr lang="en-US" sz="1600" dirty="0"/>
          </a:p>
        </p:txBody>
      </p:sp>
      <p:sp>
        <p:nvSpPr>
          <p:cNvPr id="17" name="Shape 13"/>
          <p:cNvSpPr/>
          <p:nvPr/>
        </p:nvSpPr>
        <p:spPr>
          <a:xfrm>
            <a:off x="566928" y="4800600"/>
            <a:ext cx="3535680" cy="1051560"/>
          </a:xfrm>
          <a:prstGeom prst="roundRect">
            <a:avLst>
              <a:gd name="adj" fmla="val 9565"/>
            </a:avLst>
          </a:prstGeom>
          <a:solidFill>
            <a:srgbClr val="FFFFFF">
              <a:alpha val="12000"/>
            </a:srgbClr>
          </a:solidFill>
          <a:ln w="12700">
            <a:solidFill>
              <a:srgbClr val="FFFFFF">
                <a:alpha val="18000"/>
              </a:srgbClr>
            </a:solidFill>
            <a:prstDash val="solid"/>
          </a:ln>
          <a:effectLst>
            <a:outerShdw sx="100000" sy="100000" kx="0" ky="0" algn="bl" rotWithShape="0" blurRad="177800" dist="63500" dir="5400000">
              <a:srgbClr val="0B0920">
                <a:alpha val="45000"/>
              </a:srgbClr>
            </a:outerShdw>
          </a:effectLst>
        </p:spPr>
      </p:sp>
      <p:sp>
        <p:nvSpPr>
          <p:cNvPr id="18" name="Shape 14"/>
          <p:cNvSpPr/>
          <p:nvPr/>
        </p:nvSpPr>
        <p:spPr>
          <a:xfrm>
            <a:off x="786384" y="5074920"/>
            <a:ext cx="512064" cy="512064"/>
          </a:xfrm>
          <a:prstGeom prst="ellipse">
            <a:avLst/>
          </a:prstGeom>
          <a:solidFill>
            <a:srgbClr val="5A47CE"/>
          </a:solidFill>
          <a:ln w="17780">
            <a:solidFill>
              <a:srgbClr val="7E6CF4"/>
            </a:solidFill>
            <a:prstDash val="solid"/>
          </a:ln>
          <a:effectLst>
            <a:outerShdw sx="100000" sy="100000" kx="0" ky="0" algn="bl" rotWithShape="0" blurRad="127000" dist="50800" dir="5400000">
              <a:srgbClr val="7E6CF4">
                <a:alpha val="45000"/>
              </a:srgbClr>
            </a:outerShdw>
          </a:effectLst>
        </p:spPr>
      </p:sp>
      <p:pic>
        <p:nvPicPr>
          <p:cNvPr id="19" name="Image 2" descr="assets/icons/grid_w.png">    </p:cNvPr>
          <p:cNvPicPr>
            <a:picLocks noChangeAspect="1"/>
          </p:cNvPicPr>
          <p:nvPr/>
        </p:nvPicPr>
        <p:blipFill>
          <a:blip r:embed="rId4"/>
          <a:stretch>
            <a:fillRect/>
          </a:stretch>
        </p:blipFill>
        <p:spPr>
          <a:xfrm>
            <a:off x="929762" y="5218298"/>
            <a:ext cx="225308" cy="225308"/>
          </a:xfrm>
          <a:prstGeom prst="rect">
            <a:avLst/>
          </a:prstGeom>
        </p:spPr>
      </p:pic>
      <p:sp>
        <p:nvSpPr>
          <p:cNvPr id="20" name="Text 15"/>
          <p:cNvSpPr txBox="1"/>
          <p:nvPr/>
        </p:nvSpPr>
        <p:spPr>
          <a:xfrm>
            <a:off x="1444752" y="5056632"/>
            <a:ext cx="2493264" cy="292608"/>
          </a:xfrm>
          <a:prstGeom prst="rect">
            <a:avLst/>
          </a:prstGeom>
          <a:noFill/>
          <a:ln/>
        </p:spPr>
        <p:txBody>
          <a:bodyPr wrap="square" lIns="0" tIns="0" rIns="0" bIns="0" rtlCol="0" anchor="ctr"/>
          <a:lstStyle/>
          <a:p>
            <a:pPr indent="0" marL="0">
              <a:lnSpc>
                <a:spcPct val="100000"/>
              </a:lnSpc>
              <a:buNone/>
            </a:pPr>
            <a:r>
              <a:rPr lang="en-US" sz="1350" b="1" dirty="0">
                <a:solidFill>
                  <a:srgbClr val="FFFFFF"/>
                </a:solidFill>
                <a:latin typeface="Calibri" pitchFamily="34" charset="0"/>
                <a:ea typeface="Calibri" pitchFamily="34" charset="-122"/>
                <a:cs typeface="Calibri" pitchFamily="34" charset="-120"/>
              </a:rPr>
              <a:t>7 factors</a:t>
            </a:r>
            <a:endParaRPr lang="en-US" sz="1350" dirty="0"/>
          </a:p>
        </p:txBody>
      </p:sp>
      <p:sp>
        <p:nvSpPr>
          <p:cNvPr id="21" name="Text 16"/>
          <p:cNvSpPr txBox="1"/>
          <p:nvPr/>
        </p:nvSpPr>
        <p:spPr>
          <a:xfrm>
            <a:off x="1444752" y="5367528"/>
            <a:ext cx="2493264" cy="384048"/>
          </a:xfrm>
          <a:prstGeom prst="rect">
            <a:avLst/>
          </a:prstGeom>
          <a:noFill/>
          <a:ln/>
        </p:spPr>
        <p:txBody>
          <a:bodyPr wrap="square" lIns="0" tIns="0" rIns="0" bIns="0" rtlCol="0" anchor="ctr"/>
          <a:lstStyle/>
          <a:p>
            <a:pPr indent="0" marL="0">
              <a:lnSpc>
                <a:spcPct val="95000"/>
              </a:lnSpc>
              <a:buNone/>
            </a:pPr>
            <a:r>
              <a:rPr lang="en-US" sz="1000" dirty="0">
                <a:solidFill>
                  <a:srgbClr val="CFCBEF"/>
                </a:solidFill>
                <a:latin typeface="Calibri" pitchFamily="34" charset="0"/>
                <a:ea typeface="Calibri" pitchFamily="34" charset="-122"/>
                <a:cs typeface="Calibri" pitchFamily="34" charset="-120"/>
              </a:rPr>
              <a:t>Multi-dimensional</a:t>
            </a:r>
            <a:endParaRPr lang="en-US" sz="1000" dirty="0"/>
          </a:p>
        </p:txBody>
      </p:sp>
      <p:sp>
        <p:nvSpPr>
          <p:cNvPr id="22" name="Shape 17"/>
          <p:cNvSpPr/>
          <p:nvPr/>
        </p:nvSpPr>
        <p:spPr>
          <a:xfrm>
            <a:off x="4331208" y="4800600"/>
            <a:ext cx="3535680" cy="1051560"/>
          </a:xfrm>
          <a:prstGeom prst="roundRect">
            <a:avLst>
              <a:gd name="adj" fmla="val 9565"/>
            </a:avLst>
          </a:prstGeom>
          <a:solidFill>
            <a:srgbClr val="FFFFFF">
              <a:alpha val="12000"/>
            </a:srgbClr>
          </a:solidFill>
          <a:ln w="12700">
            <a:solidFill>
              <a:srgbClr val="FFFFFF">
                <a:alpha val="18000"/>
              </a:srgbClr>
            </a:solidFill>
            <a:prstDash val="solid"/>
          </a:ln>
          <a:effectLst>
            <a:outerShdw sx="100000" sy="100000" kx="0" ky="0" algn="bl" rotWithShape="0" blurRad="177800" dist="63500" dir="5400000">
              <a:srgbClr val="0B0920">
                <a:alpha val="45000"/>
              </a:srgbClr>
            </a:outerShdw>
          </a:effectLst>
        </p:spPr>
      </p:sp>
      <p:sp>
        <p:nvSpPr>
          <p:cNvPr id="23" name="Shape 18"/>
          <p:cNvSpPr/>
          <p:nvPr/>
        </p:nvSpPr>
        <p:spPr>
          <a:xfrm>
            <a:off x="4550664" y="5074920"/>
            <a:ext cx="512064" cy="512064"/>
          </a:xfrm>
          <a:prstGeom prst="ellipse">
            <a:avLst/>
          </a:prstGeom>
          <a:solidFill>
            <a:srgbClr val="1E9BA1"/>
          </a:solidFill>
          <a:ln w="17780">
            <a:solidFill>
              <a:srgbClr val="38C6CC"/>
            </a:solidFill>
            <a:prstDash val="solid"/>
          </a:ln>
          <a:effectLst>
            <a:outerShdw sx="100000" sy="100000" kx="0" ky="0" algn="bl" rotWithShape="0" blurRad="127000" dist="50800" dir="5400000">
              <a:srgbClr val="38C6CC">
                <a:alpha val="45000"/>
              </a:srgbClr>
            </a:outerShdw>
          </a:effectLst>
        </p:spPr>
      </p:sp>
      <p:pic>
        <p:nvPicPr>
          <p:cNvPr id="24" name="Image 3" descr="assets/icons/code_w.png">    </p:cNvPr>
          <p:cNvPicPr>
            <a:picLocks noChangeAspect="1"/>
          </p:cNvPicPr>
          <p:nvPr/>
        </p:nvPicPr>
        <p:blipFill>
          <a:blip r:embed="rId5"/>
          <a:stretch>
            <a:fillRect/>
          </a:stretch>
        </p:blipFill>
        <p:spPr>
          <a:xfrm>
            <a:off x="4694042" y="5218298"/>
            <a:ext cx="225308" cy="225308"/>
          </a:xfrm>
          <a:prstGeom prst="rect">
            <a:avLst/>
          </a:prstGeom>
        </p:spPr>
      </p:pic>
      <p:sp>
        <p:nvSpPr>
          <p:cNvPr id="25" name="Text 19"/>
          <p:cNvSpPr txBox="1"/>
          <p:nvPr/>
        </p:nvSpPr>
        <p:spPr>
          <a:xfrm>
            <a:off x="5209032" y="5056632"/>
            <a:ext cx="2493264" cy="292608"/>
          </a:xfrm>
          <a:prstGeom prst="rect">
            <a:avLst/>
          </a:prstGeom>
          <a:noFill/>
          <a:ln/>
        </p:spPr>
        <p:txBody>
          <a:bodyPr wrap="square" lIns="0" tIns="0" rIns="0" bIns="0" rtlCol="0" anchor="ctr"/>
          <a:lstStyle/>
          <a:p>
            <a:pPr indent="0" marL="0">
              <a:lnSpc>
                <a:spcPct val="100000"/>
              </a:lnSpc>
              <a:buNone/>
            </a:pPr>
            <a:r>
              <a:rPr lang="en-US" sz="1350" b="1" dirty="0">
                <a:solidFill>
                  <a:srgbClr val="FFFFFF"/>
                </a:solidFill>
                <a:latin typeface="Calibri" pitchFamily="34" charset="0"/>
                <a:ea typeface="Calibri" pitchFamily="34" charset="-122"/>
                <a:cs typeface="Calibri" pitchFamily="34" charset="-120"/>
              </a:rPr>
              <a:t>Code ownership</a:t>
            </a:r>
            <a:endParaRPr lang="en-US" sz="1350" dirty="0"/>
          </a:p>
        </p:txBody>
      </p:sp>
      <p:sp>
        <p:nvSpPr>
          <p:cNvPr id="26" name="Text 20"/>
          <p:cNvSpPr txBox="1"/>
          <p:nvPr/>
        </p:nvSpPr>
        <p:spPr>
          <a:xfrm>
            <a:off x="5209032" y="5367528"/>
            <a:ext cx="2493264" cy="384048"/>
          </a:xfrm>
          <a:prstGeom prst="rect">
            <a:avLst/>
          </a:prstGeom>
          <a:noFill/>
          <a:ln/>
        </p:spPr>
        <p:txBody>
          <a:bodyPr wrap="square" lIns="0" tIns="0" rIns="0" bIns="0" rtlCol="0" anchor="ctr"/>
          <a:lstStyle/>
          <a:p>
            <a:pPr indent="0" marL="0">
              <a:lnSpc>
                <a:spcPct val="95000"/>
              </a:lnSpc>
              <a:buNone/>
            </a:pPr>
            <a:r>
              <a:rPr lang="en-US" sz="1000" dirty="0">
                <a:solidFill>
                  <a:srgbClr val="CFCBEF"/>
                </a:solidFill>
                <a:latin typeface="Calibri" pitchFamily="34" charset="0"/>
                <a:ea typeface="Calibri" pitchFamily="34" charset="-122"/>
                <a:cs typeface="Calibri" pitchFamily="34" charset="-120"/>
              </a:rPr>
              <a:t>Tree-sitter + CodeBERT</a:t>
            </a:r>
            <a:endParaRPr lang="en-US" sz="1000" dirty="0"/>
          </a:p>
        </p:txBody>
      </p:sp>
      <p:sp>
        <p:nvSpPr>
          <p:cNvPr id="27" name="Shape 21"/>
          <p:cNvSpPr/>
          <p:nvPr/>
        </p:nvSpPr>
        <p:spPr>
          <a:xfrm>
            <a:off x="8095488" y="4800600"/>
            <a:ext cx="3535680" cy="1051560"/>
          </a:xfrm>
          <a:prstGeom prst="roundRect">
            <a:avLst>
              <a:gd name="adj" fmla="val 9565"/>
            </a:avLst>
          </a:prstGeom>
          <a:solidFill>
            <a:srgbClr val="FFFFFF">
              <a:alpha val="12000"/>
            </a:srgbClr>
          </a:solidFill>
          <a:ln w="12700">
            <a:solidFill>
              <a:srgbClr val="FFFFFF">
                <a:alpha val="18000"/>
              </a:srgbClr>
            </a:solidFill>
            <a:prstDash val="solid"/>
          </a:ln>
          <a:effectLst>
            <a:outerShdw sx="100000" sy="100000" kx="0" ky="0" algn="bl" rotWithShape="0" blurRad="177800" dist="63500" dir="5400000">
              <a:srgbClr val="0B0920">
                <a:alpha val="45000"/>
              </a:srgbClr>
            </a:outerShdw>
          </a:effectLst>
        </p:spPr>
      </p:sp>
      <p:sp>
        <p:nvSpPr>
          <p:cNvPr id="28" name="Shape 22"/>
          <p:cNvSpPr/>
          <p:nvPr/>
        </p:nvSpPr>
        <p:spPr>
          <a:xfrm>
            <a:off x="8314944" y="5074920"/>
            <a:ext cx="512064" cy="512064"/>
          </a:xfrm>
          <a:prstGeom prst="ellipse">
            <a:avLst/>
          </a:prstGeom>
          <a:solidFill>
            <a:srgbClr val="23925B"/>
          </a:solidFill>
          <a:ln w="17780">
            <a:solidFill>
              <a:srgbClr val="39BC7A"/>
            </a:solidFill>
            <a:prstDash val="solid"/>
          </a:ln>
          <a:effectLst>
            <a:outerShdw sx="100000" sy="100000" kx="0" ky="0" algn="bl" rotWithShape="0" blurRad="127000" dist="50800" dir="5400000">
              <a:srgbClr val="39BC7A">
                <a:alpha val="45000"/>
              </a:srgbClr>
            </a:outerShdw>
          </a:effectLst>
        </p:spPr>
      </p:sp>
      <p:pic>
        <p:nvPicPr>
          <p:cNvPr id="29" name="Image 4" descr="assets/icons/usercheck_w.png">    </p:cNvPr>
          <p:cNvPicPr>
            <a:picLocks noChangeAspect="1"/>
          </p:cNvPicPr>
          <p:nvPr/>
        </p:nvPicPr>
        <p:blipFill>
          <a:blip r:embed="rId6"/>
          <a:stretch>
            <a:fillRect/>
          </a:stretch>
        </p:blipFill>
        <p:spPr>
          <a:xfrm>
            <a:off x="8458322" y="5218298"/>
            <a:ext cx="225308" cy="225308"/>
          </a:xfrm>
          <a:prstGeom prst="rect">
            <a:avLst/>
          </a:prstGeom>
        </p:spPr>
      </p:pic>
      <p:sp>
        <p:nvSpPr>
          <p:cNvPr id="30" name="Text 23"/>
          <p:cNvSpPr txBox="1"/>
          <p:nvPr/>
        </p:nvSpPr>
        <p:spPr>
          <a:xfrm>
            <a:off x="8973312" y="5056632"/>
            <a:ext cx="2493264" cy="292608"/>
          </a:xfrm>
          <a:prstGeom prst="rect">
            <a:avLst/>
          </a:prstGeom>
          <a:noFill/>
          <a:ln/>
        </p:spPr>
        <p:txBody>
          <a:bodyPr wrap="square" lIns="0" tIns="0" rIns="0" bIns="0" rtlCol="0" anchor="ctr"/>
          <a:lstStyle/>
          <a:p>
            <a:pPr indent="0" marL="0">
              <a:lnSpc>
                <a:spcPct val="100000"/>
              </a:lnSpc>
              <a:buNone/>
            </a:pPr>
            <a:r>
              <a:rPr lang="en-US" sz="1350" b="1" dirty="0">
                <a:solidFill>
                  <a:srgbClr val="FFFFFF"/>
                </a:solidFill>
                <a:latin typeface="Calibri" pitchFamily="34" charset="0"/>
                <a:ea typeface="Calibri" pitchFamily="34" charset="-122"/>
                <a:cs typeface="Calibri" pitchFamily="34" charset="-120"/>
              </a:rPr>
              <a:t>Human-in-loop</a:t>
            </a:r>
            <a:endParaRPr lang="en-US" sz="1350" dirty="0"/>
          </a:p>
        </p:txBody>
      </p:sp>
      <p:sp>
        <p:nvSpPr>
          <p:cNvPr id="31" name="Text 24"/>
          <p:cNvSpPr txBox="1"/>
          <p:nvPr/>
        </p:nvSpPr>
        <p:spPr>
          <a:xfrm>
            <a:off x="8973312" y="5367528"/>
            <a:ext cx="2493264" cy="384048"/>
          </a:xfrm>
          <a:prstGeom prst="rect">
            <a:avLst/>
          </a:prstGeom>
          <a:noFill/>
          <a:ln/>
        </p:spPr>
        <p:txBody>
          <a:bodyPr wrap="square" lIns="0" tIns="0" rIns="0" bIns="0" rtlCol="0" anchor="ctr"/>
          <a:lstStyle/>
          <a:p>
            <a:pPr indent="0" marL="0">
              <a:lnSpc>
                <a:spcPct val="95000"/>
              </a:lnSpc>
              <a:buNone/>
            </a:pPr>
            <a:r>
              <a:rPr lang="en-US" sz="1000" dirty="0">
                <a:solidFill>
                  <a:srgbClr val="CFCBEF"/>
                </a:solidFill>
                <a:latin typeface="Calibri" pitchFamily="34" charset="0"/>
                <a:ea typeface="Calibri" pitchFamily="34" charset="-122"/>
                <a:cs typeface="Calibri" pitchFamily="34" charset="-120"/>
              </a:rPr>
              <a:t>Decision support</a:t>
            </a:r>
            <a:endParaRPr lang="en-US" sz="1000" dirty="0"/>
          </a:p>
        </p:txBody>
      </p:sp>
      <p:sp>
        <p:nvSpPr>
          <p:cNvPr id="32" name="Text 25"/>
          <p:cNvSpPr txBox="1"/>
          <p:nvPr/>
        </p:nvSpPr>
        <p:spPr>
          <a:xfrm>
            <a:off x="603504" y="6528816"/>
            <a:ext cx="8229600" cy="256032"/>
          </a:xfrm>
          <a:prstGeom prst="rect">
            <a:avLst/>
          </a:prstGeom>
          <a:noFill/>
          <a:ln/>
        </p:spPr>
        <p:txBody>
          <a:bodyPr wrap="square" lIns="0" tIns="0" rIns="0" bIns="0" rtlCol="0" anchor="ctr"/>
          <a:lstStyle/>
          <a:p>
            <a:pPr indent="0" marL="0">
              <a:lnSpc>
                <a:spcPct val="100000"/>
              </a:lnSpc>
              <a:buNone/>
            </a:pPr>
            <a:r>
              <a:rPr lang="en-US" sz="900" b="1" dirty="0">
                <a:solidFill>
                  <a:srgbClr val="9C97CC"/>
                </a:solidFill>
                <a:latin typeface="Calibri" pitchFamily="34" charset="0"/>
                <a:ea typeface="Calibri" pitchFamily="34" charset="-122"/>
                <a:cs typeface="Calibri" pitchFamily="34" charset="-120"/>
              </a:rPr>
              <a:t>IT23155534  |  Kumbukage S S  |  J26-SE-363</a:t>
            </a:r>
            <a:endParaRPr lang="en-US" sz="900" dirty="0"/>
          </a:p>
        </p:txBody>
      </p:sp>
      <p:sp>
        <p:nvSpPr>
          <p:cNvPr id="33" name="Text 26"/>
          <p:cNvSpPr txBox="1"/>
          <p:nvPr/>
        </p:nvSpPr>
        <p:spPr>
          <a:xfrm>
            <a:off x="10972800" y="6528816"/>
            <a:ext cx="640080" cy="256032"/>
          </a:xfrm>
          <a:prstGeom prst="rect">
            <a:avLst/>
          </a:prstGeom>
          <a:noFill/>
          <a:ln/>
        </p:spPr>
        <p:txBody>
          <a:bodyPr wrap="square" lIns="0" tIns="0" rIns="0" bIns="0" rtlCol="0" anchor="ctr"/>
          <a:lstStyle/>
          <a:p>
            <a:pPr algn="r" indent="0" marL="0">
              <a:lnSpc>
                <a:spcPct val="100000"/>
              </a:lnSpc>
              <a:buNone/>
            </a:pPr>
            <a:r>
              <a:rPr lang="en-US" sz="850" dirty="0">
                <a:solidFill>
                  <a:srgbClr val="726CA6"/>
                </a:solidFill>
                <a:latin typeface="Calibri" pitchFamily="34" charset="0"/>
                <a:ea typeface="Calibri" pitchFamily="34" charset="-122"/>
                <a:cs typeface="Calibri" pitchFamily="34" charset="-120"/>
              </a:rPr>
              <a:t>11</a:t>
            </a:r>
            <a:endParaRPr lang="en-US" sz="8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Shape 0"/>
          <p:cNvSpPr/>
          <p:nvPr/>
        </p:nvSpPr>
        <p:spPr>
          <a:xfrm>
            <a:off x="10515600" y="411480"/>
            <a:ext cx="1143000" cy="1143000"/>
          </a:xfrm>
          <a:prstGeom prst="ellipse">
            <a:avLst/>
          </a:prstGeom>
          <a:solidFill>
            <a:srgbClr val="1A1640"/>
          </a:solidFill>
          <a:ln w="25400">
            <a:solidFill>
              <a:srgbClr val="16C78C"/>
            </a:solidFill>
            <a:prstDash val="solid"/>
          </a:ln>
          <a:effectLst>
            <a:outerShdw sx="100000" sy="100000" kx="0" ky="0" algn="bl" rotWithShape="0" blurRad="127000" dist="50800" dir="5400000">
              <a:srgbClr val="4A3DC2">
                <a:alpha val="45000"/>
              </a:srgbClr>
            </a:outerShdw>
          </a:effectLst>
        </p:spPr>
      </p:sp>
      <p:pic>
        <p:nvPicPr>
          <p:cNvPr id="3" name="Image 0" descr="assets/kumbukage.jpg">    </p:cNvPr>
          <p:cNvPicPr>
            <a:picLocks noChangeAspect="1"/>
          </p:cNvPicPr>
          <p:nvPr/>
        </p:nvPicPr>
        <p:blipFill>
          <a:blip r:embed="rId2"/>
          <a:stretch>
            <a:fillRect/>
          </a:stretch>
        </p:blipFill>
        <p:spPr>
          <a:xfrm>
            <a:off x="10561320" y="457200"/>
            <a:ext cx="1051560" cy="1051560"/>
          </a:xfrm>
          <a:prstGeom prst="ellipse">
            <a:avLst/>
          </a:prstGeom>
        </p:spPr>
      </p:pic>
      <p:sp>
        <p:nvSpPr>
          <p:cNvPr id="4" name="Text 1"/>
          <p:cNvSpPr txBox="1"/>
          <p:nvPr/>
        </p:nvSpPr>
        <p:spPr>
          <a:xfrm>
            <a:off x="603504" y="493776"/>
            <a:ext cx="10058400" cy="274320"/>
          </a:xfrm>
          <a:prstGeom prst="rect">
            <a:avLst/>
          </a:prstGeom>
          <a:noFill/>
          <a:ln/>
        </p:spPr>
        <p:txBody>
          <a:bodyPr wrap="square" lIns="0" tIns="0" rIns="0" bIns="0" rtlCol="0" anchor="ctr"/>
          <a:lstStyle/>
          <a:p>
            <a:pPr indent="0" marL="0">
              <a:lnSpc>
                <a:spcPct val="100000"/>
              </a:lnSpc>
              <a:buNone/>
            </a:pPr>
            <a:r>
              <a:rPr lang="en-US" sz="1100" b="1" spc="260" kern="0" dirty="0">
                <a:solidFill>
                  <a:srgbClr val="9FE7C9"/>
                </a:solidFill>
                <a:latin typeface="Calibri" pitchFamily="34" charset="0"/>
                <a:ea typeface="Calibri" pitchFamily="34" charset="-122"/>
                <a:cs typeface="Calibri" pitchFamily="34" charset="-120"/>
              </a:rPr>
              <a:t>PERFORMANCE ASSESSMENT  ·  COMPONENT OVERVIEW</a:t>
            </a:r>
            <a:endParaRPr lang="en-US" sz="1100" dirty="0"/>
          </a:p>
        </p:txBody>
      </p:sp>
      <p:sp>
        <p:nvSpPr>
          <p:cNvPr id="5" name="Text 2"/>
          <p:cNvSpPr txBox="1"/>
          <p:nvPr/>
        </p:nvSpPr>
        <p:spPr>
          <a:xfrm>
            <a:off x="566928" y="749808"/>
            <a:ext cx="9692640" cy="777240"/>
          </a:xfrm>
          <a:prstGeom prst="rect">
            <a:avLst/>
          </a:prstGeom>
          <a:noFill/>
          <a:ln/>
        </p:spPr>
        <p:txBody>
          <a:bodyPr wrap="square" lIns="0" tIns="0" rIns="0" bIns="0" rtlCol="0" anchor="ctr"/>
          <a:lstStyle/>
          <a:p>
            <a:pPr indent="0" marL="0">
              <a:lnSpc>
                <a:spcPct val="98000"/>
              </a:lnSpc>
              <a:buNone/>
            </a:pPr>
            <a:r>
              <a:rPr lang="en-US" sz="2200" b="1" dirty="0">
                <a:solidFill>
                  <a:srgbClr val="FFFFFF"/>
                </a:solidFill>
                <a:latin typeface="Calibri" pitchFamily="34" charset="0"/>
                <a:ea typeface="Calibri" pitchFamily="34" charset="-122"/>
                <a:cs typeface="Calibri" pitchFamily="34" charset="-120"/>
              </a:rPr>
              <a:t>Automated Individual Student Performance Assessment</a:t>
            </a:r>
            <a:endParaRPr lang="en-US" sz="2200" dirty="0"/>
          </a:p>
        </p:txBody>
      </p:sp>
      <p:sp>
        <p:nvSpPr>
          <p:cNvPr id="6" name="Shape 3"/>
          <p:cNvSpPr/>
          <p:nvPr/>
        </p:nvSpPr>
        <p:spPr>
          <a:xfrm>
            <a:off x="566928" y="2011680"/>
            <a:ext cx="5440680" cy="1847088"/>
          </a:xfrm>
          <a:prstGeom prst="roundRect">
            <a:avLst>
              <a:gd name="adj" fmla="val 5446"/>
            </a:avLst>
          </a:prstGeom>
          <a:solidFill>
            <a:srgbClr val="FFFFFF">
              <a:alpha val="12000"/>
            </a:srgbClr>
          </a:solidFill>
          <a:ln w="12700">
            <a:solidFill>
              <a:srgbClr val="FFFFFF">
                <a:alpha val="18000"/>
              </a:srgbClr>
            </a:solidFill>
            <a:prstDash val="solid"/>
          </a:ln>
          <a:effectLst>
            <a:outerShdw sx="100000" sy="100000" kx="0" ky="0" algn="bl" rotWithShape="0" blurRad="177800" dist="63500" dir="5400000">
              <a:srgbClr val="0B0920">
                <a:alpha val="45000"/>
              </a:srgbClr>
            </a:outerShdw>
          </a:effectLst>
        </p:spPr>
      </p:sp>
      <p:sp>
        <p:nvSpPr>
          <p:cNvPr id="7" name="Shape 4"/>
          <p:cNvSpPr/>
          <p:nvPr/>
        </p:nvSpPr>
        <p:spPr>
          <a:xfrm>
            <a:off x="932688" y="1755648"/>
            <a:ext cx="2926080" cy="512064"/>
          </a:xfrm>
          <a:prstGeom prst="roundRect">
            <a:avLst>
              <a:gd name="adj" fmla="val 50000"/>
            </a:avLst>
          </a:prstGeom>
          <a:solidFill>
            <a:srgbClr val="7E6CF4"/>
          </a:solidFill>
          <a:ln/>
          <a:effectLst>
            <a:outerShdw sx="100000" sy="100000" kx="0" ky="0" algn="bl" rotWithShape="0" blurRad="127000" dist="50800" dir="5400000">
              <a:srgbClr val="7E6CF4">
                <a:alpha val="45000"/>
              </a:srgbClr>
            </a:outerShdw>
          </a:effectLst>
        </p:spPr>
      </p:sp>
      <p:sp>
        <p:nvSpPr>
          <p:cNvPr id="8" name="Shape 5"/>
          <p:cNvSpPr/>
          <p:nvPr/>
        </p:nvSpPr>
        <p:spPr>
          <a:xfrm>
            <a:off x="676656" y="1682496"/>
            <a:ext cx="676656" cy="676656"/>
          </a:xfrm>
          <a:prstGeom prst="ellipse">
            <a:avLst/>
          </a:prstGeom>
          <a:solidFill>
            <a:srgbClr val="5A47CE"/>
          </a:solidFill>
          <a:ln w="15240">
            <a:solidFill>
              <a:srgbClr val="FFFFFF">
                <a:alpha val="38000"/>
              </a:srgbClr>
            </a:solidFill>
            <a:prstDash val="solid"/>
          </a:ln>
          <a:effectLst>
            <a:outerShdw sx="100000" sy="100000" kx="0" ky="0" algn="bl" rotWithShape="0" blurRad="127000" dist="50800" dir="5400000">
              <a:srgbClr val="5A47CE">
                <a:alpha val="45000"/>
              </a:srgbClr>
            </a:outerShdw>
          </a:effectLst>
        </p:spPr>
      </p:sp>
      <p:pic>
        <p:nvPicPr>
          <p:cNvPr id="9" name="Image 1" descr="assets/icons/target_w.png">    </p:cNvPr>
          <p:cNvPicPr>
            <a:picLocks noChangeAspect="1"/>
          </p:cNvPicPr>
          <p:nvPr/>
        </p:nvPicPr>
        <p:blipFill>
          <a:blip r:embed="rId3"/>
          <a:stretch>
            <a:fillRect/>
          </a:stretch>
        </p:blipFill>
        <p:spPr>
          <a:xfrm>
            <a:off x="866120" y="1871960"/>
            <a:ext cx="297729" cy="297729"/>
          </a:xfrm>
          <a:prstGeom prst="rect">
            <a:avLst/>
          </a:prstGeom>
        </p:spPr>
      </p:pic>
      <p:sp>
        <p:nvSpPr>
          <p:cNvPr id="10" name="Text 6"/>
          <p:cNvSpPr txBox="1"/>
          <p:nvPr/>
        </p:nvSpPr>
        <p:spPr>
          <a:xfrm>
            <a:off x="1389888" y="1755648"/>
            <a:ext cx="2432304" cy="512064"/>
          </a:xfrm>
          <a:prstGeom prst="rect">
            <a:avLst/>
          </a:prstGeom>
          <a:noFill/>
          <a:ln/>
        </p:spPr>
        <p:txBody>
          <a:bodyPr wrap="square" lIns="0" tIns="0" rIns="0" bIns="0" rtlCol="0" anchor="ctr"/>
          <a:lstStyle/>
          <a:p>
            <a:pPr indent="0" marL="0">
              <a:lnSpc>
                <a:spcPct val="100000"/>
              </a:lnSpc>
              <a:buNone/>
            </a:pPr>
            <a:r>
              <a:rPr lang="en-US" sz="1150" b="1" dirty="0">
                <a:solidFill>
                  <a:srgbClr val="FFFFFF"/>
                </a:solidFill>
                <a:latin typeface="Calibri" pitchFamily="34" charset="0"/>
                <a:ea typeface="Calibri" pitchFamily="34" charset="-122"/>
                <a:cs typeface="Calibri" pitchFamily="34" charset="-120"/>
              </a:rPr>
              <a:t>Addresses the sub-problem</a:t>
            </a:r>
            <a:endParaRPr lang="en-US" sz="1150" dirty="0"/>
          </a:p>
        </p:txBody>
      </p:sp>
      <p:sp>
        <p:nvSpPr>
          <p:cNvPr id="11" name="Text 7"/>
          <p:cNvSpPr txBox="1"/>
          <p:nvPr/>
        </p:nvSpPr>
        <p:spPr>
          <a:xfrm>
            <a:off x="822960" y="2596896"/>
            <a:ext cx="4946904" cy="1097280"/>
          </a:xfrm>
          <a:prstGeom prst="rect">
            <a:avLst/>
          </a:prstGeom>
          <a:noFill/>
          <a:ln/>
        </p:spPr>
        <p:txBody>
          <a:bodyPr wrap="square" lIns="0" tIns="0" rIns="0" bIns="0" rtlCol="0" anchor="ctr"/>
          <a:lstStyle/>
          <a:p>
            <a:pPr indent="0" marL="0">
              <a:lnSpc>
                <a:spcPct val="102000"/>
              </a:lnSpc>
              <a:buNone/>
            </a:pPr>
            <a:r>
              <a:rPr lang="en-US" sz="1100" dirty="0">
                <a:solidFill>
                  <a:srgbClr val="CFCBEF"/>
                </a:solidFill>
                <a:latin typeface="Calibri" pitchFamily="34" charset="0"/>
                <a:ea typeface="Calibri" pitchFamily="34" charset="-122"/>
                <a:cs typeface="Calibri" pitchFamily="34" charset="-120"/>
              </a:rPr>
              <a:t>Team grading masks individuals and rewards free-riding. The component produces an evidence-based, per-student score from real project activity.</a:t>
            </a:r>
            <a:endParaRPr lang="en-US" sz="1100" dirty="0"/>
          </a:p>
        </p:txBody>
      </p:sp>
      <p:sp>
        <p:nvSpPr>
          <p:cNvPr id="12" name="Shape 8"/>
          <p:cNvSpPr/>
          <p:nvPr/>
        </p:nvSpPr>
        <p:spPr>
          <a:xfrm>
            <a:off x="6208776" y="2011680"/>
            <a:ext cx="5440680" cy="1847088"/>
          </a:xfrm>
          <a:prstGeom prst="roundRect">
            <a:avLst>
              <a:gd name="adj" fmla="val 5446"/>
            </a:avLst>
          </a:prstGeom>
          <a:solidFill>
            <a:srgbClr val="FFFFFF">
              <a:alpha val="12000"/>
            </a:srgbClr>
          </a:solidFill>
          <a:ln w="12700">
            <a:solidFill>
              <a:srgbClr val="FFFFFF">
                <a:alpha val="18000"/>
              </a:srgbClr>
            </a:solidFill>
            <a:prstDash val="solid"/>
          </a:ln>
          <a:effectLst>
            <a:outerShdw sx="100000" sy="100000" kx="0" ky="0" algn="bl" rotWithShape="0" blurRad="177800" dist="63500" dir="5400000">
              <a:srgbClr val="0B0920">
                <a:alpha val="45000"/>
              </a:srgbClr>
            </a:outerShdw>
          </a:effectLst>
        </p:spPr>
      </p:sp>
      <p:sp>
        <p:nvSpPr>
          <p:cNvPr id="13" name="Shape 9"/>
          <p:cNvSpPr/>
          <p:nvPr/>
        </p:nvSpPr>
        <p:spPr>
          <a:xfrm>
            <a:off x="6574536" y="1755648"/>
            <a:ext cx="2589581" cy="512064"/>
          </a:xfrm>
          <a:prstGeom prst="roundRect">
            <a:avLst>
              <a:gd name="adj" fmla="val 50000"/>
            </a:avLst>
          </a:prstGeom>
          <a:solidFill>
            <a:srgbClr val="16C78C"/>
          </a:solidFill>
          <a:ln/>
          <a:effectLst>
            <a:outerShdw sx="100000" sy="100000" kx="0" ky="0" algn="bl" rotWithShape="0" blurRad="127000" dist="50800" dir="5400000">
              <a:srgbClr val="16C78C">
                <a:alpha val="45000"/>
              </a:srgbClr>
            </a:outerShdw>
          </a:effectLst>
        </p:spPr>
      </p:sp>
      <p:sp>
        <p:nvSpPr>
          <p:cNvPr id="14" name="Shape 10"/>
          <p:cNvSpPr/>
          <p:nvPr/>
        </p:nvSpPr>
        <p:spPr>
          <a:xfrm>
            <a:off x="6318504" y="1682496"/>
            <a:ext cx="676656" cy="676656"/>
          </a:xfrm>
          <a:prstGeom prst="ellipse">
            <a:avLst/>
          </a:prstGeom>
          <a:solidFill>
            <a:srgbClr val="0E9E6E"/>
          </a:solidFill>
          <a:ln w="15240">
            <a:solidFill>
              <a:srgbClr val="FFFFFF">
                <a:alpha val="38000"/>
              </a:srgbClr>
            </a:solidFill>
            <a:prstDash val="solid"/>
          </a:ln>
          <a:effectLst>
            <a:outerShdw sx="100000" sy="100000" kx="0" ky="0" algn="bl" rotWithShape="0" blurRad="127000" dist="50800" dir="5400000">
              <a:srgbClr val="0E9E6E">
                <a:alpha val="45000"/>
              </a:srgbClr>
            </a:outerShdw>
          </a:effectLst>
        </p:spPr>
      </p:sp>
      <p:pic>
        <p:nvPicPr>
          <p:cNvPr id="15" name="Image 2" descr="assets/icons/checksq_w.png">    </p:cNvPr>
          <p:cNvPicPr>
            <a:picLocks noChangeAspect="1"/>
          </p:cNvPicPr>
          <p:nvPr/>
        </p:nvPicPr>
        <p:blipFill>
          <a:blip r:embed="rId4"/>
          <a:stretch>
            <a:fillRect/>
          </a:stretch>
        </p:blipFill>
        <p:spPr>
          <a:xfrm>
            <a:off x="6507968" y="1871960"/>
            <a:ext cx="297729" cy="297729"/>
          </a:xfrm>
          <a:prstGeom prst="rect">
            <a:avLst/>
          </a:prstGeom>
        </p:spPr>
      </p:pic>
      <p:sp>
        <p:nvSpPr>
          <p:cNvPr id="16" name="Text 11"/>
          <p:cNvSpPr txBox="1"/>
          <p:nvPr/>
        </p:nvSpPr>
        <p:spPr>
          <a:xfrm>
            <a:off x="7031736" y="1755648"/>
            <a:ext cx="2095805" cy="512064"/>
          </a:xfrm>
          <a:prstGeom prst="rect">
            <a:avLst/>
          </a:prstGeom>
          <a:noFill/>
          <a:ln/>
        </p:spPr>
        <p:txBody>
          <a:bodyPr wrap="square" lIns="0" tIns="0" rIns="0" bIns="0" rtlCol="0" anchor="ctr"/>
          <a:lstStyle/>
          <a:p>
            <a:pPr indent="0" marL="0">
              <a:lnSpc>
                <a:spcPct val="100000"/>
              </a:lnSpc>
              <a:buNone/>
            </a:pPr>
            <a:r>
              <a:rPr lang="en-US" sz="1150" b="1" dirty="0">
                <a:solidFill>
                  <a:srgbClr val="FFFFFF"/>
                </a:solidFill>
                <a:latin typeface="Calibri" pitchFamily="34" charset="0"/>
                <a:ea typeface="Calibri" pitchFamily="34" charset="-122"/>
                <a:cs typeface="Calibri" pitchFamily="34" charset="-120"/>
              </a:rPr>
              <a:t>User requirements met</a:t>
            </a:r>
            <a:endParaRPr lang="en-US" sz="1150" dirty="0"/>
          </a:p>
        </p:txBody>
      </p:sp>
      <p:pic>
        <p:nvPicPr>
          <p:cNvPr id="17" name="Image 3" descr="assets/icons/check_w.png">    </p:cNvPr>
          <p:cNvPicPr>
            <a:picLocks noChangeAspect="1"/>
          </p:cNvPicPr>
          <p:nvPr/>
        </p:nvPicPr>
        <p:blipFill>
          <a:blip r:embed="rId5"/>
          <a:stretch>
            <a:fillRect/>
          </a:stretch>
        </p:blipFill>
        <p:spPr>
          <a:xfrm>
            <a:off x="6464808" y="2615184"/>
            <a:ext cx="155448" cy="155448"/>
          </a:xfrm>
          <a:prstGeom prst="rect">
            <a:avLst/>
          </a:prstGeom>
        </p:spPr>
      </p:pic>
      <p:sp>
        <p:nvSpPr>
          <p:cNvPr id="18" name="Text 12"/>
          <p:cNvSpPr txBox="1"/>
          <p:nvPr/>
        </p:nvSpPr>
        <p:spPr>
          <a:xfrm>
            <a:off x="6702552" y="2569464"/>
            <a:ext cx="4690872" cy="365760"/>
          </a:xfrm>
          <a:prstGeom prst="rect">
            <a:avLst/>
          </a:prstGeom>
          <a:noFill/>
          <a:ln/>
        </p:spPr>
        <p:txBody>
          <a:bodyPr wrap="square" lIns="0" tIns="0" rIns="0" bIns="0" rtlCol="0" anchor="ctr"/>
          <a:lstStyle/>
          <a:p>
            <a:pPr indent="0" marL="0">
              <a:lnSpc>
                <a:spcPct val="95000"/>
              </a:lnSpc>
              <a:buNone/>
            </a:pPr>
            <a:r>
              <a:rPr lang="en-US" sz="1050" dirty="0">
                <a:solidFill>
                  <a:srgbClr val="E7E4FA"/>
                </a:solidFill>
                <a:latin typeface="Calibri" pitchFamily="34" charset="0"/>
                <a:ea typeface="Calibri" pitchFamily="34" charset="-122"/>
                <a:cs typeface="Calibri" pitchFamily="34" charset="-120"/>
              </a:rPr>
              <a:t>Fair individual grade with explainable breakdown</a:t>
            </a:r>
            <a:endParaRPr lang="en-US" sz="1050" dirty="0"/>
          </a:p>
        </p:txBody>
      </p:sp>
      <p:pic>
        <p:nvPicPr>
          <p:cNvPr id="19" name="Image 4" descr="assets/icons/check_w.png">    </p:cNvPr>
          <p:cNvPicPr>
            <a:picLocks noChangeAspect="1"/>
          </p:cNvPicPr>
          <p:nvPr/>
        </p:nvPicPr>
        <p:blipFill>
          <a:blip r:embed="rId6"/>
          <a:stretch>
            <a:fillRect/>
          </a:stretch>
        </p:blipFill>
        <p:spPr>
          <a:xfrm>
            <a:off x="6464808" y="2999232"/>
            <a:ext cx="155448" cy="155448"/>
          </a:xfrm>
          <a:prstGeom prst="rect">
            <a:avLst/>
          </a:prstGeom>
        </p:spPr>
      </p:pic>
      <p:sp>
        <p:nvSpPr>
          <p:cNvPr id="20" name="Text 13"/>
          <p:cNvSpPr txBox="1"/>
          <p:nvPr/>
        </p:nvSpPr>
        <p:spPr>
          <a:xfrm>
            <a:off x="6702552" y="2953512"/>
            <a:ext cx="4690872" cy="365760"/>
          </a:xfrm>
          <a:prstGeom prst="rect">
            <a:avLst/>
          </a:prstGeom>
          <a:noFill/>
          <a:ln/>
        </p:spPr>
        <p:txBody>
          <a:bodyPr wrap="square" lIns="0" tIns="0" rIns="0" bIns="0" rtlCol="0" anchor="ctr"/>
          <a:lstStyle/>
          <a:p>
            <a:pPr indent="0" marL="0">
              <a:lnSpc>
                <a:spcPct val="95000"/>
              </a:lnSpc>
              <a:buNone/>
            </a:pPr>
            <a:r>
              <a:rPr lang="en-US" sz="1050" dirty="0">
                <a:solidFill>
                  <a:srgbClr val="E7E4FA"/>
                </a:solidFill>
                <a:latin typeface="Calibri" pitchFamily="34" charset="0"/>
                <a:ea typeface="Calibri" pitchFamily="34" charset="-122"/>
                <a:cs typeface="Calibri" pitchFamily="34" charset="-120"/>
              </a:rPr>
              <a:t>Evidence from GitHub and Scrum, not opinion</a:t>
            </a:r>
            <a:endParaRPr lang="en-US" sz="1050" dirty="0"/>
          </a:p>
        </p:txBody>
      </p:sp>
      <p:pic>
        <p:nvPicPr>
          <p:cNvPr id="21" name="Image 5" descr="assets/icons/check_w.png">    </p:cNvPr>
          <p:cNvPicPr>
            <a:picLocks noChangeAspect="1"/>
          </p:cNvPicPr>
          <p:nvPr/>
        </p:nvPicPr>
        <p:blipFill>
          <a:blip r:embed="rId7"/>
          <a:stretch>
            <a:fillRect/>
          </a:stretch>
        </p:blipFill>
        <p:spPr>
          <a:xfrm>
            <a:off x="6464808" y="3383280"/>
            <a:ext cx="155448" cy="155448"/>
          </a:xfrm>
          <a:prstGeom prst="rect">
            <a:avLst/>
          </a:prstGeom>
        </p:spPr>
      </p:pic>
      <p:sp>
        <p:nvSpPr>
          <p:cNvPr id="22" name="Text 14"/>
          <p:cNvSpPr txBox="1"/>
          <p:nvPr/>
        </p:nvSpPr>
        <p:spPr>
          <a:xfrm>
            <a:off x="6702552" y="3337560"/>
            <a:ext cx="4690872" cy="365760"/>
          </a:xfrm>
          <a:prstGeom prst="rect">
            <a:avLst/>
          </a:prstGeom>
          <a:noFill/>
          <a:ln/>
        </p:spPr>
        <p:txBody>
          <a:bodyPr wrap="square" lIns="0" tIns="0" rIns="0" bIns="0" rtlCol="0" anchor="ctr"/>
          <a:lstStyle/>
          <a:p>
            <a:pPr indent="0" marL="0">
              <a:lnSpc>
                <a:spcPct val="95000"/>
              </a:lnSpc>
              <a:buNone/>
            </a:pPr>
            <a:r>
              <a:rPr lang="en-US" sz="1050" dirty="0">
                <a:solidFill>
                  <a:srgbClr val="E7E4FA"/>
                </a:solidFill>
                <a:latin typeface="Calibri" pitchFamily="34" charset="0"/>
                <a:ea typeface="Calibri" pitchFamily="34" charset="-122"/>
                <a:cs typeface="Calibri" pitchFamily="34" charset="-120"/>
              </a:rPr>
              <a:t>Instructor stays the final decision-maker</a:t>
            </a:r>
            <a:endParaRPr lang="en-US" sz="1050" dirty="0"/>
          </a:p>
        </p:txBody>
      </p:sp>
      <p:sp>
        <p:nvSpPr>
          <p:cNvPr id="23" name="Shape 15"/>
          <p:cNvSpPr/>
          <p:nvPr/>
        </p:nvSpPr>
        <p:spPr>
          <a:xfrm>
            <a:off x="566928" y="4315968"/>
            <a:ext cx="5440680" cy="1847088"/>
          </a:xfrm>
          <a:prstGeom prst="roundRect">
            <a:avLst>
              <a:gd name="adj" fmla="val 5446"/>
            </a:avLst>
          </a:prstGeom>
          <a:solidFill>
            <a:srgbClr val="FFFFFF">
              <a:alpha val="12000"/>
            </a:srgbClr>
          </a:solidFill>
          <a:ln w="12700">
            <a:solidFill>
              <a:srgbClr val="FFFFFF">
                <a:alpha val="18000"/>
              </a:srgbClr>
            </a:solidFill>
            <a:prstDash val="solid"/>
          </a:ln>
          <a:effectLst>
            <a:outerShdw sx="100000" sy="100000" kx="0" ky="0" algn="bl" rotWithShape="0" blurRad="177800" dist="63500" dir="5400000">
              <a:srgbClr val="0B0920">
                <a:alpha val="45000"/>
              </a:srgbClr>
            </a:outerShdw>
          </a:effectLst>
        </p:spPr>
      </p:sp>
      <p:sp>
        <p:nvSpPr>
          <p:cNvPr id="24" name="Shape 16"/>
          <p:cNvSpPr/>
          <p:nvPr/>
        </p:nvSpPr>
        <p:spPr>
          <a:xfrm>
            <a:off x="932688" y="4059936"/>
            <a:ext cx="3514954" cy="512064"/>
          </a:xfrm>
          <a:prstGeom prst="roundRect">
            <a:avLst>
              <a:gd name="adj" fmla="val 50000"/>
            </a:avLst>
          </a:prstGeom>
          <a:solidFill>
            <a:srgbClr val="F2A740"/>
          </a:solidFill>
          <a:ln/>
          <a:effectLst>
            <a:outerShdw sx="100000" sy="100000" kx="0" ky="0" algn="bl" rotWithShape="0" blurRad="127000" dist="50800" dir="5400000">
              <a:srgbClr val="F2A740">
                <a:alpha val="45000"/>
              </a:srgbClr>
            </a:outerShdw>
          </a:effectLst>
        </p:spPr>
      </p:sp>
      <p:sp>
        <p:nvSpPr>
          <p:cNvPr id="25" name="Shape 17"/>
          <p:cNvSpPr/>
          <p:nvPr/>
        </p:nvSpPr>
        <p:spPr>
          <a:xfrm>
            <a:off x="676656" y="3986784"/>
            <a:ext cx="676656" cy="676656"/>
          </a:xfrm>
          <a:prstGeom prst="ellipse">
            <a:avLst/>
          </a:prstGeom>
          <a:solidFill>
            <a:srgbClr val="E0891C"/>
          </a:solidFill>
          <a:ln w="15240">
            <a:solidFill>
              <a:srgbClr val="FFFFFF">
                <a:alpha val="38000"/>
              </a:srgbClr>
            </a:solidFill>
            <a:prstDash val="solid"/>
          </a:ln>
          <a:effectLst>
            <a:outerShdw sx="100000" sy="100000" kx="0" ky="0" algn="bl" rotWithShape="0" blurRad="127000" dist="50800" dir="5400000">
              <a:srgbClr val="E0891C">
                <a:alpha val="45000"/>
              </a:srgbClr>
            </a:outerShdw>
          </a:effectLst>
        </p:spPr>
      </p:sp>
      <p:pic>
        <p:nvPicPr>
          <p:cNvPr id="26" name="Image 6" descr="assets/icons/award_w.png">    </p:cNvPr>
          <p:cNvPicPr>
            <a:picLocks noChangeAspect="1"/>
          </p:cNvPicPr>
          <p:nvPr/>
        </p:nvPicPr>
        <p:blipFill>
          <a:blip r:embed="rId8"/>
          <a:stretch>
            <a:fillRect/>
          </a:stretch>
        </p:blipFill>
        <p:spPr>
          <a:xfrm>
            <a:off x="866120" y="4176248"/>
            <a:ext cx="297729" cy="297729"/>
          </a:xfrm>
          <a:prstGeom prst="rect">
            <a:avLst/>
          </a:prstGeom>
        </p:spPr>
      </p:pic>
      <p:sp>
        <p:nvSpPr>
          <p:cNvPr id="27" name="Text 18"/>
          <p:cNvSpPr txBox="1"/>
          <p:nvPr/>
        </p:nvSpPr>
        <p:spPr>
          <a:xfrm>
            <a:off x="1389888" y="4059936"/>
            <a:ext cx="3021178" cy="512064"/>
          </a:xfrm>
          <a:prstGeom prst="rect">
            <a:avLst/>
          </a:prstGeom>
          <a:noFill/>
          <a:ln/>
        </p:spPr>
        <p:txBody>
          <a:bodyPr wrap="square" lIns="0" tIns="0" rIns="0" bIns="0" rtlCol="0" anchor="ctr"/>
          <a:lstStyle/>
          <a:p>
            <a:pPr indent="0" marL="0">
              <a:lnSpc>
                <a:spcPct val="100000"/>
              </a:lnSpc>
              <a:buNone/>
            </a:pPr>
            <a:r>
              <a:rPr lang="en-US" sz="1150" b="1" dirty="0">
                <a:solidFill>
                  <a:srgbClr val="FFFFFF"/>
                </a:solidFill>
                <a:latin typeface="Calibri" pitchFamily="34" charset="0"/>
                <a:ea typeface="Calibri" pitchFamily="34" charset="-122"/>
                <a:cs typeface="Calibri" pitchFamily="34" charset="-120"/>
              </a:rPr>
              <a:t>Design excellence &amp; contribution</a:t>
            </a:r>
            <a:endParaRPr lang="en-US" sz="1150" dirty="0"/>
          </a:p>
        </p:txBody>
      </p:sp>
      <p:pic>
        <p:nvPicPr>
          <p:cNvPr id="28" name="Image 7" descr="assets/icons/check_w.png">    </p:cNvPr>
          <p:cNvPicPr>
            <a:picLocks noChangeAspect="1"/>
          </p:cNvPicPr>
          <p:nvPr/>
        </p:nvPicPr>
        <p:blipFill>
          <a:blip r:embed="rId9"/>
          <a:stretch>
            <a:fillRect/>
          </a:stretch>
        </p:blipFill>
        <p:spPr>
          <a:xfrm>
            <a:off x="822960" y="4919472"/>
            <a:ext cx="155448" cy="155448"/>
          </a:xfrm>
          <a:prstGeom prst="rect">
            <a:avLst/>
          </a:prstGeom>
        </p:spPr>
      </p:pic>
      <p:sp>
        <p:nvSpPr>
          <p:cNvPr id="29" name="Text 19"/>
          <p:cNvSpPr txBox="1"/>
          <p:nvPr/>
        </p:nvSpPr>
        <p:spPr>
          <a:xfrm>
            <a:off x="1060704" y="4873752"/>
            <a:ext cx="4690872" cy="365760"/>
          </a:xfrm>
          <a:prstGeom prst="rect">
            <a:avLst/>
          </a:prstGeom>
          <a:noFill/>
          <a:ln/>
        </p:spPr>
        <p:txBody>
          <a:bodyPr wrap="square" lIns="0" tIns="0" rIns="0" bIns="0" rtlCol="0" anchor="ctr"/>
          <a:lstStyle/>
          <a:p>
            <a:pPr indent="0" marL="0">
              <a:lnSpc>
                <a:spcPct val="95000"/>
              </a:lnSpc>
              <a:buNone/>
            </a:pPr>
            <a:r>
              <a:rPr lang="en-US" sz="1050" dirty="0">
                <a:solidFill>
                  <a:srgbClr val="E7E4FA"/>
                </a:solidFill>
                <a:latin typeface="Calibri" pitchFamily="34" charset="0"/>
                <a:ea typeface="Calibri" pitchFamily="34" charset="-122"/>
                <a:cs typeface="Calibri" pitchFamily="34" charset="-120"/>
              </a:rPr>
              <a:t>Seven-factor model: cohort standardization + learned weights</a:t>
            </a:r>
            <a:endParaRPr lang="en-US" sz="1050" dirty="0"/>
          </a:p>
        </p:txBody>
      </p:sp>
      <p:pic>
        <p:nvPicPr>
          <p:cNvPr id="30" name="Image 8" descr="assets/icons/check_w.png">    </p:cNvPr>
          <p:cNvPicPr>
            <a:picLocks noChangeAspect="1"/>
          </p:cNvPicPr>
          <p:nvPr/>
        </p:nvPicPr>
        <p:blipFill>
          <a:blip r:embed="rId10"/>
          <a:stretch>
            <a:fillRect/>
          </a:stretch>
        </p:blipFill>
        <p:spPr>
          <a:xfrm>
            <a:off x="822960" y="5303520"/>
            <a:ext cx="155448" cy="155448"/>
          </a:xfrm>
          <a:prstGeom prst="rect">
            <a:avLst/>
          </a:prstGeom>
        </p:spPr>
      </p:pic>
      <p:sp>
        <p:nvSpPr>
          <p:cNvPr id="31" name="Text 20"/>
          <p:cNvSpPr txBox="1"/>
          <p:nvPr/>
        </p:nvSpPr>
        <p:spPr>
          <a:xfrm>
            <a:off x="1060704" y="5257800"/>
            <a:ext cx="4690872" cy="365760"/>
          </a:xfrm>
          <a:prstGeom prst="rect">
            <a:avLst/>
          </a:prstGeom>
          <a:noFill/>
          <a:ln/>
        </p:spPr>
        <p:txBody>
          <a:bodyPr wrap="square" lIns="0" tIns="0" rIns="0" bIns="0" rtlCol="0" anchor="ctr"/>
          <a:lstStyle/>
          <a:p>
            <a:pPr indent="0" marL="0">
              <a:lnSpc>
                <a:spcPct val="95000"/>
              </a:lnSpc>
              <a:buNone/>
            </a:pPr>
            <a:r>
              <a:rPr lang="en-US" sz="1050" dirty="0">
                <a:solidFill>
                  <a:srgbClr val="E7E4FA"/>
                </a:solidFill>
                <a:latin typeface="Calibri" pitchFamily="34" charset="0"/>
                <a:ea typeface="Calibri" pitchFamily="34" charset="-122"/>
                <a:cs typeface="Calibri" pitchFamily="34" charset="-120"/>
              </a:rPr>
              <a:t>Active code-ownership probe verifies understanding</a:t>
            </a:r>
            <a:endParaRPr lang="en-US" sz="1050" dirty="0"/>
          </a:p>
        </p:txBody>
      </p:sp>
      <p:pic>
        <p:nvPicPr>
          <p:cNvPr id="32" name="Image 9" descr="assets/icons/check_w.png">    </p:cNvPr>
          <p:cNvPicPr>
            <a:picLocks noChangeAspect="1"/>
          </p:cNvPicPr>
          <p:nvPr/>
        </p:nvPicPr>
        <p:blipFill>
          <a:blip r:embed="rId11"/>
          <a:stretch>
            <a:fillRect/>
          </a:stretch>
        </p:blipFill>
        <p:spPr>
          <a:xfrm>
            <a:off x="822960" y="5687568"/>
            <a:ext cx="155448" cy="155448"/>
          </a:xfrm>
          <a:prstGeom prst="rect">
            <a:avLst/>
          </a:prstGeom>
        </p:spPr>
      </p:pic>
      <p:sp>
        <p:nvSpPr>
          <p:cNvPr id="33" name="Text 21"/>
          <p:cNvSpPr txBox="1"/>
          <p:nvPr/>
        </p:nvSpPr>
        <p:spPr>
          <a:xfrm>
            <a:off x="1060704" y="5641848"/>
            <a:ext cx="4690872" cy="365760"/>
          </a:xfrm>
          <a:prstGeom prst="rect">
            <a:avLst/>
          </a:prstGeom>
          <a:noFill/>
          <a:ln/>
        </p:spPr>
        <p:txBody>
          <a:bodyPr wrap="square" lIns="0" tIns="0" rIns="0" bIns="0" rtlCol="0" anchor="ctr"/>
          <a:lstStyle/>
          <a:p>
            <a:pPr indent="0" marL="0">
              <a:lnSpc>
                <a:spcPct val="95000"/>
              </a:lnSpc>
              <a:buNone/>
            </a:pPr>
            <a:r>
              <a:rPr lang="en-US" sz="1050" dirty="0">
                <a:solidFill>
                  <a:srgbClr val="E7E4FA"/>
                </a:solidFill>
                <a:latin typeface="Calibri" pitchFamily="34" charset="0"/>
                <a:ea typeface="Calibri" pitchFamily="34" charset="-122"/>
                <a:cs typeface="Calibri" pitchFamily="34" charset="-120"/>
              </a:rPr>
              <a:t>Code ownership via Tree-sitter + CodeBERT (r = 0.81)</a:t>
            </a:r>
            <a:endParaRPr lang="en-US" sz="1050" dirty="0"/>
          </a:p>
        </p:txBody>
      </p:sp>
      <p:sp>
        <p:nvSpPr>
          <p:cNvPr id="34" name="Shape 22"/>
          <p:cNvSpPr/>
          <p:nvPr/>
        </p:nvSpPr>
        <p:spPr>
          <a:xfrm>
            <a:off x="6208776" y="4315968"/>
            <a:ext cx="5440680" cy="1847088"/>
          </a:xfrm>
          <a:prstGeom prst="roundRect">
            <a:avLst>
              <a:gd name="adj" fmla="val 5446"/>
            </a:avLst>
          </a:prstGeom>
          <a:solidFill>
            <a:srgbClr val="FFFFFF">
              <a:alpha val="12000"/>
            </a:srgbClr>
          </a:solidFill>
          <a:ln w="12700">
            <a:solidFill>
              <a:srgbClr val="FFFFFF">
                <a:alpha val="18000"/>
              </a:srgbClr>
            </a:solidFill>
            <a:prstDash val="solid"/>
          </a:ln>
          <a:effectLst>
            <a:outerShdw sx="100000" sy="100000" kx="0" ky="0" algn="bl" rotWithShape="0" blurRad="177800" dist="63500" dir="5400000">
              <a:srgbClr val="0B0920">
                <a:alpha val="45000"/>
              </a:srgbClr>
            </a:outerShdw>
          </a:effectLst>
        </p:spPr>
      </p:sp>
      <p:sp>
        <p:nvSpPr>
          <p:cNvPr id="35" name="Shape 23"/>
          <p:cNvSpPr/>
          <p:nvPr/>
        </p:nvSpPr>
        <p:spPr>
          <a:xfrm>
            <a:off x="6574536" y="4059936"/>
            <a:ext cx="2421331" cy="512064"/>
          </a:xfrm>
          <a:prstGeom prst="roundRect">
            <a:avLst>
              <a:gd name="adj" fmla="val 50000"/>
            </a:avLst>
          </a:prstGeom>
          <a:solidFill>
            <a:srgbClr val="39BC7A"/>
          </a:solidFill>
          <a:ln/>
          <a:effectLst>
            <a:outerShdw sx="100000" sy="100000" kx="0" ky="0" algn="bl" rotWithShape="0" blurRad="127000" dist="50800" dir="5400000">
              <a:srgbClr val="39BC7A">
                <a:alpha val="45000"/>
              </a:srgbClr>
            </a:outerShdw>
          </a:effectLst>
        </p:spPr>
      </p:sp>
      <p:sp>
        <p:nvSpPr>
          <p:cNvPr id="36" name="Shape 24"/>
          <p:cNvSpPr/>
          <p:nvPr/>
        </p:nvSpPr>
        <p:spPr>
          <a:xfrm>
            <a:off x="6318504" y="3986784"/>
            <a:ext cx="676656" cy="676656"/>
          </a:xfrm>
          <a:prstGeom prst="ellipse">
            <a:avLst/>
          </a:prstGeom>
          <a:solidFill>
            <a:srgbClr val="23925B"/>
          </a:solidFill>
          <a:ln w="15240">
            <a:solidFill>
              <a:srgbClr val="FFFFFF">
                <a:alpha val="38000"/>
              </a:srgbClr>
            </a:solidFill>
            <a:prstDash val="solid"/>
          </a:ln>
          <a:effectLst>
            <a:outerShdw sx="100000" sy="100000" kx="0" ky="0" algn="bl" rotWithShape="0" blurRad="127000" dist="50800" dir="5400000">
              <a:srgbClr val="23925B">
                <a:alpha val="45000"/>
              </a:srgbClr>
            </a:outerShdw>
          </a:effectLst>
        </p:spPr>
      </p:sp>
      <p:pic>
        <p:nvPicPr>
          <p:cNvPr id="37" name="Image 10" descr="assets/icons/activity_w.png">    </p:cNvPr>
          <p:cNvPicPr>
            <a:picLocks noChangeAspect="1"/>
          </p:cNvPicPr>
          <p:nvPr/>
        </p:nvPicPr>
        <p:blipFill>
          <a:blip r:embed="rId12"/>
          <a:stretch>
            <a:fillRect/>
          </a:stretch>
        </p:blipFill>
        <p:spPr>
          <a:xfrm>
            <a:off x="6507968" y="4176248"/>
            <a:ext cx="297729" cy="297729"/>
          </a:xfrm>
          <a:prstGeom prst="rect">
            <a:avLst/>
          </a:prstGeom>
        </p:spPr>
      </p:pic>
      <p:sp>
        <p:nvSpPr>
          <p:cNvPr id="38" name="Text 25"/>
          <p:cNvSpPr txBox="1"/>
          <p:nvPr/>
        </p:nvSpPr>
        <p:spPr>
          <a:xfrm>
            <a:off x="7031736" y="4059936"/>
            <a:ext cx="1927555" cy="512064"/>
          </a:xfrm>
          <a:prstGeom prst="rect">
            <a:avLst/>
          </a:prstGeom>
          <a:noFill/>
          <a:ln/>
        </p:spPr>
        <p:txBody>
          <a:bodyPr wrap="square" lIns="0" tIns="0" rIns="0" bIns="0" rtlCol="0" anchor="ctr"/>
          <a:lstStyle/>
          <a:p>
            <a:pPr indent="0" marL="0">
              <a:lnSpc>
                <a:spcPct val="100000"/>
              </a:lnSpc>
              <a:buNone/>
            </a:pPr>
            <a:r>
              <a:rPr lang="en-US" sz="1150" b="1" dirty="0">
                <a:solidFill>
                  <a:srgbClr val="FFFFFF"/>
                </a:solidFill>
                <a:latin typeface="Calibri" pitchFamily="34" charset="0"/>
                <a:ea typeface="Calibri" pitchFamily="34" charset="-122"/>
                <a:cs typeface="Calibri" pitchFamily="34" charset="-120"/>
              </a:rPr>
              <a:t>Progress &amp; feedback</a:t>
            </a:r>
            <a:endParaRPr lang="en-US" sz="1150" dirty="0"/>
          </a:p>
        </p:txBody>
      </p:sp>
      <p:pic>
        <p:nvPicPr>
          <p:cNvPr id="39" name="Image 11" descr="assets/icons/check_e.png">    </p:cNvPr>
          <p:cNvPicPr>
            <a:picLocks noChangeAspect="1"/>
          </p:cNvPicPr>
          <p:nvPr/>
        </p:nvPicPr>
        <p:blipFill>
          <a:blip r:embed="rId13"/>
          <a:stretch>
            <a:fillRect/>
          </a:stretch>
        </p:blipFill>
        <p:spPr>
          <a:xfrm>
            <a:off x="6464808" y="4919472"/>
            <a:ext cx="155448" cy="155448"/>
          </a:xfrm>
          <a:prstGeom prst="rect">
            <a:avLst/>
          </a:prstGeom>
        </p:spPr>
      </p:pic>
      <p:sp>
        <p:nvSpPr>
          <p:cNvPr id="40" name="Text 26"/>
          <p:cNvSpPr txBox="1"/>
          <p:nvPr/>
        </p:nvSpPr>
        <p:spPr>
          <a:xfrm>
            <a:off x="6702552" y="4873752"/>
            <a:ext cx="4690872" cy="365760"/>
          </a:xfrm>
          <a:prstGeom prst="rect">
            <a:avLst/>
          </a:prstGeom>
          <a:noFill/>
          <a:ln/>
        </p:spPr>
        <p:txBody>
          <a:bodyPr wrap="square" lIns="0" tIns="0" rIns="0" bIns="0" rtlCol="0" anchor="ctr"/>
          <a:lstStyle/>
          <a:p>
            <a:pPr indent="0" marL="0">
              <a:lnSpc>
                <a:spcPct val="95000"/>
              </a:lnSpc>
              <a:buNone/>
            </a:pPr>
            <a:r>
              <a:rPr lang="en-US" sz="1050" dirty="0">
                <a:solidFill>
                  <a:srgbClr val="9FE7C9"/>
                </a:solidFill>
                <a:latin typeface="Calibri" pitchFamily="34" charset="0"/>
                <a:ea typeface="Calibri" pitchFamily="34" charset="-122"/>
                <a:cs typeface="Calibri" pitchFamily="34" charset="-120"/>
              </a:rPr>
              <a:t>UI, comprehension interface &amp; dashboard built</a:t>
            </a:r>
            <a:endParaRPr lang="en-US" sz="1050" dirty="0"/>
          </a:p>
        </p:txBody>
      </p:sp>
      <p:pic>
        <p:nvPicPr>
          <p:cNvPr id="41" name="Image 12" descr="assets/icons/check_e.png">    </p:cNvPr>
          <p:cNvPicPr>
            <a:picLocks noChangeAspect="1"/>
          </p:cNvPicPr>
          <p:nvPr/>
        </p:nvPicPr>
        <p:blipFill>
          <a:blip r:embed="rId14"/>
          <a:stretch>
            <a:fillRect/>
          </a:stretch>
        </p:blipFill>
        <p:spPr>
          <a:xfrm>
            <a:off x="6464808" y="5303520"/>
            <a:ext cx="155448" cy="155448"/>
          </a:xfrm>
          <a:prstGeom prst="rect">
            <a:avLst/>
          </a:prstGeom>
        </p:spPr>
      </p:pic>
      <p:sp>
        <p:nvSpPr>
          <p:cNvPr id="42" name="Text 27"/>
          <p:cNvSpPr txBox="1"/>
          <p:nvPr/>
        </p:nvSpPr>
        <p:spPr>
          <a:xfrm>
            <a:off x="6702552" y="5257800"/>
            <a:ext cx="4690872" cy="365760"/>
          </a:xfrm>
          <a:prstGeom prst="rect">
            <a:avLst/>
          </a:prstGeom>
          <a:noFill/>
          <a:ln/>
        </p:spPr>
        <p:txBody>
          <a:bodyPr wrap="square" lIns="0" tIns="0" rIns="0" bIns="0" rtlCol="0" anchor="ctr"/>
          <a:lstStyle/>
          <a:p>
            <a:pPr indent="0" marL="0">
              <a:lnSpc>
                <a:spcPct val="95000"/>
              </a:lnSpc>
              <a:buNone/>
            </a:pPr>
            <a:r>
              <a:rPr lang="en-US" sz="1050" dirty="0">
                <a:solidFill>
                  <a:srgbClr val="9FE7C9"/>
                </a:solidFill>
                <a:latin typeface="Calibri" pitchFamily="34" charset="0"/>
                <a:ea typeface="Calibri" pitchFamily="34" charset="-122"/>
                <a:cs typeface="Calibri" pitchFamily="34" charset="-120"/>
              </a:rPr>
              <a:t>Mining pipeline and factor models in progress</a:t>
            </a:r>
            <a:endParaRPr lang="en-US" sz="1050" dirty="0"/>
          </a:p>
        </p:txBody>
      </p:sp>
      <p:pic>
        <p:nvPicPr>
          <p:cNvPr id="43" name="Image 13" descr="assets/icons/check_e.png">    </p:cNvPr>
          <p:cNvPicPr>
            <a:picLocks noChangeAspect="1"/>
          </p:cNvPicPr>
          <p:nvPr/>
        </p:nvPicPr>
        <p:blipFill>
          <a:blip r:embed="rId15"/>
          <a:stretch>
            <a:fillRect/>
          </a:stretch>
        </p:blipFill>
        <p:spPr>
          <a:xfrm>
            <a:off x="6464808" y="5687568"/>
            <a:ext cx="155448" cy="155448"/>
          </a:xfrm>
          <a:prstGeom prst="rect">
            <a:avLst/>
          </a:prstGeom>
        </p:spPr>
      </p:pic>
      <p:sp>
        <p:nvSpPr>
          <p:cNvPr id="44" name="Text 28"/>
          <p:cNvSpPr txBox="1"/>
          <p:nvPr/>
        </p:nvSpPr>
        <p:spPr>
          <a:xfrm>
            <a:off x="6702552" y="5641848"/>
            <a:ext cx="4690872" cy="365760"/>
          </a:xfrm>
          <a:prstGeom prst="rect">
            <a:avLst/>
          </a:prstGeom>
          <a:noFill/>
          <a:ln/>
        </p:spPr>
        <p:txBody>
          <a:bodyPr wrap="square" lIns="0" tIns="0" rIns="0" bIns="0" rtlCol="0" anchor="ctr"/>
          <a:lstStyle/>
          <a:p>
            <a:pPr indent="0" marL="0">
              <a:lnSpc>
                <a:spcPct val="95000"/>
              </a:lnSpc>
              <a:buNone/>
            </a:pPr>
            <a:r>
              <a:rPr lang="en-US" sz="1050" dirty="0">
                <a:solidFill>
                  <a:srgbClr val="9FE7C9"/>
                </a:solidFill>
                <a:latin typeface="Calibri" pitchFamily="34" charset="0"/>
                <a:ea typeface="Calibri" pitchFamily="34" charset="-122"/>
                <a:cs typeface="Calibri" pitchFamily="34" charset="-120"/>
              </a:rPr>
              <a:t>LLM-as-Judge scoped to requirement–code alignment</a:t>
            </a:r>
            <a:endParaRPr lang="en-US" sz="1050" dirty="0"/>
          </a:p>
        </p:txBody>
      </p:sp>
      <p:sp>
        <p:nvSpPr>
          <p:cNvPr id="45" name="Text 29"/>
          <p:cNvSpPr txBox="1"/>
          <p:nvPr/>
        </p:nvSpPr>
        <p:spPr>
          <a:xfrm>
            <a:off x="603504" y="6528816"/>
            <a:ext cx="8229600" cy="256032"/>
          </a:xfrm>
          <a:prstGeom prst="rect">
            <a:avLst/>
          </a:prstGeom>
          <a:noFill/>
          <a:ln/>
        </p:spPr>
        <p:txBody>
          <a:bodyPr wrap="square" lIns="0" tIns="0" rIns="0" bIns="0" rtlCol="0" anchor="ctr"/>
          <a:lstStyle/>
          <a:p>
            <a:pPr indent="0" marL="0">
              <a:lnSpc>
                <a:spcPct val="100000"/>
              </a:lnSpc>
              <a:buNone/>
            </a:pPr>
            <a:r>
              <a:rPr lang="en-US" sz="900" b="1" dirty="0">
                <a:solidFill>
                  <a:srgbClr val="9C97CC"/>
                </a:solidFill>
                <a:latin typeface="Calibri" pitchFamily="34" charset="0"/>
                <a:ea typeface="Calibri" pitchFamily="34" charset="-122"/>
                <a:cs typeface="Calibri" pitchFamily="34" charset="-120"/>
              </a:rPr>
              <a:t>IT23155534  |  Kumbukage S S  |  J26-SE-363</a:t>
            </a:r>
            <a:endParaRPr lang="en-US" sz="900" dirty="0"/>
          </a:p>
        </p:txBody>
      </p:sp>
      <p:sp>
        <p:nvSpPr>
          <p:cNvPr id="46" name="Text 30"/>
          <p:cNvSpPr txBox="1"/>
          <p:nvPr/>
        </p:nvSpPr>
        <p:spPr>
          <a:xfrm>
            <a:off x="10972800" y="6528816"/>
            <a:ext cx="640080" cy="256032"/>
          </a:xfrm>
          <a:prstGeom prst="rect">
            <a:avLst/>
          </a:prstGeom>
          <a:noFill/>
          <a:ln/>
        </p:spPr>
        <p:txBody>
          <a:bodyPr wrap="square" lIns="0" tIns="0" rIns="0" bIns="0" rtlCol="0" anchor="ctr"/>
          <a:lstStyle/>
          <a:p>
            <a:pPr algn="r" indent="0" marL="0">
              <a:lnSpc>
                <a:spcPct val="100000"/>
              </a:lnSpc>
              <a:buNone/>
            </a:pPr>
            <a:r>
              <a:rPr lang="en-US" sz="850" dirty="0">
                <a:solidFill>
                  <a:srgbClr val="726CA6"/>
                </a:solidFill>
                <a:latin typeface="Calibri" pitchFamily="34" charset="0"/>
                <a:ea typeface="Calibri" pitchFamily="34" charset="-122"/>
                <a:cs typeface="Calibri" pitchFamily="34" charset="-120"/>
              </a:rPr>
              <a:t>12</a:t>
            </a:r>
            <a:endParaRPr lang="en-US" sz="85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Shape 0"/>
          <p:cNvSpPr/>
          <p:nvPr/>
        </p:nvSpPr>
        <p:spPr>
          <a:xfrm>
            <a:off x="10515600" y="411480"/>
            <a:ext cx="1005840" cy="1005840"/>
          </a:xfrm>
          <a:prstGeom prst="ellipse">
            <a:avLst/>
          </a:prstGeom>
          <a:solidFill>
            <a:srgbClr val="1A1640"/>
          </a:solidFill>
          <a:ln w="25400">
            <a:solidFill>
              <a:srgbClr val="16C78C"/>
            </a:solidFill>
            <a:prstDash val="solid"/>
          </a:ln>
          <a:effectLst>
            <a:outerShdw sx="100000" sy="100000" kx="0" ky="0" algn="bl" rotWithShape="0" blurRad="127000" dist="50800" dir="5400000">
              <a:srgbClr val="4A3DC2">
                <a:alpha val="45000"/>
              </a:srgbClr>
            </a:outerShdw>
          </a:effectLst>
        </p:spPr>
      </p:sp>
      <p:pic>
        <p:nvPicPr>
          <p:cNvPr id="3" name="Image 0" descr="assets/kumbukage.jpg">    </p:cNvPr>
          <p:cNvPicPr>
            <a:picLocks noChangeAspect="1"/>
          </p:cNvPicPr>
          <p:nvPr/>
        </p:nvPicPr>
        <p:blipFill>
          <a:blip r:embed="rId2"/>
          <a:stretch>
            <a:fillRect/>
          </a:stretch>
        </p:blipFill>
        <p:spPr>
          <a:xfrm>
            <a:off x="10561320" y="457200"/>
            <a:ext cx="914400" cy="914400"/>
          </a:xfrm>
          <a:prstGeom prst="ellipse">
            <a:avLst/>
          </a:prstGeom>
        </p:spPr>
      </p:pic>
      <p:sp>
        <p:nvSpPr>
          <p:cNvPr id="4" name="Text 1"/>
          <p:cNvSpPr txBox="1"/>
          <p:nvPr/>
        </p:nvSpPr>
        <p:spPr>
          <a:xfrm>
            <a:off x="603504" y="493776"/>
            <a:ext cx="10058400" cy="274320"/>
          </a:xfrm>
          <a:prstGeom prst="rect">
            <a:avLst/>
          </a:prstGeom>
          <a:noFill/>
          <a:ln/>
        </p:spPr>
        <p:txBody>
          <a:bodyPr wrap="square" lIns="0" tIns="0" rIns="0" bIns="0" rtlCol="0" anchor="ctr"/>
          <a:lstStyle/>
          <a:p>
            <a:pPr indent="0" marL="0">
              <a:lnSpc>
                <a:spcPct val="100000"/>
              </a:lnSpc>
              <a:buNone/>
            </a:pPr>
            <a:r>
              <a:rPr lang="en-US" sz="1100" b="1" spc="260" kern="0" dirty="0">
                <a:solidFill>
                  <a:srgbClr val="9FE7C9"/>
                </a:solidFill>
                <a:latin typeface="Calibri" pitchFamily="34" charset="0"/>
                <a:ea typeface="Calibri" pitchFamily="34" charset="-122"/>
                <a:cs typeface="Calibri" pitchFamily="34" charset="-120"/>
              </a:rPr>
              <a:t>PERFORMANCE ASSESSMENT  ·  COMPONENT DIAGRAM</a:t>
            </a:r>
            <a:endParaRPr lang="en-US" sz="1100" dirty="0"/>
          </a:p>
        </p:txBody>
      </p:sp>
      <p:sp>
        <p:nvSpPr>
          <p:cNvPr id="5" name="Text 2"/>
          <p:cNvSpPr txBox="1"/>
          <p:nvPr/>
        </p:nvSpPr>
        <p:spPr>
          <a:xfrm>
            <a:off x="566928" y="749808"/>
            <a:ext cx="9601200" cy="777240"/>
          </a:xfrm>
          <a:prstGeom prst="rect">
            <a:avLst/>
          </a:prstGeom>
          <a:noFill/>
          <a:ln/>
        </p:spPr>
        <p:txBody>
          <a:bodyPr wrap="square" lIns="0" tIns="0" rIns="0" bIns="0" rtlCol="0" anchor="ctr"/>
          <a:lstStyle/>
          <a:p>
            <a:pPr indent="0" marL="0">
              <a:lnSpc>
                <a:spcPct val="98000"/>
              </a:lnSpc>
              <a:buNone/>
            </a:pPr>
            <a:r>
              <a:rPr lang="en-US" sz="2200" b="1" dirty="0">
                <a:solidFill>
                  <a:srgbClr val="FFFFFF"/>
                </a:solidFill>
                <a:latin typeface="Calibri" pitchFamily="34" charset="0"/>
                <a:ea typeface="Calibri" pitchFamily="34" charset="-122"/>
                <a:cs typeface="Calibri" pitchFamily="34" charset="-120"/>
              </a:rPr>
              <a:t>Seven-Factor Assessment Pipeline</a:t>
            </a:r>
            <a:endParaRPr lang="en-US" sz="2200" dirty="0"/>
          </a:p>
        </p:txBody>
      </p:sp>
      <p:sp>
        <p:nvSpPr>
          <p:cNvPr id="6" name="Shape 3"/>
          <p:cNvSpPr/>
          <p:nvPr/>
        </p:nvSpPr>
        <p:spPr>
          <a:xfrm>
            <a:off x="566928" y="1965960"/>
            <a:ext cx="2331720" cy="1234440"/>
          </a:xfrm>
          <a:prstGeom prst="roundRect">
            <a:avLst>
              <a:gd name="adj" fmla="val 8148"/>
            </a:avLst>
          </a:prstGeom>
          <a:solidFill>
            <a:srgbClr val="FFFFFF">
              <a:alpha val="12000"/>
            </a:srgbClr>
          </a:solidFill>
          <a:ln w="12700">
            <a:solidFill>
              <a:srgbClr val="FFFFFF">
                <a:alpha val="18000"/>
              </a:srgbClr>
            </a:solidFill>
            <a:prstDash val="solid"/>
          </a:ln>
          <a:effectLst>
            <a:outerShdw sx="100000" sy="100000" kx="0" ky="0" algn="bl" rotWithShape="0" blurRad="177800" dist="63500" dir="5400000">
              <a:srgbClr val="0B0920">
                <a:alpha val="45000"/>
              </a:srgbClr>
            </a:outerShdw>
          </a:effectLst>
        </p:spPr>
      </p:sp>
      <p:sp>
        <p:nvSpPr>
          <p:cNvPr id="7" name="Shape 4"/>
          <p:cNvSpPr/>
          <p:nvPr/>
        </p:nvSpPr>
        <p:spPr>
          <a:xfrm>
            <a:off x="768096" y="2185416"/>
            <a:ext cx="530352" cy="530352"/>
          </a:xfrm>
          <a:prstGeom prst="ellipse">
            <a:avLst/>
          </a:prstGeom>
          <a:solidFill>
            <a:srgbClr val="5A47CE"/>
          </a:solidFill>
          <a:ln w="17780">
            <a:solidFill>
              <a:srgbClr val="7E6CF4"/>
            </a:solidFill>
            <a:prstDash val="solid"/>
          </a:ln>
          <a:effectLst>
            <a:outerShdw sx="100000" sy="100000" kx="0" ky="0" algn="bl" rotWithShape="0" blurRad="127000" dist="50800" dir="5400000">
              <a:srgbClr val="7E6CF4">
                <a:alpha val="45000"/>
              </a:srgbClr>
            </a:outerShdw>
          </a:effectLst>
        </p:spPr>
      </p:sp>
      <p:pic>
        <p:nvPicPr>
          <p:cNvPr id="8" name="Image 1" descr="assets/icons/database_w.png">    </p:cNvPr>
          <p:cNvPicPr>
            <a:picLocks noChangeAspect="1"/>
          </p:cNvPicPr>
          <p:nvPr/>
        </p:nvPicPr>
        <p:blipFill>
          <a:blip r:embed="rId3"/>
          <a:stretch>
            <a:fillRect/>
          </a:stretch>
        </p:blipFill>
        <p:spPr>
          <a:xfrm>
            <a:off x="916595" y="2333915"/>
            <a:ext cx="233355" cy="233355"/>
          </a:xfrm>
          <a:prstGeom prst="rect">
            <a:avLst/>
          </a:prstGeom>
        </p:spPr>
      </p:pic>
      <p:sp>
        <p:nvSpPr>
          <p:cNvPr id="9" name="Text 5"/>
          <p:cNvSpPr txBox="1"/>
          <p:nvPr/>
        </p:nvSpPr>
        <p:spPr>
          <a:xfrm>
            <a:off x="768096" y="2807208"/>
            <a:ext cx="1965960" cy="256032"/>
          </a:xfrm>
          <a:prstGeom prst="rect">
            <a:avLst/>
          </a:prstGeom>
          <a:noFill/>
          <a:ln/>
        </p:spPr>
        <p:txBody>
          <a:bodyPr wrap="square" lIns="0" tIns="0" rIns="0" bIns="0" rtlCol="0" anchor="ctr"/>
          <a:lstStyle/>
          <a:p>
            <a:pPr indent="0" marL="0">
              <a:lnSpc>
                <a:spcPct val="100000"/>
              </a:lnSpc>
              <a:buNone/>
            </a:pPr>
            <a:r>
              <a:rPr lang="en-US" sz="1250" b="1" dirty="0">
                <a:solidFill>
                  <a:srgbClr val="FFFFFF"/>
                </a:solidFill>
                <a:latin typeface="Calibri" pitchFamily="34" charset="0"/>
                <a:ea typeface="Calibri" pitchFamily="34" charset="-122"/>
                <a:cs typeface="Calibri" pitchFamily="34" charset="-120"/>
              </a:rPr>
              <a:t>Evidence</a:t>
            </a:r>
            <a:endParaRPr lang="en-US" sz="1250" dirty="0"/>
          </a:p>
        </p:txBody>
      </p:sp>
      <p:sp>
        <p:nvSpPr>
          <p:cNvPr id="10" name="Text 6"/>
          <p:cNvSpPr txBox="1"/>
          <p:nvPr/>
        </p:nvSpPr>
        <p:spPr>
          <a:xfrm>
            <a:off x="1389888" y="2240280"/>
            <a:ext cx="1371600" cy="457200"/>
          </a:xfrm>
          <a:prstGeom prst="rect">
            <a:avLst/>
          </a:prstGeom>
          <a:noFill/>
          <a:ln/>
        </p:spPr>
        <p:txBody>
          <a:bodyPr wrap="square" lIns="0" tIns="0" rIns="0" bIns="0" rtlCol="0" anchor="ctr"/>
          <a:lstStyle/>
          <a:p>
            <a:pPr indent="0" marL="0">
              <a:lnSpc>
                <a:spcPct val="92000"/>
              </a:lnSpc>
              <a:buNone/>
            </a:pPr>
            <a:r>
              <a:rPr lang="en-US" sz="950" dirty="0">
                <a:solidFill>
                  <a:srgbClr val="CFCBEF"/>
                </a:solidFill>
                <a:latin typeface="Calibri" pitchFamily="34" charset="0"/>
                <a:ea typeface="Calibri" pitchFamily="34" charset="-122"/>
                <a:cs typeface="Calibri" pitchFamily="34" charset="-120"/>
              </a:rPr>
              <a:t>GitHub &amp; Scrum</a:t>
            </a:r>
            <a:endParaRPr lang="en-US" sz="950" dirty="0"/>
          </a:p>
        </p:txBody>
      </p:sp>
      <p:sp>
        <p:nvSpPr>
          <p:cNvPr id="11" name="Shape 7"/>
          <p:cNvSpPr/>
          <p:nvPr/>
        </p:nvSpPr>
        <p:spPr>
          <a:xfrm>
            <a:off x="2935224" y="2583180"/>
            <a:ext cx="292608" cy="0"/>
          </a:xfrm>
          <a:prstGeom prst="line">
            <a:avLst/>
          </a:prstGeom>
          <a:noFill/>
          <a:ln w="22225">
            <a:solidFill>
              <a:srgbClr val="7E6CF4"/>
            </a:solidFill>
            <a:prstDash val="solid"/>
            <a:tailEnd type="triangle"/>
          </a:ln>
        </p:spPr>
      </p:sp>
      <p:sp>
        <p:nvSpPr>
          <p:cNvPr id="12" name="Shape 8"/>
          <p:cNvSpPr/>
          <p:nvPr/>
        </p:nvSpPr>
        <p:spPr>
          <a:xfrm>
            <a:off x="3282696" y="1965960"/>
            <a:ext cx="2331720" cy="1234440"/>
          </a:xfrm>
          <a:prstGeom prst="roundRect">
            <a:avLst>
              <a:gd name="adj" fmla="val 8148"/>
            </a:avLst>
          </a:prstGeom>
          <a:solidFill>
            <a:srgbClr val="FFFFFF">
              <a:alpha val="12000"/>
            </a:srgbClr>
          </a:solidFill>
          <a:ln w="12700">
            <a:solidFill>
              <a:srgbClr val="FFFFFF">
                <a:alpha val="18000"/>
              </a:srgbClr>
            </a:solidFill>
            <a:prstDash val="solid"/>
          </a:ln>
          <a:effectLst>
            <a:outerShdw sx="100000" sy="100000" kx="0" ky="0" algn="bl" rotWithShape="0" blurRad="177800" dist="63500" dir="5400000">
              <a:srgbClr val="0B0920">
                <a:alpha val="45000"/>
              </a:srgbClr>
            </a:outerShdw>
          </a:effectLst>
        </p:spPr>
      </p:sp>
      <p:sp>
        <p:nvSpPr>
          <p:cNvPr id="13" name="Shape 9"/>
          <p:cNvSpPr/>
          <p:nvPr/>
        </p:nvSpPr>
        <p:spPr>
          <a:xfrm>
            <a:off x="3483864" y="2185416"/>
            <a:ext cx="530352" cy="530352"/>
          </a:xfrm>
          <a:prstGeom prst="ellipse">
            <a:avLst/>
          </a:prstGeom>
          <a:solidFill>
            <a:srgbClr val="1E9BA1"/>
          </a:solidFill>
          <a:ln w="17780">
            <a:solidFill>
              <a:srgbClr val="38C6CC"/>
            </a:solidFill>
            <a:prstDash val="solid"/>
          </a:ln>
          <a:effectLst>
            <a:outerShdw sx="100000" sy="100000" kx="0" ky="0" algn="bl" rotWithShape="0" blurRad="127000" dist="50800" dir="5400000">
              <a:srgbClr val="38C6CC">
                <a:alpha val="45000"/>
              </a:srgbClr>
            </a:outerShdw>
          </a:effectLst>
        </p:spPr>
      </p:sp>
      <p:pic>
        <p:nvPicPr>
          <p:cNvPr id="14" name="Image 2" descr="assets/icons/filter_w.png">    </p:cNvPr>
          <p:cNvPicPr>
            <a:picLocks noChangeAspect="1"/>
          </p:cNvPicPr>
          <p:nvPr/>
        </p:nvPicPr>
        <p:blipFill>
          <a:blip r:embed="rId4"/>
          <a:stretch>
            <a:fillRect/>
          </a:stretch>
        </p:blipFill>
        <p:spPr>
          <a:xfrm>
            <a:off x="3632363" y="2333915"/>
            <a:ext cx="233355" cy="233355"/>
          </a:xfrm>
          <a:prstGeom prst="rect">
            <a:avLst/>
          </a:prstGeom>
        </p:spPr>
      </p:pic>
      <p:sp>
        <p:nvSpPr>
          <p:cNvPr id="15" name="Text 10"/>
          <p:cNvSpPr txBox="1"/>
          <p:nvPr/>
        </p:nvSpPr>
        <p:spPr>
          <a:xfrm>
            <a:off x="3483864" y="2807208"/>
            <a:ext cx="1965960" cy="256032"/>
          </a:xfrm>
          <a:prstGeom prst="rect">
            <a:avLst/>
          </a:prstGeom>
          <a:noFill/>
          <a:ln/>
        </p:spPr>
        <p:txBody>
          <a:bodyPr wrap="square" lIns="0" tIns="0" rIns="0" bIns="0" rtlCol="0" anchor="ctr"/>
          <a:lstStyle/>
          <a:p>
            <a:pPr indent="0" marL="0">
              <a:lnSpc>
                <a:spcPct val="100000"/>
              </a:lnSpc>
              <a:buNone/>
            </a:pPr>
            <a:r>
              <a:rPr lang="en-US" sz="1250" b="1" dirty="0">
                <a:solidFill>
                  <a:srgbClr val="FFFFFF"/>
                </a:solidFill>
                <a:latin typeface="Calibri" pitchFamily="34" charset="0"/>
                <a:ea typeface="Calibri" pitchFamily="34" charset="-122"/>
                <a:cs typeface="Calibri" pitchFamily="34" charset="-120"/>
              </a:rPr>
              <a:t>Feature extraction</a:t>
            </a:r>
            <a:endParaRPr lang="en-US" sz="1250" dirty="0"/>
          </a:p>
        </p:txBody>
      </p:sp>
      <p:sp>
        <p:nvSpPr>
          <p:cNvPr id="16" name="Text 11"/>
          <p:cNvSpPr txBox="1"/>
          <p:nvPr/>
        </p:nvSpPr>
        <p:spPr>
          <a:xfrm>
            <a:off x="4105656" y="2240280"/>
            <a:ext cx="1371600" cy="457200"/>
          </a:xfrm>
          <a:prstGeom prst="rect">
            <a:avLst/>
          </a:prstGeom>
          <a:noFill/>
          <a:ln/>
        </p:spPr>
        <p:txBody>
          <a:bodyPr wrap="square" lIns="0" tIns="0" rIns="0" bIns="0" rtlCol="0" anchor="ctr"/>
          <a:lstStyle/>
          <a:p>
            <a:pPr indent="0" marL="0">
              <a:lnSpc>
                <a:spcPct val="92000"/>
              </a:lnSpc>
              <a:buNone/>
            </a:pPr>
            <a:r>
              <a:rPr lang="en-US" sz="950" dirty="0">
                <a:solidFill>
                  <a:srgbClr val="CFCBEF"/>
                </a:solidFill>
                <a:latin typeface="Calibri" pitchFamily="34" charset="0"/>
                <a:ea typeface="Calibri" pitchFamily="34" charset="-122"/>
                <a:cs typeface="Calibri" pitchFamily="34" charset="-120"/>
              </a:rPr>
              <a:t>Structured vectors</a:t>
            </a:r>
            <a:endParaRPr lang="en-US" sz="950" dirty="0"/>
          </a:p>
        </p:txBody>
      </p:sp>
      <p:sp>
        <p:nvSpPr>
          <p:cNvPr id="17" name="Shape 12"/>
          <p:cNvSpPr/>
          <p:nvPr/>
        </p:nvSpPr>
        <p:spPr>
          <a:xfrm>
            <a:off x="5650992" y="2583180"/>
            <a:ext cx="292608" cy="0"/>
          </a:xfrm>
          <a:prstGeom prst="line">
            <a:avLst/>
          </a:prstGeom>
          <a:noFill/>
          <a:ln w="22225">
            <a:solidFill>
              <a:srgbClr val="7E6CF4"/>
            </a:solidFill>
            <a:prstDash val="solid"/>
            <a:tailEnd type="triangle"/>
          </a:ln>
        </p:spPr>
      </p:sp>
      <p:sp>
        <p:nvSpPr>
          <p:cNvPr id="18" name="Shape 13"/>
          <p:cNvSpPr/>
          <p:nvPr/>
        </p:nvSpPr>
        <p:spPr>
          <a:xfrm>
            <a:off x="5998464" y="1965960"/>
            <a:ext cx="2331720" cy="1234440"/>
          </a:xfrm>
          <a:prstGeom prst="roundRect">
            <a:avLst>
              <a:gd name="adj" fmla="val 8148"/>
            </a:avLst>
          </a:prstGeom>
          <a:solidFill>
            <a:srgbClr val="FFFFFF">
              <a:alpha val="12000"/>
            </a:srgbClr>
          </a:solidFill>
          <a:ln w="12700">
            <a:solidFill>
              <a:srgbClr val="FFFFFF">
                <a:alpha val="18000"/>
              </a:srgbClr>
            </a:solidFill>
            <a:prstDash val="solid"/>
          </a:ln>
          <a:effectLst>
            <a:outerShdw sx="100000" sy="100000" kx="0" ky="0" algn="bl" rotWithShape="0" blurRad="177800" dist="63500" dir="5400000">
              <a:srgbClr val="0B0920">
                <a:alpha val="45000"/>
              </a:srgbClr>
            </a:outerShdw>
          </a:effectLst>
        </p:spPr>
      </p:sp>
      <p:sp>
        <p:nvSpPr>
          <p:cNvPr id="19" name="Shape 14"/>
          <p:cNvSpPr/>
          <p:nvPr/>
        </p:nvSpPr>
        <p:spPr>
          <a:xfrm>
            <a:off x="6199632" y="2185416"/>
            <a:ext cx="530352" cy="530352"/>
          </a:xfrm>
          <a:prstGeom prst="ellipse">
            <a:avLst/>
          </a:prstGeom>
          <a:solidFill>
            <a:srgbClr val="E0891C"/>
          </a:solidFill>
          <a:ln w="17780">
            <a:solidFill>
              <a:srgbClr val="F2A740"/>
            </a:solidFill>
            <a:prstDash val="solid"/>
          </a:ln>
          <a:effectLst>
            <a:outerShdw sx="100000" sy="100000" kx="0" ky="0" algn="bl" rotWithShape="0" blurRad="127000" dist="50800" dir="5400000">
              <a:srgbClr val="F2A740">
                <a:alpha val="45000"/>
              </a:srgbClr>
            </a:outerShdw>
          </a:effectLst>
        </p:spPr>
      </p:sp>
      <p:pic>
        <p:nvPicPr>
          <p:cNvPr id="20" name="Image 3" descr="assets/icons/grid_w.png">    </p:cNvPr>
          <p:cNvPicPr>
            <a:picLocks noChangeAspect="1"/>
          </p:cNvPicPr>
          <p:nvPr/>
        </p:nvPicPr>
        <p:blipFill>
          <a:blip r:embed="rId5"/>
          <a:stretch>
            <a:fillRect/>
          </a:stretch>
        </p:blipFill>
        <p:spPr>
          <a:xfrm>
            <a:off x="6348131" y="2333915"/>
            <a:ext cx="233355" cy="233355"/>
          </a:xfrm>
          <a:prstGeom prst="rect">
            <a:avLst/>
          </a:prstGeom>
        </p:spPr>
      </p:pic>
      <p:sp>
        <p:nvSpPr>
          <p:cNvPr id="21" name="Text 15"/>
          <p:cNvSpPr txBox="1"/>
          <p:nvPr/>
        </p:nvSpPr>
        <p:spPr>
          <a:xfrm>
            <a:off x="6199632" y="2807208"/>
            <a:ext cx="1965960" cy="256032"/>
          </a:xfrm>
          <a:prstGeom prst="rect">
            <a:avLst/>
          </a:prstGeom>
          <a:noFill/>
          <a:ln/>
        </p:spPr>
        <p:txBody>
          <a:bodyPr wrap="square" lIns="0" tIns="0" rIns="0" bIns="0" rtlCol="0" anchor="ctr"/>
          <a:lstStyle/>
          <a:p>
            <a:pPr indent="0" marL="0">
              <a:lnSpc>
                <a:spcPct val="100000"/>
              </a:lnSpc>
              <a:buNone/>
            </a:pPr>
            <a:r>
              <a:rPr lang="en-US" sz="1250" b="1" dirty="0">
                <a:solidFill>
                  <a:srgbClr val="FFFFFF"/>
                </a:solidFill>
                <a:latin typeface="Calibri" pitchFamily="34" charset="0"/>
                <a:ea typeface="Calibri" pitchFamily="34" charset="-122"/>
                <a:cs typeface="Calibri" pitchFamily="34" charset="-120"/>
              </a:rPr>
              <a:t>7-factor models</a:t>
            </a:r>
            <a:endParaRPr lang="en-US" sz="1250" dirty="0"/>
          </a:p>
        </p:txBody>
      </p:sp>
      <p:sp>
        <p:nvSpPr>
          <p:cNvPr id="22" name="Text 16"/>
          <p:cNvSpPr txBox="1"/>
          <p:nvPr/>
        </p:nvSpPr>
        <p:spPr>
          <a:xfrm>
            <a:off x="6821424" y="2240280"/>
            <a:ext cx="1371600" cy="457200"/>
          </a:xfrm>
          <a:prstGeom prst="rect">
            <a:avLst/>
          </a:prstGeom>
          <a:noFill/>
          <a:ln/>
        </p:spPr>
        <p:txBody>
          <a:bodyPr wrap="square" lIns="0" tIns="0" rIns="0" bIns="0" rtlCol="0" anchor="ctr"/>
          <a:lstStyle/>
          <a:p>
            <a:pPr indent="0" marL="0">
              <a:lnSpc>
                <a:spcPct val="92000"/>
              </a:lnSpc>
              <a:buNone/>
            </a:pPr>
            <a:r>
              <a:rPr lang="en-US" sz="950" dirty="0">
                <a:solidFill>
                  <a:srgbClr val="CFCBEF"/>
                </a:solidFill>
                <a:latin typeface="Calibri" pitchFamily="34" charset="0"/>
                <a:ea typeface="Calibri" pitchFamily="34" charset="-122"/>
                <a:cs typeface="Calibri" pitchFamily="34" charset="-120"/>
              </a:rPr>
              <a:t>Per-factor scores</a:t>
            </a:r>
            <a:endParaRPr lang="en-US" sz="950" dirty="0"/>
          </a:p>
        </p:txBody>
      </p:sp>
      <p:sp>
        <p:nvSpPr>
          <p:cNvPr id="23" name="Shape 17"/>
          <p:cNvSpPr/>
          <p:nvPr/>
        </p:nvSpPr>
        <p:spPr>
          <a:xfrm>
            <a:off x="8366760" y="2583180"/>
            <a:ext cx="292608" cy="0"/>
          </a:xfrm>
          <a:prstGeom prst="line">
            <a:avLst/>
          </a:prstGeom>
          <a:noFill/>
          <a:ln w="22225">
            <a:solidFill>
              <a:srgbClr val="7E6CF4"/>
            </a:solidFill>
            <a:prstDash val="solid"/>
            <a:tailEnd type="triangle"/>
          </a:ln>
        </p:spPr>
      </p:sp>
      <p:sp>
        <p:nvSpPr>
          <p:cNvPr id="24" name="Shape 18"/>
          <p:cNvSpPr/>
          <p:nvPr/>
        </p:nvSpPr>
        <p:spPr>
          <a:xfrm>
            <a:off x="8714232" y="1965960"/>
            <a:ext cx="2331720" cy="1234440"/>
          </a:xfrm>
          <a:prstGeom prst="roundRect">
            <a:avLst>
              <a:gd name="adj" fmla="val 8148"/>
            </a:avLst>
          </a:prstGeom>
          <a:solidFill>
            <a:srgbClr val="FFFFFF">
              <a:alpha val="12000"/>
            </a:srgbClr>
          </a:solidFill>
          <a:ln w="12700">
            <a:solidFill>
              <a:srgbClr val="FFFFFF">
                <a:alpha val="18000"/>
              </a:srgbClr>
            </a:solidFill>
            <a:prstDash val="solid"/>
          </a:ln>
          <a:effectLst>
            <a:outerShdw sx="100000" sy="100000" kx="0" ky="0" algn="bl" rotWithShape="0" blurRad="177800" dist="63500" dir="5400000">
              <a:srgbClr val="0B0920">
                <a:alpha val="45000"/>
              </a:srgbClr>
            </a:outerShdw>
          </a:effectLst>
        </p:spPr>
      </p:sp>
      <p:sp>
        <p:nvSpPr>
          <p:cNvPr id="25" name="Shape 19"/>
          <p:cNvSpPr/>
          <p:nvPr/>
        </p:nvSpPr>
        <p:spPr>
          <a:xfrm>
            <a:off x="8915400" y="2185416"/>
            <a:ext cx="530352" cy="530352"/>
          </a:xfrm>
          <a:prstGeom prst="ellipse">
            <a:avLst/>
          </a:prstGeom>
          <a:solidFill>
            <a:srgbClr val="23925B"/>
          </a:solidFill>
          <a:ln w="17780">
            <a:solidFill>
              <a:srgbClr val="39BC7A"/>
            </a:solidFill>
            <a:prstDash val="solid"/>
          </a:ln>
          <a:effectLst>
            <a:outerShdw sx="100000" sy="100000" kx="0" ky="0" algn="bl" rotWithShape="0" blurRad="127000" dist="50800" dir="5400000">
              <a:srgbClr val="39BC7A">
                <a:alpha val="45000"/>
              </a:srgbClr>
            </a:outerShdw>
          </a:effectLst>
        </p:spPr>
      </p:sp>
      <p:pic>
        <p:nvPicPr>
          <p:cNvPr id="26" name="Image 4" descr="assets/icons/pie_w.png">    </p:cNvPr>
          <p:cNvPicPr>
            <a:picLocks noChangeAspect="1"/>
          </p:cNvPicPr>
          <p:nvPr/>
        </p:nvPicPr>
        <p:blipFill>
          <a:blip r:embed="rId6"/>
          <a:stretch>
            <a:fillRect/>
          </a:stretch>
        </p:blipFill>
        <p:spPr>
          <a:xfrm>
            <a:off x="9063899" y="2333915"/>
            <a:ext cx="233355" cy="233355"/>
          </a:xfrm>
          <a:prstGeom prst="rect">
            <a:avLst/>
          </a:prstGeom>
        </p:spPr>
      </p:pic>
      <p:sp>
        <p:nvSpPr>
          <p:cNvPr id="27" name="Text 20"/>
          <p:cNvSpPr txBox="1"/>
          <p:nvPr/>
        </p:nvSpPr>
        <p:spPr>
          <a:xfrm>
            <a:off x="8915400" y="2807208"/>
            <a:ext cx="1965960" cy="256032"/>
          </a:xfrm>
          <a:prstGeom prst="rect">
            <a:avLst/>
          </a:prstGeom>
          <a:noFill/>
          <a:ln/>
        </p:spPr>
        <p:txBody>
          <a:bodyPr wrap="square" lIns="0" tIns="0" rIns="0" bIns="0" rtlCol="0" anchor="ctr"/>
          <a:lstStyle/>
          <a:p>
            <a:pPr indent="0" marL="0">
              <a:lnSpc>
                <a:spcPct val="100000"/>
              </a:lnSpc>
              <a:buNone/>
            </a:pPr>
            <a:r>
              <a:rPr lang="en-US" sz="1250" b="1" dirty="0">
                <a:solidFill>
                  <a:srgbClr val="FFFFFF"/>
                </a:solidFill>
                <a:latin typeface="Calibri" pitchFamily="34" charset="0"/>
                <a:ea typeface="Calibri" pitchFamily="34" charset="-122"/>
                <a:cs typeface="Calibri" pitchFamily="34" charset="-120"/>
              </a:rPr>
              <a:t>Synthesis</a:t>
            </a:r>
            <a:endParaRPr lang="en-US" sz="1250" dirty="0"/>
          </a:p>
        </p:txBody>
      </p:sp>
      <p:sp>
        <p:nvSpPr>
          <p:cNvPr id="28" name="Text 21"/>
          <p:cNvSpPr txBox="1"/>
          <p:nvPr/>
        </p:nvSpPr>
        <p:spPr>
          <a:xfrm>
            <a:off x="9537192" y="2240280"/>
            <a:ext cx="1371600" cy="457200"/>
          </a:xfrm>
          <a:prstGeom prst="rect">
            <a:avLst/>
          </a:prstGeom>
          <a:noFill/>
          <a:ln/>
        </p:spPr>
        <p:txBody>
          <a:bodyPr wrap="square" lIns="0" tIns="0" rIns="0" bIns="0" rtlCol="0" anchor="ctr"/>
          <a:lstStyle/>
          <a:p>
            <a:pPr indent="0" marL="0">
              <a:lnSpc>
                <a:spcPct val="92000"/>
              </a:lnSpc>
              <a:buNone/>
            </a:pPr>
            <a:r>
              <a:rPr lang="en-US" sz="950" dirty="0">
                <a:solidFill>
                  <a:srgbClr val="CFCBEF"/>
                </a:solidFill>
                <a:latin typeface="Calibri" pitchFamily="34" charset="0"/>
                <a:ea typeface="Calibri" pitchFamily="34" charset="-122"/>
                <a:cs typeface="Calibri" pitchFamily="34" charset="-120"/>
              </a:rPr>
              <a:t>Weighted fusion</a:t>
            </a:r>
            <a:endParaRPr lang="en-US" sz="950" dirty="0"/>
          </a:p>
        </p:txBody>
      </p:sp>
      <p:sp>
        <p:nvSpPr>
          <p:cNvPr id="29" name="Text 22"/>
          <p:cNvSpPr txBox="1"/>
          <p:nvPr/>
        </p:nvSpPr>
        <p:spPr>
          <a:xfrm>
            <a:off x="566928" y="3511296"/>
            <a:ext cx="5486400" cy="228600"/>
          </a:xfrm>
          <a:prstGeom prst="rect">
            <a:avLst/>
          </a:prstGeom>
          <a:noFill/>
          <a:ln/>
        </p:spPr>
        <p:txBody>
          <a:bodyPr wrap="square" lIns="0" tIns="0" rIns="0" bIns="0" rtlCol="0" anchor="ctr"/>
          <a:lstStyle/>
          <a:p>
            <a:pPr indent="0" marL="0">
              <a:lnSpc>
                <a:spcPct val="100000"/>
              </a:lnSpc>
              <a:buNone/>
            </a:pPr>
            <a:r>
              <a:rPr lang="en-US" sz="950" b="1" spc="120" kern="0" dirty="0">
                <a:solidFill>
                  <a:srgbClr val="9FE7C9"/>
                </a:solidFill>
                <a:latin typeface="Calibri" pitchFamily="34" charset="0"/>
                <a:ea typeface="Calibri" pitchFamily="34" charset="-122"/>
                <a:cs typeface="Calibri" pitchFamily="34" charset="-120"/>
              </a:rPr>
              <a:t>SEVEN PERFORMANCE FACTORS</a:t>
            </a:r>
            <a:endParaRPr lang="en-US" sz="950" dirty="0"/>
          </a:p>
        </p:txBody>
      </p:sp>
      <p:sp>
        <p:nvSpPr>
          <p:cNvPr id="30" name="Shape 23"/>
          <p:cNvSpPr/>
          <p:nvPr/>
        </p:nvSpPr>
        <p:spPr>
          <a:xfrm>
            <a:off x="566928" y="3803904"/>
            <a:ext cx="1387275" cy="868680"/>
          </a:xfrm>
          <a:prstGeom prst="roundRect">
            <a:avLst>
              <a:gd name="adj" fmla="val 10526"/>
            </a:avLst>
          </a:prstGeom>
          <a:solidFill>
            <a:srgbClr val="FFFFFF">
              <a:alpha val="14000"/>
            </a:srgbClr>
          </a:solidFill>
          <a:ln w="12700">
            <a:solidFill>
              <a:srgbClr val="FFFFFF">
                <a:alpha val="28000"/>
              </a:srgbClr>
            </a:solidFill>
            <a:prstDash val="solid"/>
          </a:ln>
        </p:spPr>
      </p:sp>
      <p:sp>
        <p:nvSpPr>
          <p:cNvPr id="31" name="Text 24"/>
          <p:cNvSpPr txBox="1"/>
          <p:nvPr/>
        </p:nvSpPr>
        <p:spPr>
          <a:xfrm>
            <a:off x="566928" y="3913632"/>
            <a:ext cx="1387275" cy="274320"/>
          </a:xfrm>
          <a:prstGeom prst="rect">
            <a:avLst/>
          </a:prstGeom>
          <a:noFill/>
          <a:ln/>
        </p:spPr>
        <p:txBody>
          <a:bodyPr wrap="square" lIns="0" tIns="0" rIns="0" bIns="0" rtlCol="0" anchor="ctr"/>
          <a:lstStyle/>
          <a:p>
            <a:pPr algn="ctr" indent="0" marL="0">
              <a:lnSpc>
                <a:spcPct val="100000"/>
              </a:lnSpc>
              <a:buNone/>
            </a:pPr>
            <a:r>
              <a:rPr lang="en-US" sz="1400" b="1" dirty="0">
                <a:solidFill>
                  <a:srgbClr val="7E6CF4"/>
                </a:solidFill>
                <a:latin typeface="Calibri" pitchFamily="34" charset="0"/>
                <a:ea typeface="Calibri" pitchFamily="34" charset="-122"/>
                <a:cs typeface="Calibri" pitchFamily="34" charset="-120"/>
              </a:rPr>
              <a:t>01</a:t>
            </a:r>
            <a:endParaRPr lang="en-US" sz="1400" dirty="0"/>
          </a:p>
        </p:txBody>
      </p:sp>
      <p:sp>
        <p:nvSpPr>
          <p:cNvPr id="32" name="Text 25"/>
          <p:cNvSpPr txBox="1"/>
          <p:nvPr/>
        </p:nvSpPr>
        <p:spPr>
          <a:xfrm>
            <a:off x="621792" y="4206240"/>
            <a:ext cx="1277547" cy="411480"/>
          </a:xfrm>
          <a:prstGeom prst="rect">
            <a:avLst/>
          </a:prstGeom>
          <a:noFill/>
          <a:ln/>
        </p:spPr>
        <p:txBody>
          <a:bodyPr wrap="square" lIns="0" tIns="0" rIns="0" bIns="0" rtlCol="0" anchor="ctr"/>
          <a:lstStyle/>
          <a:p>
            <a:pPr algn="ctr" indent="0" marL="0">
              <a:lnSpc>
                <a:spcPct val="90000"/>
              </a:lnSpc>
              <a:buNone/>
            </a:pPr>
            <a:r>
              <a:rPr lang="en-US" sz="900" b="1" dirty="0">
                <a:solidFill>
                  <a:srgbClr val="E7E4FA"/>
                </a:solidFill>
                <a:latin typeface="Calibri" pitchFamily="34" charset="0"/>
                <a:ea typeface="Calibri" pitchFamily="34" charset="-122"/>
                <a:cs typeface="Calibri" pitchFamily="34" charset="-120"/>
              </a:rPr>
              <a:t>Effort</a:t>
            </a:r>
            <a:endParaRPr lang="en-US" sz="900" dirty="0"/>
          </a:p>
        </p:txBody>
      </p:sp>
      <p:sp>
        <p:nvSpPr>
          <p:cNvPr id="33" name="Shape 26"/>
          <p:cNvSpPr/>
          <p:nvPr/>
        </p:nvSpPr>
        <p:spPr>
          <a:xfrm>
            <a:off x="2063931" y="3803904"/>
            <a:ext cx="1387275" cy="868680"/>
          </a:xfrm>
          <a:prstGeom prst="roundRect">
            <a:avLst>
              <a:gd name="adj" fmla="val 10526"/>
            </a:avLst>
          </a:prstGeom>
          <a:solidFill>
            <a:srgbClr val="FFFFFF">
              <a:alpha val="14000"/>
            </a:srgbClr>
          </a:solidFill>
          <a:ln w="12700">
            <a:solidFill>
              <a:srgbClr val="FFFFFF">
                <a:alpha val="28000"/>
              </a:srgbClr>
            </a:solidFill>
            <a:prstDash val="solid"/>
          </a:ln>
        </p:spPr>
      </p:sp>
      <p:sp>
        <p:nvSpPr>
          <p:cNvPr id="34" name="Text 27"/>
          <p:cNvSpPr txBox="1"/>
          <p:nvPr/>
        </p:nvSpPr>
        <p:spPr>
          <a:xfrm>
            <a:off x="2063931" y="3913632"/>
            <a:ext cx="1387275" cy="274320"/>
          </a:xfrm>
          <a:prstGeom prst="rect">
            <a:avLst/>
          </a:prstGeom>
          <a:noFill/>
          <a:ln/>
        </p:spPr>
        <p:txBody>
          <a:bodyPr wrap="square" lIns="0" tIns="0" rIns="0" bIns="0" rtlCol="0" anchor="ctr"/>
          <a:lstStyle/>
          <a:p>
            <a:pPr algn="ctr" indent="0" marL="0">
              <a:lnSpc>
                <a:spcPct val="100000"/>
              </a:lnSpc>
              <a:buNone/>
            </a:pPr>
            <a:r>
              <a:rPr lang="en-US" sz="1400" b="1" dirty="0">
                <a:solidFill>
                  <a:srgbClr val="7E6CF4"/>
                </a:solidFill>
                <a:latin typeface="Calibri" pitchFamily="34" charset="0"/>
                <a:ea typeface="Calibri" pitchFamily="34" charset="-122"/>
                <a:cs typeface="Calibri" pitchFamily="34" charset="-120"/>
              </a:rPr>
              <a:t>02</a:t>
            </a:r>
            <a:endParaRPr lang="en-US" sz="1400" dirty="0"/>
          </a:p>
        </p:txBody>
      </p:sp>
      <p:sp>
        <p:nvSpPr>
          <p:cNvPr id="35" name="Text 28"/>
          <p:cNvSpPr txBox="1"/>
          <p:nvPr/>
        </p:nvSpPr>
        <p:spPr>
          <a:xfrm>
            <a:off x="2118795" y="4206240"/>
            <a:ext cx="1277547" cy="411480"/>
          </a:xfrm>
          <a:prstGeom prst="rect">
            <a:avLst/>
          </a:prstGeom>
          <a:noFill/>
          <a:ln/>
        </p:spPr>
        <p:txBody>
          <a:bodyPr wrap="square" lIns="0" tIns="0" rIns="0" bIns="0" rtlCol="0" anchor="ctr"/>
          <a:lstStyle/>
          <a:p>
            <a:pPr algn="ctr" indent="0" marL="0">
              <a:lnSpc>
                <a:spcPct val="90000"/>
              </a:lnSpc>
              <a:buNone/>
            </a:pPr>
            <a:r>
              <a:rPr lang="en-US" sz="900" b="1" dirty="0">
                <a:solidFill>
                  <a:srgbClr val="E7E4FA"/>
                </a:solidFill>
                <a:latin typeface="Calibri" pitchFamily="34" charset="0"/>
                <a:ea typeface="Calibri" pitchFamily="34" charset="-122"/>
                <a:cs typeface="Calibri" pitchFamily="34" charset="-120"/>
              </a:rPr>
              <a:t>Consistency</a:t>
            </a:r>
            <a:endParaRPr lang="en-US" sz="900" dirty="0"/>
          </a:p>
        </p:txBody>
      </p:sp>
      <p:sp>
        <p:nvSpPr>
          <p:cNvPr id="36" name="Shape 29"/>
          <p:cNvSpPr/>
          <p:nvPr/>
        </p:nvSpPr>
        <p:spPr>
          <a:xfrm>
            <a:off x="3560935" y="3803904"/>
            <a:ext cx="1387275" cy="868680"/>
          </a:xfrm>
          <a:prstGeom prst="roundRect">
            <a:avLst>
              <a:gd name="adj" fmla="val 10526"/>
            </a:avLst>
          </a:prstGeom>
          <a:solidFill>
            <a:srgbClr val="FFFFFF">
              <a:alpha val="14000"/>
            </a:srgbClr>
          </a:solidFill>
          <a:ln w="12700">
            <a:solidFill>
              <a:srgbClr val="FFFFFF">
                <a:alpha val="28000"/>
              </a:srgbClr>
            </a:solidFill>
            <a:prstDash val="solid"/>
          </a:ln>
        </p:spPr>
      </p:sp>
      <p:sp>
        <p:nvSpPr>
          <p:cNvPr id="37" name="Text 30"/>
          <p:cNvSpPr txBox="1"/>
          <p:nvPr/>
        </p:nvSpPr>
        <p:spPr>
          <a:xfrm>
            <a:off x="3560935" y="3913632"/>
            <a:ext cx="1387275" cy="274320"/>
          </a:xfrm>
          <a:prstGeom prst="rect">
            <a:avLst/>
          </a:prstGeom>
          <a:noFill/>
          <a:ln/>
        </p:spPr>
        <p:txBody>
          <a:bodyPr wrap="square" lIns="0" tIns="0" rIns="0" bIns="0" rtlCol="0" anchor="ctr"/>
          <a:lstStyle/>
          <a:p>
            <a:pPr algn="ctr" indent="0" marL="0">
              <a:lnSpc>
                <a:spcPct val="100000"/>
              </a:lnSpc>
              <a:buNone/>
            </a:pPr>
            <a:r>
              <a:rPr lang="en-US" sz="1400" b="1" dirty="0">
                <a:solidFill>
                  <a:srgbClr val="7E6CF4"/>
                </a:solidFill>
                <a:latin typeface="Calibri" pitchFamily="34" charset="0"/>
                <a:ea typeface="Calibri" pitchFamily="34" charset="-122"/>
                <a:cs typeface="Calibri" pitchFamily="34" charset="-120"/>
              </a:rPr>
              <a:t>03</a:t>
            </a:r>
            <a:endParaRPr lang="en-US" sz="1400" dirty="0"/>
          </a:p>
        </p:txBody>
      </p:sp>
      <p:sp>
        <p:nvSpPr>
          <p:cNvPr id="38" name="Text 31"/>
          <p:cNvSpPr txBox="1"/>
          <p:nvPr/>
        </p:nvSpPr>
        <p:spPr>
          <a:xfrm>
            <a:off x="3615799" y="4206240"/>
            <a:ext cx="1277547" cy="411480"/>
          </a:xfrm>
          <a:prstGeom prst="rect">
            <a:avLst/>
          </a:prstGeom>
          <a:noFill/>
          <a:ln/>
        </p:spPr>
        <p:txBody>
          <a:bodyPr wrap="square" lIns="0" tIns="0" rIns="0" bIns="0" rtlCol="0" anchor="ctr"/>
          <a:lstStyle/>
          <a:p>
            <a:pPr algn="ctr" indent="0" marL="0">
              <a:lnSpc>
                <a:spcPct val="90000"/>
              </a:lnSpc>
              <a:buNone/>
            </a:pPr>
            <a:r>
              <a:rPr lang="en-US" sz="900" b="1" dirty="0">
                <a:solidFill>
                  <a:srgbClr val="E7E4FA"/>
                </a:solidFill>
                <a:latin typeface="Calibri" pitchFamily="34" charset="0"/>
                <a:ea typeface="Calibri" pitchFamily="34" charset="-122"/>
                <a:cs typeface="Calibri" pitchFamily="34" charset="-120"/>
              </a:rPr>
              <a:t>Requirement fulfillment</a:t>
            </a:r>
            <a:endParaRPr lang="en-US" sz="900" dirty="0"/>
          </a:p>
        </p:txBody>
      </p:sp>
      <p:sp>
        <p:nvSpPr>
          <p:cNvPr id="39" name="Shape 32"/>
          <p:cNvSpPr/>
          <p:nvPr/>
        </p:nvSpPr>
        <p:spPr>
          <a:xfrm>
            <a:off x="5057938" y="3803904"/>
            <a:ext cx="1387275" cy="868680"/>
          </a:xfrm>
          <a:prstGeom prst="roundRect">
            <a:avLst>
              <a:gd name="adj" fmla="val 10526"/>
            </a:avLst>
          </a:prstGeom>
          <a:solidFill>
            <a:srgbClr val="FFFFFF">
              <a:alpha val="14000"/>
            </a:srgbClr>
          </a:solidFill>
          <a:ln w="12700">
            <a:solidFill>
              <a:srgbClr val="FFFFFF">
                <a:alpha val="28000"/>
              </a:srgbClr>
            </a:solidFill>
            <a:prstDash val="solid"/>
          </a:ln>
        </p:spPr>
      </p:sp>
      <p:sp>
        <p:nvSpPr>
          <p:cNvPr id="40" name="Text 33"/>
          <p:cNvSpPr txBox="1"/>
          <p:nvPr/>
        </p:nvSpPr>
        <p:spPr>
          <a:xfrm>
            <a:off x="5057938" y="3913632"/>
            <a:ext cx="1387275" cy="274320"/>
          </a:xfrm>
          <a:prstGeom prst="rect">
            <a:avLst/>
          </a:prstGeom>
          <a:noFill/>
          <a:ln/>
        </p:spPr>
        <p:txBody>
          <a:bodyPr wrap="square" lIns="0" tIns="0" rIns="0" bIns="0" rtlCol="0" anchor="ctr"/>
          <a:lstStyle/>
          <a:p>
            <a:pPr algn="ctr" indent="0" marL="0">
              <a:lnSpc>
                <a:spcPct val="100000"/>
              </a:lnSpc>
              <a:buNone/>
            </a:pPr>
            <a:r>
              <a:rPr lang="en-US" sz="1400" b="1" dirty="0">
                <a:solidFill>
                  <a:srgbClr val="7E6CF4"/>
                </a:solidFill>
                <a:latin typeface="Calibri" pitchFamily="34" charset="0"/>
                <a:ea typeface="Calibri" pitchFamily="34" charset="-122"/>
                <a:cs typeface="Calibri" pitchFamily="34" charset="-120"/>
              </a:rPr>
              <a:t>04</a:t>
            </a:r>
            <a:endParaRPr lang="en-US" sz="1400" dirty="0"/>
          </a:p>
        </p:txBody>
      </p:sp>
      <p:sp>
        <p:nvSpPr>
          <p:cNvPr id="41" name="Text 34"/>
          <p:cNvSpPr txBox="1"/>
          <p:nvPr/>
        </p:nvSpPr>
        <p:spPr>
          <a:xfrm>
            <a:off x="5112802" y="4206240"/>
            <a:ext cx="1277547" cy="411480"/>
          </a:xfrm>
          <a:prstGeom prst="rect">
            <a:avLst/>
          </a:prstGeom>
          <a:noFill/>
          <a:ln/>
        </p:spPr>
        <p:txBody>
          <a:bodyPr wrap="square" lIns="0" tIns="0" rIns="0" bIns="0" rtlCol="0" anchor="ctr"/>
          <a:lstStyle/>
          <a:p>
            <a:pPr algn="ctr" indent="0" marL="0">
              <a:lnSpc>
                <a:spcPct val="90000"/>
              </a:lnSpc>
              <a:buNone/>
            </a:pPr>
            <a:r>
              <a:rPr lang="en-US" sz="900" b="1" dirty="0">
                <a:solidFill>
                  <a:srgbClr val="E7E4FA"/>
                </a:solidFill>
                <a:latin typeface="Calibri" pitchFamily="34" charset="0"/>
                <a:ea typeface="Calibri" pitchFamily="34" charset="-122"/>
                <a:cs typeface="Calibri" pitchFamily="34" charset="-120"/>
              </a:rPr>
              <a:t>Collaboration</a:t>
            </a:r>
            <a:endParaRPr lang="en-US" sz="900" dirty="0"/>
          </a:p>
        </p:txBody>
      </p:sp>
      <p:sp>
        <p:nvSpPr>
          <p:cNvPr id="42" name="Shape 35"/>
          <p:cNvSpPr/>
          <p:nvPr/>
        </p:nvSpPr>
        <p:spPr>
          <a:xfrm>
            <a:off x="6554942" y="3803904"/>
            <a:ext cx="1387275" cy="868680"/>
          </a:xfrm>
          <a:prstGeom prst="roundRect">
            <a:avLst>
              <a:gd name="adj" fmla="val 10526"/>
            </a:avLst>
          </a:prstGeom>
          <a:solidFill>
            <a:srgbClr val="FFFFFF">
              <a:alpha val="14000"/>
            </a:srgbClr>
          </a:solidFill>
          <a:ln w="12700">
            <a:solidFill>
              <a:srgbClr val="FFFFFF">
                <a:alpha val="28000"/>
              </a:srgbClr>
            </a:solidFill>
            <a:prstDash val="solid"/>
          </a:ln>
        </p:spPr>
      </p:sp>
      <p:sp>
        <p:nvSpPr>
          <p:cNvPr id="43" name="Text 36"/>
          <p:cNvSpPr txBox="1"/>
          <p:nvPr/>
        </p:nvSpPr>
        <p:spPr>
          <a:xfrm>
            <a:off x="6554942" y="3913632"/>
            <a:ext cx="1387275" cy="274320"/>
          </a:xfrm>
          <a:prstGeom prst="rect">
            <a:avLst/>
          </a:prstGeom>
          <a:noFill/>
          <a:ln/>
        </p:spPr>
        <p:txBody>
          <a:bodyPr wrap="square" lIns="0" tIns="0" rIns="0" bIns="0" rtlCol="0" anchor="ctr"/>
          <a:lstStyle/>
          <a:p>
            <a:pPr algn="ctr" indent="0" marL="0">
              <a:lnSpc>
                <a:spcPct val="100000"/>
              </a:lnSpc>
              <a:buNone/>
            </a:pPr>
            <a:r>
              <a:rPr lang="en-US" sz="1400" b="1" dirty="0">
                <a:solidFill>
                  <a:srgbClr val="7E6CF4"/>
                </a:solidFill>
                <a:latin typeface="Calibri" pitchFamily="34" charset="0"/>
                <a:ea typeface="Calibri" pitchFamily="34" charset="-122"/>
                <a:cs typeface="Calibri" pitchFamily="34" charset="-120"/>
              </a:rPr>
              <a:t>05</a:t>
            </a:r>
            <a:endParaRPr lang="en-US" sz="1400" dirty="0"/>
          </a:p>
        </p:txBody>
      </p:sp>
      <p:sp>
        <p:nvSpPr>
          <p:cNvPr id="44" name="Text 37"/>
          <p:cNvSpPr txBox="1"/>
          <p:nvPr/>
        </p:nvSpPr>
        <p:spPr>
          <a:xfrm>
            <a:off x="6609806" y="4206240"/>
            <a:ext cx="1277547" cy="411480"/>
          </a:xfrm>
          <a:prstGeom prst="rect">
            <a:avLst/>
          </a:prstGeom>
          <a:noFill/>
          <a:ln/>
        </p:spPr>
        <p:txBody>
          <a:bodyPr wrap="square" lIns="0" tIns="0" rIns="0" bIns="0" rtlCol="0" anchor="ctr"/>
          <a:lstStyle/>
          <a:p>
            <a:pPr algn="ctr" indent="0" marL="0">
              <a:lnSpc>
                <a:spcPct val="90000"/>
              </a:lnSpc>
              <a:buNone/>
            </a:pPr>
            <a:r>
              <a:rPr lang="en-US" sz="900" b="1" dirty="0">
                <a:solidFill>
                  <a:srgbClr val="E7E4FA"/>
                </a:solidFill>
                <a:latin typeface="Calibri" pitchFamily="34" charset="0"/>
                <a:ea typeface="Calibri" pitchFamily="34" charset="-122"/>
                <a:cs typeface="Calibri" pitchFamily="34" charset="-120"/>
              </a:rPr>
              <a:t>Task complexity</a:t>
            </a:r>
            <a:endParaRPr lang="en-US" sz="900" dirty="0"/>
          </a:p>
        </p:txBody>
      </p:sp>
      <p:sp>
        <p:nvSpPr>
          <p:cNvPr id="45" name="Shape 38"/>
          <p:cNvSpPr/>
          <p:nvPr/>
        </p:nvSpPr>
        <p:spPr>
          <a:xfrm>
            <a:off x="8051945" y="3803904"/>
            <a:ext cx="1387275" cy="868680"/>
          </a:xfrm>
          <a:prstGeom prst="roundRect">
            <a:avLst>
              <a:gd name="adj" fmla="val 10526"/>
            </a:avLst>
          </a:prstGeom>
          <a:solidFill>
            <a:srgbClr val="FFFFFF">
              <a:alpha val="14000"/>
            </a:srgbClr>
          </a:solidFill>
          <a:ln w="12700">
            <a:solidFill>
              <a:srgbClr val="FFFFFF">
                <a:alpha val="28000"/>
              </a:srgbClr>
            </a:solidFill>
            <a:prstDash val="solid"/>
          </a:ln>
        </p:spPr>
      </p:sp>
      <p:sp>
        <p:nvSpPr>
          <p:cNvPr id="46" name="Text 39"/>
          <p:cNvSpPr txBox="1"/>
          <p:nvPr/>
        </p:nvSpPr>
        <p:spPr>
          <a:xfrm>
            <a:off x="8051945" y="3913632"/>
            <a:ext cx="1387275" cy="274320"/>
          </a:xfrm>
          <a:prstGeom prst="rect">
            <a:avLst/>
          </a:prstGeom>
          <a:noFill/>
          <a:ln/>
        </p:spPr>
        <p:txBody>
          <a:bodyPr wrap="square" lIns="0" tIns="0" rIns="0" bIns="0" rtlCol="0" anchor="ctr"/>
          <a:lstStyle/>
          <a:p>
            <a:pPr algn="ctr" indent="0" marL="0">
              <a:lnSpc>
                <a:spcPct val="100000"/>
              </a:lnSpc>
              <a:buNone/>
            </a:pPr>
            <a:r>
              <a:rPr lang="en-US" sz="1400" b="1" dirty="0">
                <a:solidFill>
                  <a:srgbClr val="7E6CF4"/>
                </a:solidFill>
                <a:latin typeface="Calibri" pitchFamily="34" charset="0"/>
                <a:ea typeface="Calibri" pitchFamily="34" charset="-122"/>
                <a:cs typeface="Calibri" pitchFamily="34" charset="-120"/>
              </a:rPr>
              <a:t>06</a:t>
            </a:r>
            <a:endParaRPr lang="en-US" sz="1400" dirty="0"/>
          </a:p>
        </p:txBody>
      </p:sp>
      <p:sp>
        <p:nvSpPr>
          <p:cNvPr id="47" name="Text 40"/>
          <p:cNvSpPr txBox="1"/>
          <p:nvPr/>
        </p:nvSpPr>
        <p:spPr>
          <a:xfrm>
            <a:off x="8106809" y="4206240"/>
            <a:ext cx="1277547" cy="411480"/>
          </a:xfrm>
          <a:prstGeom prst="rect">
            <a:avLst/>
          </a:prstGeom>
          <a:noFill/>
          <a:ln/>
        </p:spPr>
        <p:txBody>
          <a:bodyPr wrap="square" lIns="0" tIns="0" rIns="0" bIns="0" rtlCol="0" anchor="ctr"/>
          <a:lstStyle/>
          <a:p>
            <a:pPr algn="ctr" indent="0" marL="0">
              <a:lnSpc>
                <a:spcPct val="90000"/>
              </a:lnSpc>
              <a:buNone/>
            </a:pPr>
            <a:r>
              <a:rPr lang="en-US" sz="900" b="1" dirty="0">
                <a:solidFill>
                  <a:srgbClr val="E7E4FA"/>
                </a:solidFill>
                <a:latin typeface="Calibri" pitchFamily="34" charset="0"/>
                <a:ea typeface="Calibri" pitchFamily="34" charset="-122"/>
                <a:cs typeface="Calibri" pitchFamily="34" charset="-120"/>
              </a:rPr>
              <a:t>Behavioral pattern</a:t>
            </a:r>
            <a:endParaRPr lang="en-US" sz="900" dirty="0"/>
          </a:p>
        </p:txBody>
      </p:sp>
      <p:sp>
        <p:nvSpPr>
          <p:cNvPr id="48" name="Shape 41"/>
          <p:cNvSpPr/>
          <p:nvPr/>
        </p:nvSpPr>
        <p:spPr>
          <a:xfrm>
            <a:off x="9548949" y="3803904"/>
            <a:ext cx="1387275" cy="868680"/>
          </a:xfrm>
          <a:prstGeom prst="roundRect">
            <a:avLst>
              <a:gd name="adj" fmla="val 10526"/>
            </a:avLst>
          </a:prstGeom>
          <a:solidFill>
            <a:srgbClr val="0E9E6E"/>
          </a:solidFill>
          <a:ln w="12700">
            <a:solidFill>
              <a:srgbClr val="16C78C"/>
            </a:solidFill>
            <a:prstDash val="solid"/>
          </a:ln>
        </p:spPr>
      </p:sp>
      <p:sp>
        <p:nvSpPr>
          <p:cNvPr id="49" name="Text 42"/>
          <p:cNvSpPr txBox="1"/>
          <p:nvPr/>
        </p:nvSpPr>
        <p:spPr>
          <a:xfrm>
            <a:off x="9548949" y="3913632"/>
            <a:ext cx="1387275" cy="274320"/>
          </a:xfrm>
          <a:prstGeom prst="rect">
            <a:avLst/>
          </a:prstGeom>
          <a:noFill/>
          <a:ln/>
        </p:spPr>
        <p:txBody>
          <a:bodyPr wrap="square" lIns="0" tIns="0" rIns="0" bIns="0" rtlCol="0" anchor="ctr"/>
          <a:lstStyle/>
          <a:p>
            <a:pPr algn="ctr" indent="0" marL="0">
              <a:lnSpc>
                <a:spcPct val="100000"/>
              </a:lnSpc>
              <a:buNone/>
            </a:pPr>
            <a:r>
              <a:rPr lang="en-US" sz="1400" b="1" dirty="0">
                <a:solidFill>
                  <a:srgbClr val="FFFFFF"/>
                </a:solidFill>
                <a:latin typeface="Calibri" pitchFamily="34" charset="0"/>
                <a:ea typeface="Calibri" pitchFamily="34" charset="-122"/>
                <a:cs typeface="Calibri" pitchFamily="34" charset="-120"/>
              </a:rPr>
              <a:t>07</a:t>
            </a:r>
            <a:endParaRPr lang="en-US" sz="1400" dirty="0"/>
          </a:p>
        </p:txBody>
      </p:sp>
      <p:sp>
        <p:nvSpPr>
          <p:cNvPr id="50" name="Text 43"/>
          <p:cNvSpPr txBox="1"/>
          <p:nvPr/>
        </p:nvSpPr>
        <p:spPr>
          <a:xfrm>
            <a:off x="9603813" y="4206240"/>
            <a:ext cx="1277547" cy="411480"/>
          </a:xfrm>
          <a:prstGeom prst="rect">
            <a:avLst/>
          </a:prstGeom>
          <a:noFill/>
          <a:ln/>
        </p:spPr>
        <p:txBody>
          <a:bodyPr wrap="square" lIns="0" tIns="0" rIns="0" bIns="0" rtlCol="0" anchor="ctr"/>
          <a:lstStyle/>
          <a:p>
            <a:pPr algn="ctr" indent="0" marL="0">
              <a:lnSpc>
                <a:spcPct val="90000"/>
              </a:lnSpc>
              <a:buNone/>
            </a:pPr>
            <a:r>
              <a:rPr lang="en-US" sz="900" b="1" dirty="0">
                <a:solidFill>
                  <a:srgbClr val="FFFFFF"/>
                </a:solidFill>
                <a:latin typeface="Calibri" pitchFamily="34" charset="0"/>
                <a:ea typeface="Calibri" pitchFamily="34" charset="-122"/>
                <a:cs typeface="Calibri" pitchFamily="34" charset="-120"/>
              </a:rPr>
              <a:t>Code ownership ★</a:t>
            </a:r>
            <a:endParaRPr lang="en-US" sz="900" dirty="0"/>
          </a:p>
        </p:txBody>
      </p:sp>
      <p:sp>
        <p:nvSpPr>
          <p:cNvPr id="51" name="Shape 44"/>
          <p:cNvSpPr/>
          <p:nvPr/>
        </p:nvSpPr>
        <p:spPr>
          <a:xfrm>
            <a:off x="566928" y="4882896"/>
            <a:ext cx="10479024" cy="548640"/>
          </a:xfrm>
          <a:prstGeom prst="roundRect">
            <a:avLst>
              <a:gd name="adj" fmla="val 18333"/>
            </a:avLst>
          </a:prstGeom>
          <a:solidFill>
            <a:srgbClr val="FFFFFF">
              <a:alpha val="16000"/>
            </a:srgbClr>
          </a:solidFill>
          <a:ln w="12700">
            <a:solidFill>
              <a:srgbClr val="FFFFFF">
                <a:alpha val="18000"/>
              </a:srgbClr>
            </a:solidFill>
            <a:prstDash val="solid"/>
          </a:ln>
          <a:effectLst>
            <a:outerShdw sx="100000" sy="100000" kx="0" ky="0" algn="bl" rotWithShape="0" blurRad="177800" dist="63500" dir="5400000">
              <a:srgbClr val="0B0920">
                <a:alpha val="45000"/>
              </a:srgbClr>
            </a:outerShdw>
          </a:effectLst>
        </p:spPr>
      </p:sp>
      <p:sp>
        <p:nvSpPr>
          <p:cNvPr id="52" name="Text 45"/>
          <p:cNvSpPr txBox="1"/>
          <p:nvPr/>
        </p:nvSpPr>
        <p:spPr>
          <a:xfrm>
            <a:off x="841248" y="4882896"/>
            <a:ext cx="9930384" cy="548640"/>
          </a:xfrm>
          <a:prstGeom prst="rect">
            <a:avLst/>
          </a:prstGeom>
          <a:noFill/>
          <a:ln/>
        </p:spPr>
        <p:txBody>
          <a:bodyPr wrap="square" lIns="0" tIns="0" rIns="0" bIns="0" rtlCol="0" anchor="ctr"/>
          <a:lstStyle/>
          <a:p>
            <a:pPr indent="0" marL="0">
              <a:lnSpc>
                <a:spcPct val="100000"/>
              </a:lnSpc>
              <a:buNone/>
            </a:pPr>
            <a:r>
              <a:rPr lang="en-US" sz="1150" b="1" dirty="0">
                <a:solidFill>
                  <a:srgbClr val="FFFFFF"/>
                </a:solidFill>
                <a:latin typeface="Calibri" pitchFamily="34" charset="0"/>
                <a:ea typeface="Calibri" pitchFamily="34" charset="-122"/>
                <a:cs typeface="Calibri" pitchFamily="34" charset="-120"/>
              </a:rPr>
              <a:t>Standardize  </a:t>
            </a:r>
            <a:pPr indent="0" marL="0">
              <a:lnSpc>
                <a:spcPct val="100000"/>
              </a:lnSpc>
              <a:buNone/>
            </a:pPr>
            <a:r>
              <a:rPr lang="en-US" sz="1150" i="1" dirty="0">
                <a:solidFill>
                  <a:srgbClr val="CFCBEF"/>
                </a:solidFill>
                <a:latin typeface="Calibri" pitchFamily="34" charset="0"/>
                <a:ea typeface="Calibri" pitchFamily="34" charset="-122"/>
                <a:cs typeface="Calibri" pitchFamily="34" charset="-120"/>
              </a:rPr>
              <a:t>z = (x − μ)/σ</a:t>
            </a:r>
            <a:pPr indent="0" marL="0">
              <a:lnSpc>
                <a:spcPct val="100000"/>
              </a:lnSpc>
              <a:buNone/>
            </a:pPr>
            <a:r>
              <a:rPr lang="en-US" sz="1150" b="1" dirty="0">
                <a:solidFill>
                  <a:srgbClr val="FFFFFF"/>
                </a:solidFill>
                <a:latin typeface="Calibri" pitchFamily="34" charset="0"/>
                <a:ea typeface="Calibri" pitchFamily="34" charset="-122"/>
                <a:cs typeface="Calibri" pitchFamily="34" charset="-120"/>
              </a:rPr>
              <a:t>    →   Weighted fusion  </a:t>
            </a:r>
            <a:pPr indent="0" marL="0">
              <a:lnSpc>
                <a:spcPct val="100000"/>
              </a:lnSpc>
              <a:buNone/>
            </a:pPr>
            <a:r>
              <a:rPr lang="en-US" sz="1150" i="1" dirty="0">
                <a:solidFill>
                  <a:srgbClr val="CFCBEF"/>
                </a:solidFill>
                <a:latin typeface="Calibri" pitchFamily="34" charset="0"/>
                <a:ea typeface="Calibri" pitchFamily="34" charset="-122"/>
                <a:cs typeface="Calibri" pitchFamily="34" charset="-120"/>
              </a:rPr>
              <a:t>Σ wᵢ·Fᵢ ,  Σ wᵢ = 1</a:t>
            </a:r>
            <a:pPr indent="0" marL="0">
              <a:lnSpc>
                <a:spcPct val="100000"/>
              </a:lnSpc>
              <a:buNone/>
            </a:pPr>
            <a:r>
              <a:rPr lang="en-US" sz="1150" dirty="0">
                <a:solidFill>
                  <a:srgbClr val="CFCBEF"/>
                </a:solidFill>
                <a:latin typeface="Calibri" pitchFamily="34" charset="0"/>
                <a:ea typeface="Calibri" pitchFamily="34" charset="-122"/>
                <a:cs typeface="Calibri" pitchFamily="34" charset="-120"/>
              </a:rPr>
              <a:t>    →   </a:t>
            </a:r>
            <a:pPr indent="0" marL="0">
              <a:lnSpc>
                <a:spcPct val="100000"/>
              </a:lnSpc>
              <a:buNone/>
            </a:pPr>
            <a:r>
              <a:rPr lang="en-US" sz="1150" b="1" dirty="0">
                <a:solidFill>
                  <a:srgbClr val="9FE7C9"/>
                </a:solidFill>
                <a:latin typeface="Calibri" pitchFamily="34" charset="0"/>
                <a:ea typeface="Calibri" pitchFamily="34" charset="-122"/>
                <a:cs typeface="Calibri" pitchFamily="34" charset="-120"/>
              </a:rPr>
              <a:t>Explainable individual score</a:t>
            </a:r>
            <a:endParaRPr lang="en-US" sz="1150" dirty="0"/>
          </a:p>
        </p:txBody>
      </p:sp>
      <p:sp>
        <p:nvSpPr>
          <p:cNvPr id="53" name="Text 46"/>
          <p:cNvSpPr txBox="1"/>
          <p:nvPr/>
        </p:nvSpPr>
        <p:spPr>
          <a:xfrm>
            <a:off x="603504" y="6528816"/>
            <a:ext cx="8229600" cy="256032"/>
          </a:xfrm>
          <a:prstGeom prst="rect">
            <a:avLst/>
          </a:prstGeom>
          <a:noFill/>
          <a:ln/>
        </p:spPr>
        <p:txBody>
          <a:bodyPr wrap="square" lIns="0" tIns="0" rIns="0" bIns="0" rtlCol="0" anchor="ctr"/>
          <a:lstStyle/>
          <a:p>
            <a:pPr indent="0" marL="0">
              <a:lnSpc>
                <a:spcPct val="100000"/>
              </a:lnSpc>
              <a:buNone/>
            </a:pPr>
            <a:r>
              <a:rPr lang="en-US" sz="900" b="1" dirty="0">
                <a:solidFill>
                  <a:srgbClr val="9C97CC"/>
                </a:solidFill>
                <a:latin typeface="Calibri" pitchFamily="34" charset="0"/>
                <a:ea typeface="Calibri" pitchFamily="34" charset="-122"/>
                <a:cs typeface="Calibri" pitchFamily="34" charset="-120"/>
              </a:rPr>
              <a:t>IT23155534  |  Kumbukage S S  |  J26-SE-363</a:t>
            </a:r>
            <a:endParaRPr lang="en-US" sz="900" dirty="0"/>
          </a:p>
        </p:txBody>
      </p:sp>
      <p:sp>
        <p:nvSpPr>
          <p:cNvPr id="54" name="Text 47"/>
          <p:cNvSpPr txBox="1"/>
          <p:nvPr/>
        </p:nvSpPr>
        <p:spPr>
          <a:xfrm>
            <a:off x="10972800" y="6528816"/>
            <a:ext cx="640080" cy="256032"/>
          </a:xfrm>
          <a:prstGeom prst="rect">
            <a:avLst/>
          </a:prstGeom>
          <a:noFill/>
          <a:ln/>
        </p:spPr>
        <p:txBody>
          <a:bodyPr wrap="square" lIns="0" tIns="0" rIns="0" bIns="0" rtlCol="0" anchor="ctr"/>
          <a:lstStyle/>
          <a:p>
            <a:pPr algn="r" indent="0" marL="0">
              <a:lnSpc>
                <a:spcPct val="100000"/>
              </a:lnSpc>
              <a:buNone/>
            </a:pPr>
            <a:r>
              <a:rPr lang="en-US" sz="850" dirty="0">
                <a:solidFill>
                  <a:srgbClr val="726CA6"/>
                </a:solidFill>
                <a:latin typeface="Calibri" pitchFamily="34" charset="0"/>
                <a:ea typeface="Calibri" pitchFamily="34" charset="-122"/>
                <a:cs typeface="Calibri" pitchFamily="34" charset="-120"/>
              </a:rPr>
              <a:t>13</a:t>
            </a:r>
            <a:endParaRPr lang="en-US" sz="85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Shape 0"/>
          <p:cNvSpPr/>
          <p:nvPr/>
        </p:nvSpPr>
        <p:spPr>
          <a:xfrm>
            <a:off x="10515600" y="411480"/>
            <a:ext cx="1143000" cy="1143000"/>
          </a:xfrm>
          <a:prstGeom prst="ellipse">
            <a:avLst/>
          </a:prstGeom>
          <a:solidFill>
            <a:srgbClr val="1A1640"/>
          </a:solidFill>
          <a:ln w="25400">
            <a:solidFill>
              <a:srgbClr val="F2A740"/>
            </a:solidFill>
            <a:prstDash val="solid"/>
          </a:ln>
          <a:effectLst>
            <a:outerShdw sx="100000" sy="100000" kx="0" ky="0" algn="bl" rotWithShape="0" blurRad="127000" dist="50800" dir="5400000">
              <a:srgbClr val="4A3DC2">
                <a:alpha val="45000"/>
              </a:srgbClr>
            </a:outerShdw>
          </a:effectLst>
        </p:spPr>
      </p:sp>
      <p:pic>
        <p:nvPicPr>
          <p:cNvPr id="3" name="Image 0" descr="assets/ekanayake.jpg">    </p:cNvPr>
          <p:cNvPicPr>
            <a:picLocks noChangeAspect="1"/>
          </p:cNvPicPr>
          <p:nvPr/>
        </p:nvPicPr>
        <p:blipFill>
          <a:blip r:embed="rId2"/>
          <a:stretch>
            <a:fillRect/>
          </a:stretch>
        </p:blipFill>
        <p:spPr>
          <a:xfrm>
            <a:off x="10561320" y="457200"/>
            <a:ext cx="1051560" cy="1051560"/>
          </a:xfrm>
          <a:prstGeom prst="ellipse">
            <a:avLst/>
          </a:prstGeom>
        </p:spPr>
      </p:pic>
      <p:sp>
        <p:nvSpPr>
          <p:cNvPr id="4" name="Text 1"/>
          <p:cNvSpPr txBox="1"/>
          <p:nvPr/>
        </p:nvSpPr>
        <p:spPr>
          <a:xfrm>
            <a:off x="603504" y="493776"/>
            <a:ext cx="10058400" cy="274320"/>
          </a:xfrm>
          <a:prstGeom prst="rect">
            <a:avLst/>
          </a:prstGeom>
          <a:noFill/>
          <a:ln/>
        </p:spPr>
        <p:txBody>
          <a:bodyPr wrap="square" lIns="0" tIns="0" rIns="0" bIns="0" rtlCol="0" anchor="ctr"/>
          <a:lstStyle/>
          <a:p>
            <a:pPr indent="0" marL="0">
              <a:lnSpc>
                <a:spcPct val="100000"/>
              </a:lnSpc>
              <a:buNone/>
            </a:pPr>
            <a:r>
              <a:rPr lang="en-US" sz="1100" b="1" spc="260" kern="0" dirty="0">
                <a:solidFill>
                  <a:srgbClr val="9FE7C9"/>
                </a:solidFill>
                <a:latin typeface="Calibri" pitchFamily="34" charset="0"/>
                <a:ea typeface="Calibri" pitchFamily="34" charset="-122"/>
                <a:cs typeface="Calibri" pitchFamily="34" charset="-120"/>
              </a:rPr>
              <a:t>INDIVIDUAL COMPONENT  ·  03</a:t>
            </a:r>
            <a:endParaRPr lang="en-US" sz="1100" dirty="0"/>
          </a:p>
        </p:txBody>
      </p:sp>
      <p:sp>
        <p:nvSpPr>
          <p:cNvPr id="5" name="Text 2"/>
          <p:cNvSpPr txBox="1"/>
          <p:nvPr/>
        </p:nvSpPr>
        <p:spPr>
          <a:xfrm>
            <a:off x="566928" y="749808"/>
            <a:ext cx="9692640" cy="1005840"/>
          </a:xfrm>
          <a:prstGeom prst="rect">
            <a:avLst/>
          </a:prstGeom>
          <a:noFill/>
          <a:ln/>
        </p:spPr>
        <p:txBody>
          <a:bodyPr wrap="square" lIns="0" tIns="0" rIns="0" bIns="0" rtlCol="0" anchor="ctr"/>
          <a:lstStyle/>
          <a:p>
            <a:pPr indent="0" marL="0">
              <a:lnSpc>
                <a:spcPct val="98000"/>
              </a:lnSpc>
              <a:buNone/>
            </a:pPr>
            <a:r>
              <a:rPr lang="en-US" sz="2600" b="1" dirty="0">
                <a:solidFill>
                  <a:srgbClr val="FFFFFF"/>
                </a:solidFill>
                <a:latin typeface="Calibri" pitchFamily="34" charset="0"/>
                <a:ea typeface="Calibri" pitchFamily="34" charset="-122"/>
                <a:cs typeface="Calibri" pitchFamily="34" charset="-120"/>
              </a:rPr>
              <a:t>Adaptive AI Tutor Agent</a:t>
            </a:r>
            <a:endParaRPr lang="en-US" sz="2600" dirty="0"/>
          </a:p>
        </p:txBody>
      </p:sp>
      <p:sp>
        <p:nvSpPr>
          <p:cNvPr id="6" name="Shape 3"/>
          <p:cNvSpPr/>
          <p:nvPr/>
        </p:nvSpPr>
        <p:spPr>
          <a:xfrm>
            <a:off x="566928" y="1901952"/>
            <a:ext cx="2011680" cy="365760"/>
          </a:xfrm>
          <a:prstGeom prst="roundRect">
            <a:avLst>
              <a:gd name="adj" fmla="val 50000"/>
            </a:avLst>
          </a:prstGeom>
          <a:solidFill>
            <a:srgbClr val="FFFFFF">
              <a:alpha val="14000"/>
            </a:srgbClr>
          </a:solidFill>
          <a:ln w="12700">
            <a:solidFill>
              <a:srgbClr val="FFFFFF">
                <a:alpha val="34000"/>
              </a:srgbClr>
            </a:solidFill>
            <a:prstDash val="solid"/>
          </a:ln>
        </p:spPr>
      </p:sp>
      <p:sp>
        <p:nvSpPr>
          <p:cNvPr id="7" name="Text 4"/>
          <p:cNvSpPr txBox="1"/>
          <p:nvPr/>
        </p:nvSpPr>
        <p:spPr>
          <a:xfrm>
            <a:off x="566928" y="1901952"/>
            <a:ext cx="2011680" cy="365760"/>
          </a:xfrm>
          <a:prstGeom prst="rect">
            <a:avLst/>
          </a:prstGeom>
          <a:noFill/>
          <a:ln/>
        </p:spPr>
        <p:txBody>
          <a:bodyPr wrap="square" lIns="0" tIns="0" rIns="0" bIns="0" rtlCol="0" anchor="ctr"/>
          <a:lstStyle/>
          <a:p>
            <a:pPr algn="ctr" indent="0" marL="0">
              <a:lnSpc>
                <a:spcPct val="100000"/>
              </a:lnSpc>
              <a:buNone/>
            </a:pPr>
            <a:r>
              <a:rPr lang="en-US" sz="1000" b="1" dirty="0">
                <a:solidFill>
                  <a:srgbClr val="E7E3FF"/>
                </a:solidFill>
                <a:latin typeface="Calibri" pitchFamily="34" charset="0"/>
                <a:ea typeface="Calibri" pitchFamily="34" charset="-122"/>
                <a:cs typeface="Calibri" pitchFamily="34" charset="-120"/>
              </a:rPr>
              <a:t>Software Engineering</a:t>
            </a:r>
            <a:endParaRPr lang="en-US" sz="1000" dirty="0"/>
          </a:p>
        </p:txBody>
      </p:sp>
      <p:sp>
        <p:nvSpPr>
          <p:cNvPr id="8" name="Shape 5"/>
          <p:cNvSpPr/>
          <p:nvPr/>
        </p:nvSpPr>
        <p:spPr>
          <a:xfrm>
            <a:off x="2697480" y="1901952"/>
            <a:ext cx="3291840" cy="365760"/>
          </a:xfrm>
          <a:prstGeom prst="roundRect">
            <a:avLst>
              <a:gd name="adj" fmla="val 50000"/>
            </a:avLst>
          </a:prstGeom>
          <a:solidFill>
            <a:srgbClr val="E0891C"/>
          </a:solidFill>
          <a:ln w="12700">
            <a:solidFill>
              <a:srgbClr val="F2A740"/>
            </a:solidFill>
            <a:prstDash val="solid"/>
          </a:ln>
        </p:spPr>
      </p:sp>
      <p:sp>
        <p:nvSpPr>
          <p:cNvPr id="9" name="Text 6"/>
          <p:cNvSpPr txBox="1"/>
          <p:nvPr/>
        </p:nvSpPr>
        <p:spPr>
          <a:xfrm>
            <a:off x="2697480" y="1901952"/>
            <a:ext cx="3291840" cy="365760"/>
          </a:xfrm>
          <a:prstGeom prst="rect">
            <a:avLst/>
          </a:prstGeom>
          <a:noFill/>
          <a:ln/>
        </p:spPr>
        <p:txBody>
          <a:bodyPr wrap="square" lIns="0" tIns="0" rIns="0" bIns="0" rtlCol="0" anchor="ctr"/>
          <a:lstStyle/>
          <a:p>
            <a:pPr algn="ctr" indent="0" marL="0">
              <a:lnSpc>
                <a:spcPct val="100000"/>
              </a:lnSpc>
              <a:buNone/>
            </a:pPr>
            <a:r>
              <a:rPr lang="en-US" sz="1000" b="1" dirty="0">
                <a:solidFill>
                  <a:srgbClr val="FFFFFF"/>
                </a:solidFill>
                <a:latin typeface="Calibri" pitchFamily="34" charset="0"/>
                <a:ea typeface="Calibri" pitchFamily="34" charset="-122"/>
                <a:cs typeface="Calibri" pitchFamily="34" charset="-120"/>
              </a:rPr>
              <a:t>Ekanayake E M N D  ·  IT23283930</a:t>
            </a:r>
            <a:endParaRPr lang="en-US" sz="1000" dirty="0"/>
          </a:p>
        </p:txBody>
      </p:sp>
      <p:sp>
        <p:nvSpPr>
          <p:cNvPr id="10" name="Text 7"/>
          <p:cNvSpPr txBox="1"/>
          <p:nvPr/>
        </p:nvSpPr>
        <p:spPr>
          <a:xfrm>
            <a:off x="566928" y="2505456"/>
            <a:ext cx="9692640" cy="731520"/>
          </a:xfrm>
          <a:prstGeom prst="rect">
            <a:avLst/>
          </a:prstGeom>
          <a:noFill/>
          <a:ln/>
        </p:spPr>
        <p:txBody>
          <a:bodyPr wrap="square" lIns="0" tIns="0" rIns="0" bIns="0" rtlCol="0" anchor="ctr"/>
          <a:lstStyle/>
          <a:p>
            <a:pPr indent="0" marL="0">
              <a:lnSpc>
                <a:spcPct val="108000"/>
              </a:lnSpc>
              <a:buNone/>
            </a:pPr>
            <a:r>
              <a:rPr lang="en-US" sz="1500" dirty="0">
                <a:solidFill>
                  <a:srgbClr val="CFCBEF"/>
                </a:solidFill>
                <a:latin typeface="Calibri" pitchFamily="34" charset="0"/>
                <a:ea typeface="Calibri" pitchFamily="34" charset="-122"/>
                <a:cs typeface="Calibri" pitchFamily="34" charset="-120"/>
              </a:rPr>
              <a:t>Continuously personalize SE learning, project guidance and assessment from an evolving, multi-dimensional learner model.</a:t>
            </a:r>
            <a:endParaRPr lang="en-US" sz="1500" dirty="0"/>
          </a:p>
        </p:txBody>
      </p:sp>
      <p:sp>
        <p:nvSpPr>
          <p:cNvPr id="11" name="Shape 8"/>
          <p:cNvSpPr/>
          <p:nvPr/>
        </p:nvSpPr>
        <p:spPr>
          <a:xfrm>
            <a:off x="566928" y="3474720"/>
            <a:ext cx="11064240" cy="1097280"/>
          </a:xfrm>
          <a:prstGeom prst="roundRect">
            <a:avLst>
              <a:gd name="adj" fmla="val 9167"/>
            </a:avLst>
          </a:prstGeom>
          <a:solidFill>
            <a:srgbClr val="FFFFFF">
              <a:alpha val="12000"/>
            </a:srgbClr>
          </a:solidFill>
          <a:ln w="12700">
            <a:solidFill>
              <a:srgbClr val="FFFFFF">
                <a:alpha val="18000"/>
              </a:srgbClr>
            </a:solidFill>
            <a:prstDash val="solid"/>
          </a:ln>
          <a:effectLst>
            <a:outerShdw sx="100000" sy="100000" kx="0" ky="0" algn="bl" rotWithShape="0" blurRad="177800" dist="63500" dir="5400000">
              <a:srgbClr val="0B0920">
                <a:alpha val="45000"/>
              </a:srgbClr>
            </a:outerShdw>
          </a:effectLst>
        </p:spPr>
      </p:sp>
      <p:sp>
        <p:nvSpPr>
          <p:cNvPr id="12" name="Shape 9"/>
          <p:cNvSpPr/>
          <p:nvPr/>
        </p:nvSpPr>
        <p:spPr>
          <a:xfrm>
            <a:off x="932688" y="3218688"/>
            <a:ext cx="1832458" cy="512064"/>
          </a:xfrm>
          <a:prstGeom prst="roundRect">
            <a:avLst>
              <a:gd name="adj" fmla="val 50000"/>
            </a:avLst>
          </a:prstGeom>
          <a:solidFill>
            <a:srgbClr val="16C78C"/>
          </a:solidFill>
          <a:ln/>
          <a:effectLst>
            <a:outerShdw sx="100000" sy="100000" kx="0" ky="0" algn="bl" rotWithShape="0" blurRad="127000" dist="50800" dir="5400000">
              <a:srgbClr val="16C78C">
                <a:alpha val="45000"/>
              </a:srgbClr>
            </a:outerShdw>
          </a:effectLst>
        </p:spPr>
      </p:sp>
      <p:sp>
        <p:nvSpPr>
          <p:cNvPr id="13" name="Shape 10"/>
          <p:cNvSpPr/>
          <p:nvPr/>
        </p:nvSpPr>
        <p:spPr>
          <a:xfrm>
            <a:off x="676656" y="3145536"/>
            <a:ext cx="676656" cy="676656"/>
          </a:xfrm>
          <a:prstGeom prst="ellipse">
            <a:avLst/>
          </a:prstGeom>
          <a:solidFill>
            <a:srgbClr val="0E9E6E"/>
          </a:solidFill>
          <a:ln w="15240">
            <a:solidFill>
              <a:srgbClr val="FFFFFF">
                <a:alpha val="38000"/>
              </a:srgbClr>
            </a:solidFill>
            <a:prstDash val="solid"/>
          </a:ln>
          <a:effectLst>
            <a:outerShdw sx="100000" sy="100000" kx="0" ky="0" algn="bl" rotWithShape="0" blurRad="127000" dist="50800" dir="5400000">
              <a:srgbClr val="0E9E6E">
                <a:alpha val="45000"/>
              </a:srgbClr>
            </a:outerShdw>
          </a:effectLst>
        </p:spPr>
      </p:sp>
      <p:pic>
        <p:nvPicPr>
          <p:cNvPr id="14" name="Image 1" descr="assets/icons/star_w.png">    </p:cNvPr>
          <p:cNvPicPr>
            <a:picLocks noChangeAspect="1"/>
          </p:cNvPicPr>
          <p:nvPr/>
        </p:nvPicPr>
        <p:blipFill>
          <a:blip r:embed="rId3"/>
          <a:stretch>
            <a:fillRect/>
          </a:stretch>
        </p:blipFill>
        <p:spPr>
          <a:xfrm>
            <a:off x="866120" y="3335000"/>
            <a:ext cx="297729" cy="297729"/>
          </a:xfrm>
          <a:prstGeom prst="rect">
            <a:avLst/>
          </a:prstGeom>
        </p:spPr>
      </p:pic>
      <p:sp>
        <p:nvSpPr>
          <p:cNvPr id="15" name="Text 11"/>
          <p:cNvSpPr txBox="1"/>
          <p:nvPr/>
        </p:nvSpPr>
        <p:spPr>
          <a:xfrm>
            <a:off x="1389888" y="3218688"/>
            <a:ext cx="1338682" cy="512064"/>
          </a:xfrm>
          <a:prstGeom prst="rect">
            <a:avLst/>
          </a:prstGeom>
          <a:noFill/>
          <a:ln/>
        </p:spPr>
        <p:txBody>
          <a:bodyPr wrap="square" lIns="0" tIns="0" rIns="0" bIns="0" rtlCol="0" anchor="ctr"/>
          <a:lstStyle/>
          <a:p>
            <a:pPr indent="0" marL="0">
              <a:lnSpc>
                <a:spcPct val="100000"/>
              </a:lnSpc>
              <a:buNone/>
            </a:pPr>
            <a:r>
              <a:rPr lang="en-US" sz="1150" b="1" dirty="0">
                <a:solidFill>
                  <a:srgbClr val="FFFFFF"/>
                </a:solidFill>
                <a:latin typeface="Calibri" pitchFamily="34" charset="0"/>
                <a:ea typeface="Calibri" pitchFamily="34" charset="-122"/>
                <a:cs typeface="Calibri" pitchFamily="34" charset="-120"/>
              </a:rPr>
              <a:t>Core novelty</a:t>
            </a:r>
            <a:endParaRPr lang="en-US" sz="1150" dirty="0"/>
          </a:p>
        </p:txBody>
      </p:sp>
      <p:sp>
        <p:nvSpPr>
          <p:cNvPr id="16" name="Text 12"/>
          <p:cNvSpPr txBox="1"/>
          <p:nvPr/>
        </p:nvSpPr>
        <p:spPr>
          <a:xfrm>
            <a:off x="822960" y="3950208"/>
            <a:ext cx="10332720" cy="548640"/>
          </a:xfrm>
          <a:prstGeom prst="rect">
            <a:avLst/>
          </a:prstGeom>
          <a:noFill/>
          <a:ln/>
        </p:spPr>
        <p:txBody>
          <a:bodyPr wrap="square" lIns="0" tIns="0" rIns="0" bIns="0" rtlCol="0" anchor="ctr"/>
          <a:lstStyle/>
          <a:p>
            <a:pPr indent="0" marL="0">
              <a:lnSpc>
                <a:spcPct val="98000"/>
              </a:lnSpc>
              <a:buNone/>
            </a:pPr>
            <a:r>
              <a:rPr lang="en-US" sz="1600" b="1" dirty="0">
                <a:solidFill>
                  <a:srgbClr val="FFFFFF"/>
                </a:solidFill>
                <a:latin typeface="Calibri" pitchFamily="34" charset="0"/>
                <a:ea typeface="Calibri" pitchFamily="34" charset="-122"/>
                <a:cs typeface="Calibri" pitchFamily="34" charset="-120"/>
              </a:rPr>
              <a:t>Continuous Multi-Dimensional Personalization</a:t>
            </a:r>
            <a:endParaRPr lang="en-US" sz="1600" dirty="0"/>
          </a:p>
        </p:txBody>
      </p:sp>
      <p:sp>
        <p:nvSpPr>
          <p:cNvPr id="17" name="Shape 13"/>
          <p:cNvSpPr/>
          <p:nvPr/>
        </p:nvSpPr>
        <p:spPr>
          <a:xfrm>
            <a:off x="566928" y="4800600"/>
            <a:ext cx="3535680" cy="1051560"/>
          </a:xfrm>
          <a:prstGeom prst="roundRect">
            <a:avLst>
              <a:gd name="adj" fmla="val 9565"/>
            </a:avLst>
          </a:prstGeom>
          <a:solidFill>
            <a:srgbClr val="FFFFFF">
              <a:alpha val="12000"/>
            </a:srgbClr>
          </a:solidFill>
          <a:ln w="12700">
            <a:solidFill>
              <a:srgbClr val="FFFFFF">
                <a:alpha val="18000"/>
              </a:srgbClr>
            </a:solidFill>
            <a:prstDash val="solid"/>
          </a:ln>
          <a:effectLst>
            <a:outerShdw sx="100000" sy="100000" kx="0" ky="0" algn="bl" rotWithShape="0" blurRad="177800" dist="63500" dir="5400000">
              <a:srgbClr val="0B0920">
                <a:alpha val="45000"/>
              </a:srgbClr>
            </a:outerShdw>
          </a:effectLst>
        </p:spPr>
      </p:sp>
      <p:sp>
        <p:nvSpPr>
          <p:cNvPr id="18" name="Shape 14"/>
          <p:cNvSpPr/>
          <p:nvPr/>
        </p:nvSpPr>
        <p:spPr>
          <a:xfrm>
            <a:off x="786384" y="5074920"/>
            <a:ext cx="512064" cy="512064"/>
          </a:xfrm>
          <a:prstGeom prst="ellipse">
            <a:avLst/>
          </a:prstGeom>
          <a:solidFill>
            <a:srgbClr val="5A47CE"/>
          </a:solidFill>
          <a:ln w="17780">
            <a:solidFill>
              <a:srgbClr val="7E6CF4"/>
            </a:solidFill>
            <a:prstDash val="solid"/>
          </a:ln>
          <a:effectLst>
            <a:outerShdw sx="100000" sy="100000" kx="0" ky="0" algn="bl" rotWithShape="0" blurRad="127000" dist="50800" dir="5400000">
              <a:srgbClr val="7E6CF4">
                <a:alpha val="45000"/>
              </a:srgbClr>
            </a:outerShdw>
          </a:effectLst>
        </p:spPr>
      </p:sp>
      <p:pic>
        <p:nvPicPr>
          <p:cNvPr id="19" name="Image 2" descr="assets/icons/share_w.png">    </p:cNvPr>
          <p:cNvPicPr>
            <a:picLocks noChangeAspect="1"/>
          </p:cNvPicPr>
          <p:nvPr/>
        </p:nvPicPr>
        <p:blipFill>
          <a:blip r:embed="rId4"/>
          <a:stretch>
            <a:fillRect/>
          </a:stretch>
        </p:blipFill>
        <p:spPr>
          <a:xfrm>
            <a:off x="929762" y="5218298"/>
            <a:ext cx="225308" cy="225308"/>
          </a:xfrm>
          <a:prstGeom prst="rect">
            <a:avLst/>
          </a:prstGeom>
        </p:spPr>
      </p:pic>
      <p:sp>
        <p:nvSpPr>
          <p:cNvPr id="20" name="Text 15"/>
          <p:cNvSpPr txBox="1"/>
          <p:nvPr/>
        </p:nvSpPr>
        <p:spPr>
          <a:xfrm>
            <a:off x="1444752" y="5056632"/>
            <a:ext cx="2493264" cy="292608"/>
          </a:xfrm>
          <a:prstGeom prst="rect">
            <a:avLst/>
          </a:prstGeom>
          <a:noFill/>
          <a:ln/>
        </p:spPr>
        <p:txBody>
          <a:bodyPr wrap="square" lIns="0" tIns="0" rIns="0" bIns="0" rtlCol="0" anchor="ctr"/>
          <a:lstStyle/>
          <a:p>
            <a:pPr indent="0" marL="0">
              <a:lnSpc>
                <a:spcPct val="100000"/>
              </a:lnSpc>
              <a:buNone/>
            </a:pPr>
            <a:r>
              <a:rPr lang="en-US" sz="1350" b="1" dirty="0">
                <a:solidFill>
                  <a:srgbClr val="FFFFFF"/>
                </a:solidFill>
                <a:latin typeface="Calibri" pitchFamily="34" charset="0"/>
                <a:ea typeface="Calibri" pitchFamily="34" charset="-122"/>
                <a:cs typeface="Calibri" pitchFamily="34" charset="-120"/>
              </a:rPr>
              <a:t>Knowledge graph</a:t>
            </a:r>
            <a:endParaRPr lang="en-US" sz="1350" dirty="0"/>
          </a:p>
        </p:txBody>
      </p:sp>
      <p:sp>
        <p:nvSpPr>
          <p:cNvPr id="21" name="Text 16"/>
          <p:cNvSpPr txBox="1"/>
          <p:nvPr/>
        </p:nvSpPr>
        <p:spPr>
          <a:xfrm>
            <a:off x="1444752" y="5367528"/>
            <a:ext cx="2493264" cy="384048"/>
          </a:xfrm>
          <a:prstGeom prst="rect">
            <a:avLst/>
          </a:prstGeom>
          <a:noFill/>
          <a:ln/>
        </p:spPr>
        <p:txBody>
          <a:bodyPr wrap="square" lIns="0" tIns="0" rIns="0" bIns="0" rtlCol="0" anchor="ctr"/>
          <a:lstStyle/>
          <a:p>
            <a:pPr indent="0" marL="0">
              <a:lnSpc>
                <a:spcPct val="95000"/>
              </a:lnSpc>
              <a:buNone/>
            </a:pPr>
            <a:r>
              <a:rPr lang="en-US" sz="1000" dirty="0">
                <a:solidFill>
                  <a:srgbClr val="CFCBEF"/>
                </a:solidFill>
                <a:latin typeface="Calibri" pitchFamily="34" charset="0"/>
                <a:ea typeface="Calibri" pitchFamily="34" charset="-122"/>
                <a:cs typeface="Calibri" pitchFamily="34" charset="-120"/>
              </a:rPr>
              <a:t>Neo4j</a:t>
            </a:r>
            <a:endParaRPr lang="en-US" sz="1000" dirty="0"/>
          </a:p>
        </p:txBody>
      </p:sp>
      <p:sp>
        <p:nvSpPr>
          <p:cNvPr id="22" name="Shape 17"/>
          <p:cNvSpPr/>
          <p:nvPr/>
        </p:nvSpPr>
        <p:spPr>
          <a:xfrm>
            <a:off x="4331208" y="4800600"/>
            <a:ext cx="3535680" cy="1051560"/>
          </a:xfrm>
          <a:prstGeom prst="roundRect">
            <a:avLst>
              <a:gd name="adj" fmla="val 9565"/>
            </a:avLst>
          </a:prstGeom>
          <a:solidFill>
            <a:srgbClr val="FFFFFF">
              <a:alpha val="12000"/>
            </a:srgbClr>
          </a:solidFill>
          <a:ln w="12700">
            <a:solidFill>
              <a:srgbClr val="FFFFFF">
                <a:alpha val="18000"/>
              </a:srgbClr>
            </a:solidFill>
            <a:prstDash val="solid"/>
          </a:ln>
          <a:effectLst>
            <a:outerShdw sx="100000" sy="100000" kx="0" ky="0" algn="bl" rotWithShape="0" blurRad="177800" dist="63500" dir="5400000">
              <a:srgbClr val="0B0920">
                <a:alpha val="45000"/>
              </a:srgbClr>
            </a:outerShdw>
          </a:effectLst>
        </p:spPr>
      </p:sp>
      <p:sp>
        <p:nvSpPr>
          <p:cNvPr id="23" name="Shape 18"/>
          <p:cNvSpPr/>
          <p:nvPr/>
        </p:nvSpPr>
        <p:spPr>
          <a:xfrm>
            <a:off x="4550664" y="5074920"/>
            <a:ext cx="512064" cy="512064"/>
          </a:xfrm>
          <a:prstGeom prst="ellipse">
            <a:avLst/>
          </a:prstGeom>
          <a:solidFill>
            <a:srgbClr val="0E9E6E"/>
          </a:solidFill>
          <a:ln w="17780">
            <a:solidFill>
              <a:srgbClr val="16C78C"/>
            </a:solidFill>
            <a:prstDash val="solid"/>
          </a:ln>
          <a:effectLst>
            <a:outerShdw sx="100000" sy="100000" kx="0" ky="0" algn="bl" rotWithShape="0" blurRad="127000" dist="50800" dir="5400000">
              <a:srgbClr val="16C78C">
                <a:alpha val="45000"/>
              </a:srgbClr>
            </a:outerShdw>
          </a:effectLst>
        </p:spPr>
      </p:sp>
      <p:pic>
        <p:nvPicPr>
          <p:cNvPr id="24" name="Image 3" descr="assets/icons/activity_w.png">    </p:cNvPr>
          <p:cNvPicPr>
            <a:picLocks noChangeAspect="1"/>
          </p:cNvPicPr>
          <p:nvPr/>
        </p:nvPicPr>
        <p:blipFill>
          <a:blip r:embed="rId5"/>
          <a:stretch>
            <a:fillRect/>
          </a:stretch>
        </p:blipFill>
        <p:spPr>
          <a:xfrm>
            <a:off x="4694042" y="5218298"/>
            <a:ext cx="225308" cy="225308"/>
          </a:xfrm>
          <a:prstGeom prst="rect">
            <a:avLst/>
          </a:prstGeom>
        </p:spPr>
      </p:pic>
      <p:sp>
        <p:nvSpPr>
          <p:cNvPr id="25" name="Text 19"/>
          <p:cNvSpPr txBox="1"/>
          <p:nvPr/>
        </p:nvSpPr>
        <p:spPr>
          <a:xfrm>
            <a:off x="5209032" y="5056632"/>
            <a:ext cx="2493264" cy="292608"/>
          </a:xfrm>
          <a:prstGeom prst="rect">
            <a:avLst/>
          </a:prstGeom>
          <a:noFill/>
          <a:ln/>
        </p:spPr>
        <p:txBody>
          <a:bodyPr wrap="square" lIns="0" tIns="0" rIns="0" bIns="0" rtlCol="0" anchor="ctr"/>
          <a:lstStyle/>
          <a:p>
            <a:pPr indent="0" marL="0">
              <a:lnSpc>
                <a:spcPct val="100000"/>
              </a:lnSpc>
              <a:buNone/>
            </a:pPr>
            <a:r>
              <a:rPr lang="en-US" sz="1350" b="1" dirty="0">
                <a:solidFill>
                  <a:srgbClr val="FFFFFF"/>
                </a:solidFill>
                <a:latin typeface="Calibri" pitchFamily="34" charset="0"/>
                <a:ea typeface="Calibri" pitchFamily="34" charset="-122"/>
                <a:cs typeface="Calibri" pitchFamily="34" charset="-120"/>
              </a:rPr>
              <a:t>Mastery</a:t>
            </a:r>
            <a:endParaRPr lang="en-US" sz="1350" dirty="0"/>
          </a:p>
        </p:txBody>
      </p:sp>
      <p:sp>
        <p:nvSpPr>
          <p:cNvPr id="26" name="Text 20"/>
          <p:cNvSpPr txBox="1"/>
          <p:nvPr/>
        </p:nvSpPr>
        <p:spPr>
          <a:xfrm>
            <a:off x="5209032" y="5367528"/>
            <a:ext cx="2493264" cy="384048"/>
          </a:xfrm>
          <a:prstGeom prst="rect">
            <a:avLst/>
          </a:prstGeom>
          <a:noFill/>
          <a:ln/>
        </p:spPr>
        <p:txBody>
          <a:bodyPr wrap="square" lIns="0" tIns="0" rIns="0" bIns="0" rtlCol="0" anchor="ctr"/>
          <a:lstStyle/>
          <a:p>
            <a:pPr indent="0" marL="0">
              <a:lnSpc>
                <a:spcPct val="95000"/>
              </a:lnSpc>
              <a:buNone/>
            </a:pPr>
            <a:r>
              <a:rPr lang="en-US" sz="1000" dirty="0">
                <a:solidFill>
                  <a:srgbClr val="CFCBEF"/>
                </a:solidFill>
                <a:latin typeface="Calibri" pitchFamily="34" charset="0"/>
                <a:ea typeface="Calibri" pitchFamily="34" charset="-122"/>
                <a:cs typeface="Calibri" pitchFamily="34" charset="-120"/>
              </a:rPr>
              <a:t>Bayesian tracing</a:t>
            </a:r>
            <a:endParaRPr lang="en-US" sz="1000" dirty="0"/>
          </a:p>
        </p:txBody>
      </p:sp>
      <p:sp>
        <p:nvSpPr>
          <p:cNvPr id="27" name="Shape 21"/>
          <p:cNvSpPr/>
          <p:nvPr/>
        </p:nvSpPr>
        <p:spPr>
          <a:xfrm>
            <a:off x="8095488" y="4800600"/>
            <a:ext cx="3535680" cy="1051560"/>
          </a:xfrm>
          <a:prstGeom prst="roundRect">
            <a:avLst>
              <a:gd name="adj" fmla="val 9565"/>
            </a:avLst>
          </a:prstGeom>
          <a:solidFill>
            <a:srgbClr val="FFFFFF">
              <a:alpha val="12000"/>
            </a:srgbClr>
          </a:solidFill>
          <a:ln w="12700">
            <a:solidFill>
              <a:srgbClr val="FFFFFF">
                <a:alpha val="18000"/>
              </a:srgbClr>
            </a:solidFill>
            <a:prstDash val="solid"/>
          </a:ln>
          <a:effectLst>
            <a:outerShdw sx="100000" sy="100000" kx="0" ky="0" algn="bl" rotWithShape="0" blurRad="177800" dist="63500" dir="5400000">
              <a:srgbClr val="0B0920">
                <a:alpha val="45000"/>
              </a:srgbClr>
            </a:outerShdw>
          </a:effectLst>
        </p:spPr>
      </p:sp>
      <p:sp>
        <p:nvSpPr>
          <p:cNvPr id="28" name="Shape 22"/>
          <p:cNvSpPr/>
          <p:nvPr/>
        </p:nvSpPr>
        <p:spPr>
          <a:xfrm>
            <a:off x="8314944" y="5074920"/>
            <a:ext cx="512064" cy="512064"/>
          </a:xfrm>
          <a:prstGeom prst="ellipse">
            <a:avLst/>
          </a:prstGeom>
          <a:solidFill>
            <a:srgbClr val="1E9BA1"/>
          </a:solidFill>
          <a:ln w="17780">
            <a:solidFill>
              <a:srgbClr val="38C6CC"/>
            </a:solidFill>
            <a:prstDash val="solid"/>
          </a:ln>
          <a:effectLst>
            <a:outerShdw sx="100000" sy="100000" kx="0" ky="0" algn="bl" rotWithShape="0" blurRad="127000" dist="50800" dir="5400000">
              <a:srgbClr val="38C6CC">
                <a:alpha val="45000"/>
              </a:srgbClr>
            </a:outerShdw>
          </a:effectLst>
        </p:spPr>
      </p:sp>
      <p:pic>
        <p:nvPicPr>
          <p:cNvPr id="29" name="Image 4" descr="assets/icons/book_w.png">    </p:cNvPr>
          <p:cNvPicPr>
            <a:picLocks noChangeAspect="1"/>
          </p:cNvPicPr>
          <p:nvPr/>
        </p:nvPicPr>
        <p:blipFill>
          <a:blip r:embed="rId6"/>
          <a:stretch>
            <a:fillRect/>
          </a:stretch>
        </p:blipFill>
        <p:spPr>
          <a:xfrm>
            <a:off x="8458322" y="5218298"/>
            <a:ext cx="225308" cy="225308"/>
          </a:xfrm>
          <a:prstGeom prst="rect">
            <a:avLst/>
          </a:prstGeom>
        </p:spPr>
      </p:pic>
      <p:sp>
        <p:nvSpPr>
          <p:cNvPr id="30" name="Text 23"/>
          <p:cNvSpPr txBox="1"/>
          <p:nvPr/>
        </p:nvSpPr>
        <p:spPr>
          <a:xfrm>
            <a:off x="8973312" y="5056632"/>
            <a:ext cx="2493264" cy="292608"/>
          </a:xfrm>
          <a:prstGeom prst="rect">
            <a:avLst/>
          </a:prstGeom>
          <a:noFill/>
          <a:ln/>
        </p:spPr>
        <p:txBody>
          <a:bodyPr wrap="square" lIns="0" tIns="0" rIns="0" bIns="0" rtlCol="0" anchor="ctr"/>
          <a:lstStyle/>
          <a:p>
            <a:pPr indent="0" marL="0">
              <a:lnSpc>
                <a:spcPct val="100000"/>
              </a:lnSpc>
              <a:buNone/>
            </a:pPr>
            <a:r>
              <a:rPr lang="en-US" sz="1350" b="1" dirty="0">
                <a:solidFill>
                  <a:srgbClr val="FFFFFF"/>
                </a:solidFill>
                <a:latin typeface="Calibri" pitchFamily="34" charset="0"/>
                <a:ea typeface="Calibri" pitchFamily="34" charset="-122"/>
                <a:cs typeface="Calibri" pitchFamily="34" charset="-120"/>
              </a:rPr>
              <a:t>RAG</a:t>
            </a:r>
            <a:endParaRPr lang="en-US" sz="1350" dirty="0"/>
          </a:p>
        </p:txBody>
      </p:sp>
      <p:sp>
        <p:nvSpPr>
          <p:cNvPr id="31" name="Text 24"/>
          <p:cNvSpPr txBox="1"/>
          <p:nvPr/>
        </p:nvSpPr>
        <p:spPr>
          <a:xfrm>
            <a:off x="8973312" y="5367528"/>
            <a:ext cx="2493264" cy="384048"/>
          </a:xfrm>
          <a:prstGeom prst="rect">
            <a:avLst/>
          </a:prstGeom>
          <a:noFill/>
          <a:ln/>
        </p:spPr>
        <p:txBody>
          <a:bodyPr wrap="square" lIns="0" tIns="0" rIns="0" bIns="0" rtlCol="0" anchor="ctr"/>
          <a:lstStyle/>
          <a:p>
            <a:pPr indent="0" marL="0">
              <a:lnSpc>
                <a:spcPct val="95000"/>
              </a:lnSpc>
              <a:buNone/>
            </a:pPr>
            <a:r>
              <a:rPr lang="en-US" sz="1000" dirty="0">
                <a:solidFill>
                  <a:srgbClr val="CFCBEF"/>
                </a:solidFill>
                <a:latin typeface="Calibri" pitchFamily="34" charset="0"/>
                <a:ea typeface="Calibri" pitchFamily="34" charset="-122"/>
                <a:cs typeface="Calibri" pitchFamily="34" charset="-120"/>
              </a:rPr>
              <a:t>Grounded content</a:t>
            </a:r>
            <a:endParaRPr lang="en-US" sz="1000" dirty="0"/>
          </a:p>
        </p:txBody>
      </p:sp>
      <p:sp>
        <p:nvSpPr>
          <p:cNvPr id="32" name="Text 25"/>
          <p:cNvSpPr txBox="1"/>
          <p:nvPr/>
        </p:nvSpPr>
        <p:spPr>
          <a:xfrm>
            <a:off x="603504" y="6528816"/>
            <a:ext cx="8229600" cy="256032"/>
          </a:xfrm>
          <a:prstGeom prst="rect">
            <a:avLst/>
          </a:prstGeom>
          <a:noFill/>
          <a:ln/>
        </p:spPr>
        <p:txBody>
          <a:bodyPr wrap="square" lIns="0" tIns="0" rIns="0" bIns="0" rtlCol="0" anchor="ctr"/>
          <a:lstStyle/>
          <a:p>
            <a:pPr indent="0" marL="0">
              <a:lnSpc>
                <a:spcPct val="100000"/>
              </a:lnSpc>
              <a:buNone/>
            </a:pPr>
            <a:r>
              <a:rPr lang="en-US" sz="900" b="1" dirty="0">
                <a:solidFill>
                  <a:srgbClr val="9C97CC"/>
                </a:solidFill>
                <a:latin typeface="Calibri" pitchFamily="34" charset="0"/>
                <a:ea typeface="Calibri" pitchFamily="34" charset="-122"/>
                <a:cs typeface="Calibri" pitchFamily="34" charset="-120"/>
              </a:rPr>
              <a:t>IT23283930  |  Ekanayake E M N D  |  J26-SE-363</a:t>
            </a:r>
            <a:endParaRPr lang="en-US" sz="900" dirty="0"/>
          </a:p>
        </p:txBody>
      </p:sp>
      <p:sp>
        <p:nvSpPr>
          <p:cNvPr id="33" name="Text 26"/>
          <p:cNvSpPr txBox="1"/>
          <p:nvPr/>
        </p:nvSpPr>
        <p:spPr>
          <a:xfrm>
            <a:off x="10972800" y="6528816"/>
            <a:ext cx="640080" cy="256032"/>
          </a:xfrm>
          <a:prstGeom prst="rect">
            <a:avLst/>
          </a:prstGeom>
          <a:noFill/>
          <a:ln/>
        </p:spPr>
        <p:txBody>
          <a:bodyPr wrap="square" lIns="0" tIns="0" rIns="0" bIns="0" rtlCol="0" anchor="ctr"/>
          <a:lstStyle/>
          <a:p>
            <a:pPr algn="r" indent="0" marL="0">
              <a:lnSpc>
                <a:spcPct val="100000"/>
              </a:lnSpc>
              <a:buNone/>
            </a:pPr>
            <a:r>
              <a:rPr lang="en-US" sz="850" dirty="0">
                <a:solidFill>
                  <a:srgbClr val="726CA6"/>
                </a:solidFill>
                <a:latin typeface="Calibri" pitchFamily="34" charset="0"/>
                <a:ea typeface="Calibri" pitchFamily="34" charset="-122"/>
                <a:cs typeface="Calibri" pitchFamily="34" charset="-120"/>
              </a:rPr>
              <a:t>14</a:t>
            </a:r>
            <a:endParaRPr lang="en-US" sz="85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Shape 0"/>
          <p:cNvSpPr/>
          <p:nvPr/>
        </p:nvSpPr>
        <p:spPr>
          <a:xfrm>
            <a:off x="10515600" y="411480"/>
            <a:ext cx="1143000" cy="1143000"/>
          </a:xfrm>
          <a:prstGeom prst="ellipse">
            <a:avLst/>
          </a:prstGeom>
          <a:solidFill>
            <a:srgbClr val="1A1640"/>
          </a:solidFill>
          <a:ln w="25400">
            <a:solidFill>
              <a:srgbClr val="F2A740"/>
            </a:solidFill>
            <a:prstDash val="solid"/>
          </a:ln>
          <a:effectLst>
            <a:outerShdw sx="100000" sy="100000" kx="0" ky="0" algn="bl" rotWithShape="0" blurRad="127000" dist="50800" dir="5400000">
              <a:srgbClr val="4A3DC2">
                <a:alpha val="45000"/>
              </a:srgbClr>
            </a:outerShdw>
          </a:effectLst>
        </p:spPr>
      </p:sp>
      <p:pic>
        <p:nvPicPr>
          <p:cNvPr id="3" name="Image 0" descr="assets/ekanayake.jpg">    </p:cNvPr>
          <p:cNvPicPr>
            <a:picLocks noChangeAspect="1"/>
          </p:cNvPicPr>
          <p:nvPr/>
        </p:nvPicPr>
        <p:blipFill>
          <a:blip r:embed="rId2"/>
          <a:stretch>
            <a:fillRect/>
          </a:stretch>
        </p:blipFill>
        <p:spPr>
          <a:xfrm>
            <a:off x="10561320" y="457200"/>
            <a:ext cx="1051560" cy="1051560"/>
          </a:xfrm>
          <a:prstGeom prst="ellipse">
            <a:avLst/>
          </a:prstGeom>
        </p:spPr>
      </p:pic>
      <p:sp>
        <p:nvSpPr>
          <p:cNvPr id="4" name="Text 1"/>
          <p:cNvSpPr txBox="1"/>
          <p:nvPr/>
        </p:nvSpPr>
        <p:spPr>
          <a:xfrm>
            <a:off x="603504" y="493776"/>
            <a:ext cx="10058400" cy="274320"/>
          </a:xfrm>
          <a:prstGeom prst="rect">
            <a:avLst/>
          </a:prstGeom>
          <a:noFill/>
          <a:ln/>
        </p:spPr>
        <p:txBody>
          <a:bodyPr wrap="square" lIns="0" tIns="0" rIns="0" bIns="0" rtlCol="0" anchor="ctr"/>
          <a:lstStyle/>
          <a:p>
            <a:pPr indent="0" marL="0">
              <a:lnSpc>
                <a:spcPct val="100000"/>
              </a:lnSpc>
              <a:buNone/>
            </a:pPr>
            <a:r>
              <a:rPr lang="en-US" sz="1100" b="1" spc="260" kern="0" dirty="0">
                <a:solidFill>
                  <a:srgbClr val="9FE7C9"/>
                </a:solidFill>
                <a:latin typeface="Calibri" pitchFamily="34" charset="0"/>
                <a:ea typeface="Calibri" pitchFamily="34" charset="-122"/>
                <a:cs typeface="Calibri" pitchFamily="34" charset="-120"/>
              </a:rPr>
              <a:t>ADAPTIVE AI TUTOR  ·  COMPONENT OVERVIEW</a:t>
            </a:r>
            <a:endParaRPr lang="en-US" sz="1100" dirty="0"/>
          </a:p>
        </p:txBody>
      </p:sp>
      <p:sp>
        <p:nvSpPr>
          <p:cNvPr id="5" name="Text 2"/>
          <p:cNvSpPr txBox="1"/>
          <p:nvPr/>
        </p:nvSpPr>
        <p:spPr>
          <a:xfrm>
            <a:off x="566928" y="749808"/>
            <a:ext cx="9692640" cy="777240"/>
          </a:xfrm>
          <a:prstGeom prst="rect">
            <a:avLst/>
          </a:prstGeom>
          <a:noFill/>
          <a:ln/>
        </p:spPr>
        <p:txBody>
          <a:bodyPr wrap="square" lIns="0" tIns="0" rIns="0" bIns="0" rtlCol="0" anchor="ctr"/>
          <a:lstStyle/>
          <a:p>
            <a:pPr indent="0" marL="0">
              <a:lnSpc>
                <a:spcPct val="98000"/>
              </a:lnSpc>
              <a:buNone/>
            </a:pPr>
            <a:r>
              <a:rPr lang="en-US" sz="2200" b="1" dirty="0">
                <a:solidFill>
                  <a:srgbClr val="FFFFFF"/>
                </a:solidFill>
                <a:latin typeface="Calibri" pitchFamily="34" charset="0"/>
                <a:ea typeface="Calibri" pitchFamily="34" charset="-122"/>
                <a:cs typeface="Calibri" pitchFamily="34" charset="-120"/>
              </a:rPr>
              <a:t>Adaptive AI Tutor Agent</a:t>
            </a:r>
            <a:endParaRPr lang="en-US" sz="2200" dirty="0"/>
          </a:p>
        </p:txBody>
      </p:sp>
      <p:sp>
        <p:nvSpPr>
          <p:cNvPr id="6" name="Shape 3"/>
          <p:cNvSpPr/>
          <p:nvPr/>
        </p:nvSpPr>
        <p:spPr>
          <a:xfrm>
            <a:off x="566928" y="2011680"/>
            <a:ext cx="5440680" cy="1847088"/>
          </a:xfrm>
          <a:prstGeom prst="roundRect">
            <a:avLst>
              <a:gd name="adj" fmla="val 5446"/>
            </a:avLst>
          </a:prstGeom>
          <a:solidFill>
            <a:srgbClr val="FFFFFF">
              <a:alpha val="12000"/>
            </a:srgbClr>
          </a:solidFill>
          <a:ln w="12700">
            <a:solidFill>
              <a:srgbClr val="FFFFFF">
                <a:alpha val="18000"/>
              </a:srgbClr>
            </a:solidFill>
            <a:prstDash val="solid"/>
          </a:ln>
          <a:effectLst>
            <a:outerShdw sx="100000" sy="100000" kx="0" ky="0" algn="bl" rotWithShape="0" blurRad="177800" dist="63500" dir="5400000">
              <a:srgbClr val="0B0920">
                <a:alpha val="45000"/>
              </a:srgbClr>
            </a:outerShdw>
          </a:effectLst>
        </p:spPr>
      </p:sp>
      <p:sp>
        <p:nvSpPr>
          <p:cNvPr id="7" name="Shape 4"/>
          <p:cNvSpPr/>
          <p:nvPr/>
        </p:nvSpPr>
        <p:spPr>
          <a:xfrm>
            <a:off x="932688" y="1755648"/>
            <a:ext cx="2926080" cy="512064"/>
          </a:xfrm>
          <a:prstGeom prst="roundRect">
            <a:avLst>
              <a:gd name="adj" fmla="val 50000"/>
            </a:avLst>
          </a:prstGeom>
          <a:solidFill>
            <a:srgbClr val="7E6CF4"/>
          </a:solidFill>
          <a:ln/>
          <a:effectLst>
            <a:outerShdw sx="100000" sy="100000" kx="0" ky="0" algn="bl" rotWithShape="0" blurRad="127000" dist="50800" dir="5400000">
              <a:srgbClr val="7E6CF4">
                <a:alpha val="45000"/>
              </a:srgbClr>
            </a:outerShdw>
          </a:effectLst>
        </p:spPr>
      </p:sp>
      <p:sp>
        <p:nvSpPr>
          <p:cNvPr id="8" name="Shape 5"/>
          <p:cNvSpPr/>
          <p:nvPr/>
        </p:nvSpPr>
        <p:spPr>
          <a:xfrm>
            <a:off x="676656" y="1682496"/>
            <a:ext cx="676656" cy="676656"/>
          </a:xfrm>
          <a:prstGeom prst="ellipse">
            <a:avLst/>
          </a:prstGeom>
          <a:solidFill>
            <a:srgbClr val="5A47CE"/>
          </a:solidFill>
          <a:ln w="15240">
            <a:solidFill>
              <a:srgbClr val="FFFFFF">
                <a:alpha val="38000"/>
              </a:srgbClr>
            </a:solidFill>
            <a:prstDash val="solid"/>
          </a:ln>
          <a:effectLst>
            <a:outerShdw sx="100000" sy="100000" kx="0" ky="0" algn="bl" rotWithShape="0" blurRad="127000" dist="50800" dir="5400000">
              <a:srgbClr val="5A47CE">
                <a:alpha val="45000"/>
              </a:srgbClr>
            </a:outerShdw>
          </a:effectLst>
        </p:spPr>
      </p:sp>
      <p:pic>
        <p:nvPicPr>
          <p:cNvPr id="9" name="Image 1" descr="assets/icons/target_w.png">    </p:cNvPr>
          <p:cNvPicPr>
            <a:picLocks noChangeAspect="1"/>
          </p:cNvPicPr>
          <p:nvPr/>
        </p:nvPicPr>
        <p:blipFill>
          <a:blip r:embed="rId3"/>
          <a:stretch>
            <a:fillRect/>
          </a:stretch>
        </p:blipFill>
        <p:spPr>
          <a:xfrm>
            <a:off x="866120" y="1871960"/>
            <a:ext cx="297729" cy="297729"/>
          </a:xfrm>
          <a:prstGeom prst="rect">
            <a:avLst/>
          </a:prstGeom>
        </p:spPr>
      </p:pic>
      <p:sp>
        <p:nvSpPr>
          <p:cNvPr id="10" name="Text 6"/>
          <p:cNvSpPr txBox="1"/>
          <p:nvPr/>
        </p:nvSpPr>
        <p:spPr>
          <a:xfrm>
            <a:off x="1389888" y="1755648"/>
            <a:ext cx="2432304" cy="512064"/>
          </a:xfrm>
          <a:prstGeom prst="rect">
            <a:avLst/>
          </a:prstGeom>
          <a:noFill/>
          <a:ln/>
        </p:spPr>
        <p:txBody>
          <a:bodyPr wrap="square" lIns="0" tIns="0" rIns="0" bIns="0" rtlCol="0" anchor="ctr"/>
          <a:lstStyle/>
          <a:p>
            <a:pPr indent="0" marL="0">
              <a:lnSpc>
                <a:spcPct val="100000"/>
              </a:lnSpc>
              <a:buNone/>
            </a:pPr>
            <a:r>
              <a:rPr lang="en-US" sz="1150" b="1" dirty="0">
                <a:solidFill>
                  <a:srgbClr val="FFFFFF"/>
                </a:solidFill>
                <a:latin typeface="Calibri" pitchFamily="34" charset="0"/>
                <a:ea typeface="Calibri" pitchFamily="34" charset="-122"/>
                <a:cs typeface="Calibri" pitchFamily="34" charset="-120"/>
              </a:rPr>
              <a:t>Addresses the sub-problem</a:t>
            </a:r>
            <a:endParaRPr lang="en-US" sz="1150" dirty="0"/>
          </a:p>
        </p:txBody>
      </p:sp>
      <p:sp>
        <p:nvSpPr>
          <p:cNvPr id="11" name="Text 7"/>
          <p:cNvSpPr txBox="1"/>
          <p:nvPr/>
        </p:nvSpPr>
        <p:spPr>
          <a:xfrm>
            <a:off x="822960" y="2596896"/>
            <a:ext cx="4946904" cy="1097280"/>
          </a:xfrm>
          <a:prstGeom prst="rect">
            <a:avLst/>
          </a:prstGeom>
          <a:noFill/>
          <a:ln/>
        </p:spPr>
        <p:txBody>
          <a:bodyPr wrap="square" lIns="0" tIns="0" rIns="0" bIns="0" rtlCol="0" anchor="ctr"/>
          <a:lstStyle/>
          <a:p>
            <a:pPr indent="0" marL="0">
              <a:lnSpc>
                <a:spcPct val="102000"/>
              </a:lnSpc>
              <a:buNone/>
            </a:pPr>
            <a:r>
              <a:rPr lang="en-US" sz="1100" dirty="0">
                <a:solidFill>
                  <a:srgbClr val="CFCBEF"/>
                </a:solidFill>
                <a:latin typeface="Calibri" pitchFamily="34" charset="0"/>
                <a:ea typeface="Calibri" pitchFamily="34" charset="-122"/>
                <a:cs typeface="Calibri" pitchFamily="34" charset="-120"/>
              </a:rPr>
              <a:t>Existing tutors give generic, fragmented help. A unified, evolving learner model decides the next personalized intervention.</a:t>
            </a:r>
            <a:endParaRPr lang="en-US" sz="1100" dirty="0"/>
          </a:p>
        </p:txBody>
      </p:sp>
      <p:sp>
        <p:nvSpPr>
          <p:cNvPr id="12" name="Shape 8"/>
          <p:cNvSpPr/>
          <p:nvPr/>
        </p:nvSpPr>
        <p:spPr>
          <a:xfrm>
            <a:off x="6208776" y="2011680"/>
            <a:ext cx="5440680" cy="1847088"/>
          </a:xfrm>
          <a:prstGeom prst="roundRect">
            <a:avLst>
              <a:gd name="adj" fmla="val 5446"/>
            </a:avLst>
          </a:prstGeom>
          <a:solidFill>
            <a:srgbClr val="FFFFFF">
              <a:alpha val="12000"/>
            </a:srgbClr>
          </a:solidFill>
          <a:ln w="12700">
            <a:solidFill>
              <a:srgbClr val="FFFFFF">
                <a:alpha val="18000"/>
              </a:srgbClr>
            </a:solidFill>
            <a:prstDash val="solid"/>
          </a:ln>
          <a:effectLst>
            <a:outerShdw sx="100000" sy="100000" kx="0" ky="0" algn="bl" rotWithShape="0" blurRad="177800" dist="63500" dir="5400000">
              <a:srgbClr val="0B0920">
                <a:alpha val="45000"/>
              </a:srgbClr>
            </a:outerShdw>
          </a:effectLst>
        </p:spPr>
      </p:sp>
      <p:sp>
        <p:nvSpPr>
          <p:cNvPr id="13" name="Shape 9"/>
          <p:cNvSpPr/>
          <p:nvPr/>
        </p:nvSpPr>
        <p:spPr>
          <a:xfrm>
            <a:off x="6574536" y="1755648"/>
            <a:ext cx="2589581" cy="512064"/>
          </a:xfrm>
          <a:prstGeom prst="roundRect">
            <a:avLst>
              <a:gd name="adj" fmla="val 50000"/>
            </a:avLst>
          </a:prstGeom>
          <a:solidFill>
            <a:srgbClr val="16C78C"/>
          </a:solidFill>
          <a:ln/>
          <a:effectLst>
            <a:outerShdw sx="100000" sy="100000" kx="0" ky="0" algn="bl" rotWithShape="0" blurRad="127000" dist="50800" dir="5400000">
              <a:srgbClr val="16C78C">
                <a:alpha val="45000"/>
              </a:srgbClr>
            </a:outerShdw>
          </a:effectLst>
        </p:spPr>
      </p:sp>
      <p:sp>
        <p:nvSpPr>
          <p:cNvPr id="14" name="Shape 10"/>
          <p:cNvSpPr/>
          <p:nvPr/>
        </p:nvSpPr>
        <p:spPr>
          <a:xfrm>
            <a:off x="6318504" y="1682496"/>
            <a:ext cx="676656" cy="676656"/>
          </a:xfrm>
          <a:prstGeom prst="ellipse">
            <a:avLst/>
          </a:prstGeom>
          <a:solidFill>
            <a:srgbClr val="0E9E6E"/>
          </a:solidFill>
          <a:ln w="15240">
            <a:solidFill>
              <a:srgbClr val="FFFFFF">
                <a:alpha val="38000"/>
              </a:srgbClr>
            </a:solidFill>
            <a:prstDash val="solid"/>
          </a:ln>
          <a:effectLst>
            <a:outerShdw sx="100000" sy="100000" kx="0" ky="0" algn="bl" rotWithShape="0" blurRad="127000" dist="50800" dir="5400000">
              <a:srgbClr val="0E9E6E">
                <a:alpha val="45000"/>
              </a:srgbClr>
            </a:outerShdw>
          </a:effectLst>
        </p:spPr>
      </p:sp>
      <p:pic>
        <p:nvPicPr>
          <p:cNvPr id="15" name="Image 2" descr="assets/icons/checksq_w.png">    </p:cNvPr>
          <p:cNvPicPr>
            <a:picLocks noChangeAspect="1"/>
          </p:cNvPicPr>
          <p:nvPr/>
        </p:nvPicPr>
        <p:blipFill>
          <a:blip r:embed="rId4"/>
          <a:stretch>
            <a:fillRect/>
          </a:stretch>
        </p:blipFill>
        <p:spPr>
          <a:xfrm>
            <a:off x="6507968" y="1871960"/>
            <a:ext cx="297729" cy="297729"/>
          </a:xfrm>
          <a:prstGeom prst="rect">
            <a:avLst/>
          </a:prstGeom>
        </p:spPr>
      </p:pic>
      <p:sp>
        <p:nvSpPr>
          <p:cNvPr id="16" name="Text 11"/>
          <p:cNvSpPr txBox="1"/>
          <p:nvPr/>
        </p:nvSpPr>
        <p:spPr>
          <a:xfrm>
            <a:off x="7031736" y="1755648"/>
            <a:ext cx="2095805" cy="512064"/>
          </a:xfrm>
          <a:prstGeom prst="rect">
            <a:avLst/>
          </a:prstGeom>
          <a:noFill/>
          <a:ln/>
        </p:spPr>
        <p:txBody>
          <a:bodyPr wrap="square" lIns="0" tIns="0" rIns="0" bIns="0" rtlCol="0" anchor="ctr"/>
          <a:lstStyle/>
          <a:p>
            <a:pPr indent="0" marL="0">
              <a:lnSpc>
                <a:spcPct val="100000"/>
              </a:lnSpc>
              <a:buNone/>
            </a:pPr>
            <a:r>
              <a:rPr lang="en-US" sz="1150" b="1" dirty="0">
                <a:solidFill>
                  <a:srgbClr val="FFFFFF"/>
                </a:solidFill>
                <a:latin typeface="Calibri" pitchFamily="34" charset="0"/>
                <a:ea typeface="Calibri" pitchFamily="34" charset="-122"/>
                <a:cs typeface="Calibri" pitchFamily="34" charset="-120"/>
              </a:rPr>
              <a:t>User requirements met</a:t>
            </a:r>
            <a:endParaRPr lang="en-US" sz="1150" dirty="0"/>
          </a:p>
        </p:txBody>
      </p:sp>
      <p:pic>
        <p:nvPicPr>
          <p:cNvPr id="17" name="Image 3" descr="assets/icons/check_w.png">    </p:cNvPr>
          <p:cNvPicPr>
            <a:picLocks noChangeAspect="1"/>
          </p:cNvPicPr>
          <p:nvPr/>
        </p:nvPicPr>
        <p:blipFill>
          <a:blip r:embed="rId5"/>
          <a:stretch>
            <a:fillRect/>
          </a:stretch>
        </p:blipFill>
        <p:spPr>
          <a:xfrm>
            <a:off x="6464808" y="2615184"/>
            <a:ext cx="155448" cy="155448"/>
          </a:xfrm>
          <a:prstGeom prst="rect">
            <a:avLst/>
          </a:prstGeom>
        </p:spPr>
      </p:pic>
      <p:sp>
        <p:nvSpPr>
          <p:cNvPr id="18" name="Text 12"/>
          <p:cNvSpPr txBox="1"/>
          <p:nvPr/>
        </p:nvSpPr>
        <p:spPr>
          <a:xfrm>
            <a:off x="6702552" y="2569464"/>
            <a:ext cx="4690872" cy="365760"/>
          </a:xfrm>
          <a:prstGeom prst="rect">
            <a:avLst/>
          </a:prstGeom>
          <a:noFill/>
          <a:ln/>
        </p:spPr>
        <p:txBody>
          <a:bodyPr wrap="square" lIns="0" tIns="0" rIns="0" bIns="0" rtlCol="0" anchor="ctr"/>
          <a:lstStyle/>
          <a:p>
            <a:pPr indent="0" marL="0">
              <a:lnSpc>
                <a:spcPct val="95000"/>
              </a:lnSpc>
              <a:buNone/>
            </a:pPr>
            <a:r>
              <a:rPr lang="en-US" sz="1050" dirty="0">
                <a:solidFill>
                  <a:srgbClr val="E7E4FA"/>
                </a:solidFill>
                <a:latin typeface="Calibri" pitchFamily="34" charset="0"/>
                <a:ea typeface="Calibri" pitchFamily="34" charset="-122"/>
                <a:cs typeface="Calibri" pitchFamily="34" charset="-120"/>
              </a:rPr>
              <a:t>Personalized learning pathways</a:t>
            </a:r>
            <a:endParaRPr lang="en-US" sz="1050" dirty="0"/>
          </a:p>
        </p:txBody>
      </p:sp>
      <p:pic>
        <p:nvPicPr>
          <p:cNvPr id="19" name="Image 4" descr="assets/icons/check_w.png">    </p:cNvPr>
          <p:cNvPicPr>
            <a:picLocks noChangeAspect="1"/>
          </p:cNvPicPr>
          <p:nvPr/>
        </p:nvPicPr>
        <p:blipFill>
          <a:blip r:embed="rId6"/>
          <a:stretch>
            <a:fillRect/>
          </a:stretch>
        </p:blipFill>
        <p:spPr>
          <a:xfrm>
            <a:off x="6464808" y="2999232"/>
            <a:ext cx="155448" cy="155448"/>
          </a:xfrm>
          <a:prstGeom prst="rect">
            <a:avLst/>
          </a:prstGeom>
        </p:spPr>
      </p:pic>
      <p:sp>
        <p:nvSpPr>
          <p:cNvPr id="20" name="Text 13"/>
          <p:cNvSpPr txBox="1"/>
          <p:nvPr/>
        </p:nvSpPr>
        <p:spPr>
          <a:xfrm>
            <a:off x="6702552" y="2953512"/>
            <a:ext cx="4690872" cy="365760"/>
          </a:xfrm>
          <a:prstGeom prst="rect">
            <a:avLst/>
          </a:prstGeom>
          <a:noFill/>
          <a:ln/>
        </p:spPr>
        <p:txBody>
          <a:bodyPr wrap="square" lIns="0" tIns="0" rIns="0" bIns="0" rtlCol="0" anchor="ctr"/>
          <a:lstStyle/>
          <a:p>
            <a:pPr indent="0" marL="0">
              <a:lnSpc>
                <a:spcPct val="95000"/>
              </a:lnSpc>
              <a:buNone/>
            </a:pPr>
            <a:r>
              <a:rPr lang="en-US" sz="1050" dirty="0">
                <a:solidFill>
                  <a:srgbClr val="E7E4FA"/>
                </a:solidFill>
                <a:latin typeface="Calibri" pitchFamily="34" charset="0"/>
                <a:ea typeface="Calibri" pitchFamily="34" charset="-122"/>
                <a:cs typeface="Calibri" pitchFamily="34" charset="-120"/>
              </a:rPr>
              <a:t>Project-aware sprint &amp; task guidance</a:t>
            </a:r>
            <a:endParaRPr lang="en-US" sz="1050" dirty="0"/>
          </a:p>
        </p:txBody>
      </p:sp>
      <p:pic>
        <p:nvPicPr>
          <p:cNvPr id="21" name="Image 5" descr="assets/icons/check_w.png">    </p:cNvPr>
          <p:cNvPicPr>
            <a:picLocks noChangeAspect="1"/>
          </p:cNvPicPr>
          <p:nvPr/>
        </p:nvPicPr>
        <p:blipFill>
          <a:blip r:embed="rId7"/>
          <a:stretch>
            <a:fillRect/>
          </a:stretch>
        </p:blipFill>
        <p:spPr>
          <a:xfrm>
            <a:off x="6464808" y="3383280"/>
            <a:ext cx="155448" cy="155448"/>
          </a:xfrm>
          <a:prstGeom prst="rect">
            <a:avLst/>
          </a:prstGeom>
        </p:spPr>
      </p:pic>
      <p:sp>
        <p:nvSpPr>
          <p:cNvPr id="22" name="Text 14"/>
          <p:cNvSpPr txBox="1"/>
          <p:nvPr/>
        </p:nvSpPr>
        <p:spPr>
          <a:xfrm>
            <a:off x="6702552" y="3337560"/>
            <a:ext cx="4690872" cy="365760"/>
          </a:xfrm>
          <a:prstGeom prst="rect">
            <a:avLst/>
          </a:prstGeom>
          <a:noFill/>
          <a:ln/>
        </p:spPr>
        <p:txBody>
          <a:bodyPr wrap="square" lIns="0" tIns="0" rIns="0" bIns="0" rtlCol="0" anchor="ctr"/>
          <a:lstStyle/>
          <a:p>
            <a:pPr indent="0" marL="0">
              <a:lnSpc>
                <a:spcPct val="95000"/>
              </a:lnSpc>
              <a:buNone/>
            </a:pPr>
            <a:r>
              <a:rPr lang="en-US" sz="1050" dirty="0">
                <a:solidFill>
                  <a:srgbClr val="E7E4FA"/>
                </a:solidFill>
                <a:latin typeface="Calibri" pitchFamily="34" charset="0"/>
                <a:ea typeface="Calibri" pitchFamily="34" charset="-122"/>
                <a:cs typeface="Calibri" pitchFamily="34" charset="-120"/>
              </a:rPr>
              <a:t>Learner-state-driven adaptive quizzes</a:t>
            </a:r>
            <a:endParaRPr lang="en-US" sz="1050" dirty="0"/>
          </a:p>
        </p:txBody>
      </p:sp>
      <p:sp>
        <p:nvSpPr>
          <p:cNvPr id="23" name="Shape 15"/>
          <p:cNvSpPr/>
          <p:nvPr/>
        </p:nvSpPr>
        <p:spPr>
          <a:xfrm>
            <a:off x="566928" y="4315968"/>
            <a:ext cx="5440680" cy="1847088"/>
          </a:xfrm>
          <a:prstGeom prst="roundRect">
            <a:avLst>
              <a:gd name="adj" fmla="val 5446"/>
            </a:avLst>
          </a:prstGeom>
          <a:solidFill>
            <a:srgbClr val="FFFFFF">
              <a:alpha val="12000"/>
            </a:srgbClr>
          </a:solidFill>
          <a:ln w="12700">
            <a:solidFill>
              <a:srgbClr val="FFFFFF">
                <a:alpha val="18000"/>
              </a:srgbClr>
            </a:solidFill>
            <a:prstDash val="solid"/>
          </a:ln>
          <a:effectLst>
            <a:outerShdw sx="100000" sy="100000" kx="0" ky="0" algn="bl" rotWithShape="0" blurRad="177800" dist="63500" dir="5400000">
              <a:srgbClr val="0B0920">
                <a:alpha val="45000"/>
              </a:srgbClr>
            </a:outerShdw>
          </a:effectLst>
        </p:spPr>
      </p:sp>
      <p:sp>
        <p:nvSpPr>
          <p:cNvPr id="24" name="Shape 16"/>
          <p:cNvSpPr/>
          <p:nvPr/>
        </p:nvSpPr>
        <p:spPr>
          <a:xfrm>
            <a:off x="932688" y="4059936"/>
            <a:ext cx="3514954" cy="512064"/>
          </a:xfrm>
          <a:prstGeom prst="roundRect">
            <a:avLst>
              <a:gd name="adj" fmla="val 50000"/>
            </a:avLst>
          </a:prstGeom>
          <a:solidFill>
            <a:srgbClr val="F2A740"/>
          </a:solidFill>
          <a:ln/>
          <a:effectLst>
            <a:outerShdw sx="100000" sy="100000" kx="0" ky="0" algn="bl" rotWithShape="0" blurRad="127000" dist="50800" dir="5400000">
              <a:srgbClr val="F2A740">
                <a:alpha val="45000"/>
              </a:srgbClr>
            </a:outerShdw>
          </a:effectLst>
        </p:spPr>
      </p:sp>
      <p:sp>
        <p:nvSpPr>
          <p:cNvPr id="25" name="Shape 17"/>
          <p:cNvSpPr/>
          <p:nvPr/>
        </p:nvSpPr>
        <p:spPr>
          <a:xfrm>
            <a:off x="676656" y="3986784"/>
            <a:ext cx="676656" cy="676656"/>
          </a:xfrm>
          <a:prstGeom prst="ellipse">
            <a:avLst/>
          </a:prstGeom>
          <a:solidFill>
            <a:srgbClr val="E0891C"/>
          </a:solidFill>
          <a:ln w="15240">
            <a:solidFill>
              <a:srgbClr val="FFFFFF">
                <a:alpha val="38000"/>
              </a:srgbClr>
            </a:solidFill>
            <a:prstDash val="solid"/>
          </a:ln>
          <a:effectLst>
            <a:outerShdw sx="100000" sy="100000" kx="0" ky="0" algn="bl" rotWithShape="0" blurRad="127000" dist="50800" dir="5400000">
              <a:srgbClr val="E0891C">
                <a:alpha val="45000"/>
              </a:srgbClr>
            </a:outerShdw>
          </a:effectLst>
        </p:spPr>
      </p:sp>
      <p:pic>
        <p:nvPicPr>
          <p:cNvPr id="26" name="Image 6" descr="assets/icons/award_w.png">    </p:cNvPr>
          <p:cNvPicPr>
            <a:picLocks noChangeAspect="1"/>
          </p:cNvPicPr>
          <p:nvPr/>
        </p:nvPicPr>
        <p:blipFill>
          <a:blip r:embed="rId8"/>
          <a:stretch>
            <a:fillRect/>
          </a:stretch>
        </p:blipFill>
        <p:spPr>
          <a:xfrm>
            <a:off x="866120" y="4176248"/>
            <a:ext cx="297729" cy="297729"/>
          </a:xfrm>
          <a:prstGeom prst="rect">
            <a:avLst/>
          </a:prstGeom>
        </p:spPr>
      </p:pic>
      <p:sp>
        <p:nvSpPr>
          <p:cNvPr id="27" name="Text 18"/>
          <p:cNvSpPr txBox="1"/>
          <p:nvPr/>
        </p:nvSpPr>
        <p:spPr>
          <a:xfrm>
            <a:off x="1389888" y="4059936"/>
            <a:ext cx="3021178" cy="512064"/>
          </a:xfrm>
          <a:prstGeom prst="rect">
            <a:avLst/>
          </a:prstGeom>
          <a:noFill/>
          <a:ln/>
        </p:spPr>
        <p:txBody>
          <a:bodyPr wrap="square" lIns="0" tIns="0" rIns="0" bIns="0" rtlCol="0" anchor="ctr"/>
          <a:lstStyle/>
          <a:p>
            <a:pPr indent="0" marL="0">
              <a:lnSpc>
                <a:spcPct val="100000"/>
              </a:lnSpc>
              <a:buNone/>
            </a:pPr>
            <a:r>
              <a:rPr lang="en-US" sz="1150" b="1" dirty="0">
                <a:solidFill>
                  <a:srgbClr val="FFFFFF"/>
                </a:solidFill>
                <a:latin typeface="Calibri" pitchFamily="34" charset="0"/>
                <a:ea typeface="Calibri" pitchFamily="34" charset="-122"/>
                <a:cs typeface="Calibri" pitchFamily="34" charset="-120"/>
              </a:rPr>
              <a:t>Design excellence &amp; contribution</a:t>
            </a:r>
            <a:endParaRPr lang="en-US" sz="1150" dirty="0"/>
          </a:p>
        </p:txBody>
      </p:sp>
      <p:pic>
        <p:nvPicPr>
          <p:cNvPr id="28" name="Image 7" descr="assets/icons/check_w.png">    </p:cNvPr>
          <p:cNvPicPr>
            <a:picLocks noChangeAspect="1"/>
          </p:cNvPicPr>
          <p:nvPr/>
        </p:nvPicPr>
        <p:blipFill>
          <a:blip r:embed="rId9"/>
          <a:stretch>
            <a:fillRect/>
          </a:stretch>
        </p:blipFill>
        <p:spPr>
          <a:xfrm>
            <a:off x="822960" y="4919472"/>
            <a:ext cx="155448" cy="155448"/>
          </a:xfrm>
          <a:prstGeom prst="rect">
            <a:avLst/>
          </a:prstGeom>
        </p:spPr>
      </p:pic>
      <p:sp>
        <p:nvSpPr>
          <p:cNvPr id="29" name="Text 19"/>
          <p:cNvSpPr txBox="1"/>
          <p:nvPr/>
        </p:nvSpPr>
        <p:spPr>
          <a:xfrm>
            <a:off x="1060704" y="4873752"/>
            <a:ext cx="4690872" cy="365760"/>
          </a:xfrm>
          <a:prstGeom prst="rect">
            <a:avLst/>
          </a:prstGeom>
          <a:noFill/>
          <a:ln/>
        </p:spPr>
        <p:txBody>
          <a:bodyPr wrap="square" lIns="0" tIns="0" rIns="0" bIns="0" rtlCol="0" anchor="ctr"/>
          <a:lstStyle/>
          <a:p>
            <a:pPr indent="0" marL="0">
              <a:lnSpc>
                <a:spcPct val="95000"/>
              </a:lnSpc>
              <a:buNone/>
            </a:pPr>
            <a:r>
              <a:rPr lang="en-US" sz="1050" dirty="0">
                <a:solidFill>
                  <a:srgbClr val="E7E4FA"/>
                </a:solidFill>
                <a:latin typeface="Calibri" pitchFamily="34" charset="0"/>
                <a:ea typeface="Calibri" pitchFamily="34" charset="-122"/>
                <a:cs typeface="Calibri" pitchFamily="34" charset="-120"/>
              </a:rPr>
              <a:t>State = knowledge + assessment + behaviour + trends + context</a:t>
            </a:r>
            <a:endParaRPr lang="en-US" sz="1050" dirty="0"/>
          </a:p>
        </p:txBody>
      </p:sp>
      <p:pic>
        <p:nvPicPr>
          <p:cNvPr id="30" name="Image 8" descr="assets/icons/check_w.png">    </p:cNvPr>
          <p:cNvPicPr>
            <a:picLocks noChangeAspect="1"/>
          </p:cNvPicPr>
          <p:nvPr/>
        </p:nvPicPr>
        <p:blipFill>
          <a:blip r:embed="rId10"/>
          <a:stretch>
            <a:fillRect/>
          </a:stretch>
        </p:blipFill>
        <p:spPr>
          <a:xfrm>
            <a:off x="822960" y="5303520"/>
            <a:ext cx="155448" cy="155448"/>
          </a:xfrm>
          <a:prstGeom prst="rect">
            <a:avLst/>
          </a:prstGeom>
        </p:spPr>
      </p:pic>
      <p:sp>
        <p:nvSpPr>
          <p:cNvPr id="31" name="Text 20"/>
          <p:cNvSpPr txBox="1"/>
          <p:nvPr/>
        </p:nvSpPr>
        <p:spPr>
          <a:xfrm>
            <a:off x="1060704" y="5257800"/>
            <a:ext cx="4690872" cy="365760"/>
          </a:xfrm>
          <a:prstGeom prst="rect">
            <a:avLst/>
          </a:prstGeom>
          <a:noFill/>
          <a:ln/>
        </p:spPr>
        <p:txBody>
          <a:bodyPr wrap="square" lIns="0" tIns="0" rIns="0" bIns="0" rtlCol="0" anchor="ctr"/>
          <a:lstStyle/>
          <a:p>
            <a:pPr indent="0" marL="0">
              <a:lnSpc>
                <a:spcPct val="95000"/>
              </a:lnSpc>
              <a:buNone/>
            </a:pPr>
            <a:r>
              <a:rPr lang="en-US" sz="1050" dirty="0">
                <a:solidFill>
                  <a:srgbClr val="E7E4FA"/>
                </a:solidFill>
                <a:latin typeface="Calibri" pitchFamily="34" charset="0"/>
                <a:ea typeface="Calibri" pitchFamily="34" charset="-122"/>
                <a:cs typeface="Calibri" pitchFamily="34" charset="-120"/>
              </a:rPr>
              <a:t>Course &amp; student Knowledge Graphs (Neo4j) + BKT mastery</a:t>
            </a:r>
            <a:endParaRPr lang="en-US" sz="1050" dirty="0"/>
          </a:p>
        </p:txBody>
      </p:sp>
      <p:pic>
        <p:nvPicPr>
          <p:cNvPr id="32" name="Image 9" descr="assets/icons/check_w.png">    </p:cNvPr>
          <p:cNvPicPr>
            <a:picLocks noChangeAspect="1"/>
          </p:cNvPicPr>
          <p:nvPr/>
        </p:nvPicPr>
        <p:blipFill>
          <a:blip r:embed="rId11"/>
          <a:stretch>
            <a:fillRect/>
          </a:stretch>
        </p:blipFill>
        <p:spPr>
          <a:xfrm>
            <a:off x="822960" y="5687568"/>
            <a:ext cx="155448" cy="155448"/>
          </a:xfrm>
          <a:prstGeom prst="rect">
            <a:avLst/>
          </a:prstGeom>
        </p:spPr>
      </p:pic>
      <p:sp>
        <p:nvSpPr>
          <p:cNvPr id="33" name="Text 21"/>
          <p:cNvSpPr txBox="1"/>
          <p:nvPr/>
        </p:nvSpPr>
        <p:spPr>
          <a:xfrm>
            <a:off x="1060704" y="5641848"/>
            <a:ext cx="4690872" cy="365760"/>
          </a:xfrm>
          <a:prstGeom prst="rect">
            <a:avLst/>
          </a:prstGeom>
          <a:noFill/>
          <a:ln/>
        </p:spPr>
        <p:txBody>
          <a:bodyPr wrap="square" lIns="0" tIns="0" rIns="0" bIns="0" rtlCol="0" anchor="ctr"/>
          <a:lstStyle/>
          <a:p>
            <a:pPr indent="0" marL="0">
              <a:lnSpc>
                <a:spcPct val="95000"/>
              </a:lnSpc>
              <a:buNone/>
            </a:pPr>
            <a:r>
              <a:rPr lang="en-US" sz="1050" dirty="0">
                <a:solidFill>
                  <a:srgbClr val="E7E4FA"/>
                </a:solidFill>
                <a:latin typeface="Calibri" pitchFamily="34" charset="0"/>
                <a:ea typeface="Calibri" pitchFamily="34" charset="-122"/>
                <a:cs typeface="Calibri" pitchFamily="34" charset="-120"/>
              </a:rPr>
              <a:t>RAG-grounded, project-context-aware guidance</a:t>
            </a:r>
            <a:endParaRPr lang="en-US" sz="1050" dirty="0"/>
          </a:p>
        </p:txBody>
      </p:sp>
      <p:sp>
        <p:nvSpPr>
          <p:cNvPr id="34" name="Shape 22"/>
          <p:cNvSpPr/>
          <p:nvPr/>
        </p:nvSpPr>
        <p:spPr>
          <a:xfrm>
            <a:off x="6208776" y="4315968"/>
            <a:ext cx="5440680" cy="1847088"/>
          </a:xfrm>
          <a:prstGeom prst="roundRect">
            <a:avLst>
              <a:gd name="adj" fmla="val 5446"/>
            </a:avLst>
          </a:prstGeom>
          <a:solidFill>
            <a:srgbClr val="FFFFFF">
              <a:alpha val="12000"/>
            </a:srgbClr>
          </a:solidFill>
          <a:ln w="12700">
            <a:solidFill>
              <a:srgbClr val="FFFFFF">
                <a:alpha val="18000"/>
              </a:srgbClr>
            </a:solidFill>
            <a:prstDash val="solid"/>
          </a:ln>
          <a:effectLst>
            <a:outerShdw sx="100000" sy="100000" kx="0" ky="0" algn="bl" rotWithShape="0" blurRad="177800" dist="63500" dir="5400000">
              <a:srgbClr val="0B0920">
                <a:alpha val="45000"/>
              </a:srgbClr>
            </a:outerShdw>
          </a:effectLst>
        </p:spPr>
      </p:sp>
      <p:sp>
        <p:nvSpPr>
          <p:cNvPr id="35" name="Shape 23"/>
          <p:cNvSpPr/>
          <p:nvPr/>
        </p:nvSpPr>
        <p:spPr>
          <a:xfrm>
            <a:off x="6574536" y="4059936"/>
            <a:ext cx="2421331" cy="512064"/>
          </a:xfrm>
          <a:prstGeom prst="roundRect">
            <a:avLst>
              <a:gd name="adj" fmla="val 50000"/>
            </a:avLst>
          </a:prstGeom>
          <a:solidFill>
            <a:srgbClr val="39BC7A"/>
          </a:solidFill>
          <a:ln/>
          <a:effectLst>
            <a:outerShdw sx="100000" sy="100000" kx="0" ky="0" algn="bl" rotWithShape="0" blurRad="127000" dist="50800" dir="5400000">
              <a:srgbClr val="39BC7A">
                <a:alpha val="45000"/>
              </a:srgbClr>
            </a:outerShdw>
          </a:effectLst>
        </p:spPr>
      </p:sp>
      <p:sp>
        <p:nvSpPr>
          <p:cNvPr id="36" name="Shape 24"/>
          <p:cNvSpPr/>
          <p:nvPr/>
        </p:nvSpPr>
        <p:spPr>
          <a:xfrm>
            <a:off x="6318504" y="3986784"/>
            <a:ext cx="676656" cy="676656"/>
          </a:xfrm>
          <a:prstGeom prst="ellipse">
            <a:avLst/>
          </a:prstGeom>
          <a:solidFill>
            <a:srgbClr val="23925B"/>
          </a:solidFill>
          <a:ln w="15240">
            <a:solidFill>
              <a:srgbClr val="FFFFFF">
                <a:alpha val="38000"/>
              </a:srgbClr>
            </a:solidFill>
            <a:prstDash val="solid"/>
          </a:ln>
          <a:effectLst>
            <a:outerShdw sx="100000" sy="100000" kx="0" ky="0" algn="bl" rotWithShape="0" blurRad="127000" dist="50800" dir="5400000">
              <a:srgbClr val="23925B">
                <a:alpha val="45000"/>
              </a:srgbClr>
            </a:outerShdw>
          </a:effectLst>
        </p:spPr>
      </p:sp>
      <p:pic>
        <p:nvPicPr>
          <p:cNvPr id="37" name="Image 10" descr="assets/icons/activity_w.png">    </p:cNvPr>
          <p:cNvPicPr>
            <a:picLocks noChangeAspect="1"/>
          </p:cNvPicPr>
          <p:nvPr/>
        </p:nvPicPr>
        <p:blipFill>
          <a:blip r:embed="rId12"/>
          <a:stretch>
            <a:fillRect/>
          </a:stretch>
        </p:blipFill>
        <p:spPr>
          <a:xfrm>
            <a:off x="6507968" y="4176248"/>
            <a:ext cx="297729" cy="297729"/>
          </a:xfrm>
          <a:prstGeom prst="rect">
            <a:avLst/>
          </a:prstGeom>
        </p:spPr>
      </p:pic>
      <p:sp>
        <p:nvSpPr>
          <p:cNvPr id="38" name="Text 25"/>
          <p:cNvSpPr txBox="1"/>
          <p:nvPr/>
        </p:nvSpPr>
        <p:spPr>
          <a:xfrm>
            <a:off x="7031736" y="4059936"/>
            <a:ext cx="1927555" cy="512064"/>
          </a:xfrm>
          <a:prstGeom prst="rect">
            <a:avLst/>
          </a:prstGeom>
          <a:noFill/>
          <a:ln/>
        </p:spPr>
        <p:txBody>
          <a:bodyPr wrap="square" lIns="0" tIns="0" rIns="0" bIns="0" rtlCol="0" anchor="ctr"/>
          <a:lstStyle/>
          <a:p>
            <a:pPr indent="0" marL="0">
              <a:lnSpc>
                <a:spcPct val="100000"/>
              </a:lnSpc>
              <a:buNone/>
            </a:pPr>
            <a:r>
              <a:rPr lang="en-US" sz="1150" b="1" dirty="0">
                <a:solidFill>
                  <a:srgbClr val="FFFFFF"/>
                </a:solidFill>
                <a:latin typeface="Calibri" pitchFamily="34" charset="0"/>
                <a:ea typeface="Calibri" pitchFamily="34" charset="-122"/>
                <a:cs typeface="Calibri" pitchFamily="34" charset="-120"/>
              </a:rPr>
              <a:t>Progress &amp; feedback</a:t>
            </a:r>
            <a:endParaRPr lang="en-US" sz="1150" dirty="0"/>
          </a:p>
        </p:txBody>
      </p:sp>
      <p:pic>
        <p:nvPicPr>
          <p:cNvPr id="39" name="Image 11" descr="assets/icons/check_e.png">    </p:cNvPr>
          <p:cNvPicPr>
            <a:picLocks noChangeAspect="1"/>
          </p:cNvPicPr>
          <p:nvPr/>
        </p:nvPicPr>
        <p:blipFill>
          <a:blip r:embed="rId13"/>
          <a:stretch>
            <a:fillRect/>
          </a:stretch>
        </p:blipFill>
        <p:spPr>
          <a:xfrm>
            <a:off x="6464808" y="4919472"/>
            <a:ext cx="155448" cy="155448"/>
          </a:xfrm>
          <a:prstGeom prst="rect">
            <a:avLst/>
          </a:prstGeom>
        </p:spPr>
      </p:pic>
      <p:sp>
        <p:nvSpPr>
          <p:cNvPr id="40" name="Text 26"/>
          <p:cNvSpPr txBox="1"/>
          <p:nvPr/>
        </p:nvSpPr>
        <p:spPr>
          <a:xfrm>
            <a:off x="6702552" y="4873752"/>
            <a:ext cx="4690872" cy="365760"/>
          </a:xfrm>
          <a:prstGeom prst="rect">
            <a:avLst/>
          </a:prstGeom>
          <a:noFill/>
          <a:ln/>
        </p:spPr>
        <p:txBody>
          <a:bodyPr wrap="square" lIns="0" tIns="0" rIns="0" bIns="0" rtlCol="0" anchor="ctr"/>
          <a:lstStyle/>
          <a:p>
            <a:pPr indent="0" marL="0">
              <a:lnSpc>
                <a:spcPct val="95000"/>
              </a:lnSpc>
              <a:buNone/>
            </a:pPr>
            <a:r>
              <a:rPr lang="en-US" sz="1050" dirty="0">
                <a:solidFill>
                  <a:srgbClr val="9FE7C9"/>
                </a:solidFill>
                <a:latin typeface="Calibri" pitchFamily="34" charset="0"/>
                <a:ea typeface="Calibri" pitchFamily="34" charset="-122"/>
                <a:cs typeface="Calibri" pitchFamily="34" charset="-120"/>
              </a:rPr>
              <a:t>Learner model &amp; knowledge-graph schema designed</a:t>
            </a:r>
            <a:endParaRPr lang="en-US" sz="1050" dirty="0"/>
          </a:p>
        </p:txBody>
      </p:sp>
      <p:pic>
        <p:nvPicPr>
          <p:cNvPr id="41" name="Image 12" descr="assets/icons/check_e.png">    </p:cNvPr>
          <p:cNvPicPr>
            <a:picLocks noChangeAspect="1"/>
          </p:cNvPicPr>
          <p:nvPr/>
        </p:nvPicPr>
        <p:blipFill>
          <a:blip r:embed="rId14"/>
          <a:stretch>
            <a:fillRect/>
          </a:stretch>
        </p:blipFill>
        <p:spPr>
          <a:xfrm>
            <a:off x="6464808" y="5303520"/>
            <a:ext cx="155448" cy="155448"/>
          </a:xfrm>
          <a:prstGeom prst="rect">
            <a:avLst/>
          </a:prstGeom>
        </p:spPr>
      </p:pic>
      <p:sp>
        <p:nvSpPr>
          <p:cNvPr id="42" name="Text 27"/>
          <p:cNvSpPr txBox="1"/>
          <p:nvPr/>
        </p:nvSpPr>
        <p:spPr>
          <a:xfrm>
            <a:off x="6702552" y="5257800"/>
            <a:ext cx="4690872" cy="365760"/>
          </a:xfrm>
          <a:prstGeom prst="rect">
            <a:avLst/>
          </a:prstGeom>
          <a:noFill/>
          <a:ln/>
        </p:spPr>
        <p:txBody>
          <a:bodyPr wrap="square" lIns="0" tIns="0" rIns="0" bIns="0" rtlCol="0" anchor="ctr"/>
          <a:lstStyle/>
          <a:p>
            <a:pPr indent="0" marL="0">
              <a:lnSpc>
                <a:spcPct val="95000"/>
              </a:lnSpc>
              <a:buNone/>
            </a:pPr>
            <a:r>
              <a:rPr lang="en-US" sz="1050" dirty="0">
                <a:solidFill>
                  <a:srgbClr val="9FE7C9"/>
                </a:solidFill>
                <a:latin typeface="Calibri" pitchFamily="34" charset="0"/>
                <a:ea typeface="Calibri" pitchFamily="34" charset="-122"/>
                <a:cs typeface="Calibri" pitchFamily="34" charset="-120"/>
              </a:rPr>
              <a:t>Adaptation engine in progress</a:t>
            </a:r>
            <a:endParaRPr lang="en-US" sz="1050" dirty="0"/>
          </a:p>
        </p:txBody>
      </p:sp>
      <p:pic>
        <p:nvPicPr>
          <p:cNvPr id="43" name="Image 13" descr="assets/icons/check_e.png">    </p:cNvPr>
          <p:cNvPicPr>
            <a:picLocks noChangeAspect="1"/>
          </p:cNvPicPr>
          <p:nvPr/>
        </p:nvPicPr>
        <p:blipFill>
          <a:blip r:embed="rId15"/>
          <a:stretch>
            <a:fillRect/>
          </a:stretch>
        </p:blipFill>
        <p:spPr>
          <a:xfrm>
            <a:off x="6464808" y="5687568"/>
            <a:ext cx="155448" cy="155448"/>
          </a:xfrm>
          <a:prstGeom prst="rect">
            <a:avLst/>
          </a:prstGeom>
        </p:spPr>
      </p:pic>
      <p:sp>
        <p:nvSpPr>
          <p:cNvPr id="44" name="Text 28"/>
          <p:cNvSpPr txBox="1"/>
          <p:nvPr/>
        </p:nvSpPr>
        <p:spPr>
          <a:xfrm>
            <a:off x="6702552" y="5641848"/>
            <a:ext cx="4690872" cy="365760"/>
          </a:xfrm>
          <a:prstGeom prst="rect">
            <a:avLst/>
          </a:prstGeom>
          <a:noFill/>
          <a:ln/>
        </p:spPr>
        <p:txBody>
          <a:bodyPr wrap="square" lIns="0" tIns="0" rIns="0" bIns="0" rtlCol="0" anchor="ctr"/>
          <a:lstStyle/>
          <a:p>
            <a:pPr indent="0" marL="0">
              <a:lnSpc>
                <a:spcPct val="95000"/>
              </a:lnSpc>
              <a:buNone/>
            </a:pPr>
            <a:r>
              <a:rPr lang="en-US" sz="1050" dirty="0">
                <a:solidFill>
                  <a:srgbClr val="9FE7C9"/>
                </a:solidFill>
                <a:latin typeface="Calibri" pitchFamily="34" charset="0"/>
                <a:ea typeface="Calibri" pitchFamily="34" charset="-122"/>
                <a:cs typeface="Calibri" pitchFamily="34" charset="-120"/>
              </a:rPr>
              <a:t>Validation plan + MCP scope added for the panel</a:t>
            </a:r>
            <a:endParaRPr lang="en-US" sz="1050" dirty="0"/>
          </a:p>
        </p:txBody>
      </p:sp>
      <p:sp>
        <p:nvSpPr>
          <p:cNvPr id="45" name="Text 29"/>
          <p:cNvSpPr txBox="1"/>
          <p:nvPr/>
        </p:nvSpPr>
        <p:spPr>
          <a:xfrm>
            <a:off x="603504" y="6528816"/>
            <a:ext cx="8229600" cy="256032"/>
          </a:xfrm>
          <a:prstGeom prst="rect">
            <a:avLst/>
          </a:prstGeom>
          <a:noFill/>
          <a:ln/>
        </p:spPr>
        <p:txBody>
          <a:bodyPr wrap="square" lIns="0" tIns="0" rIns="0" bIns="0" rtlCol="0" anchor="ctr"/>
          <a:lstStyle/>
          <a:p>
            <a:pPr indent="0" marL="0">
              <a:lnSpc>
                <a:spcPct val="100000"/>
              </a:lnSpc>
              <a:buNone/>
            </a:pPr>
            <a:r>
              <a:rPr lang="en-US" sz="900" b="1" dirty="0">
                <a:solidFill>
                  <a:srgbClr val="9C97CC"/>
                </a:solidFill>
                <a:latin typeface="Calibri" pitchFamily="34" charset="0"/>
                <a:ea typeface="Calibri" pitchFamily="34" charset="-122"/>
                <a:cs typeface="Calibri" pitchFamily="34" charset="-120"/>
              </a:rPr>
              <a:t>IT23283930  |  Ekanayake E M N D  |  J26-SE-363</a:t>
            </a:r>
            <a:endParaRPr lang="en-US" sz="900" dirty="0"/>
          </a:p>
        </p:txBody>
      </p:sp>
      <p:sp>
        <p:nvSpPr>
          <p:cNvPr id="46" name="Text 30"/>
          <p:cNvSpPr txBox="1"/>
          <p:nvPr/>
        </p:nvSpPr>
        <p:spPr>
          <a:xfrm>
            <a:off x="10972800" y="6528816"/>
            <a:ext cx="640080" cy="256032"/>
          </a:xfrm>
          <a:prstGeom prst="rect">
            <a:avLst/>
          </a:prstGeom>
          <a:noFill/>
          <a:ln/>
        </p:spPr>
        <p:txBody>
          <a:bodyPr wrap="square" lIns="0" tIns="0" rIns="0" bIns="0" rtlCol="0" anchor="ctr"/>
          <a:lstStyle/>
          <a:p>
            <a:pPr algn="r" indent="0" marL="0">
              <a:lnSpc>
                <a:spcPct val="100000"/>
              </a:lnSpc>
              <a:buNone/>
            </a:pPr>
            <a:r>
              <a:rPr lang="en-US" sz="850" dirty="0">
                <a:solidFill>
                  <a:srgbClr val="726CA6"/>
                </a:solidFill>
                <a:latin typeface="Calibri" pitchFamily="34" charset="0"/>
                <a:ea typeface="Calibri" pitchFamily="34" charset="-122"/>
                <a:cs typeface="Calibri" pitchFamily="34" charset="-120"/>
              </a:rPr>
              <a:t>15</a:t>
            </a:r>
            <a:endParaRPr lang="en-US" sz="85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Shape 0"/>
          <p:cNvSpPr/>
          <p:nvPr/>
        </p:nvSpPr>
        <p:spPr>
          <a:xfrm>
            <a:off x="10515600" y="411480"/>
            <a:ext cx="1005840" cy="1005840"/>
          </a:xfrm>
          <a:prstGeom prst="ellipse">
            <a:avLst/>
          </a:prstGeom>
          <a:solidFill>
            <a:srgbClr val="1A1640"/>
          </a:solidFill>
          <a:ln w="25400">
            <a:solidFill>
              <a:srgbClr val="F2A740"/>
            </a:solidFill>
            <a:prstDash val="solid"/>
          </a:ln>
          <a:effectLst>
            <a:outerShdw sx="100000" sy="100000" kx="0" ky="0" algn="bl" rotWithShape="0" blurRad="127000" dist="50800" dir="5400000">
              <a:srgbClr val="4A3DC2">
                <a:alpha val="45000"/>
              </a:srgbClr>
            </a:outerShdw>
          </a:effectLst>
        </p:spPr>
      </p:sp>
      <p:pic>
        <p:nvPicPr>
          <p:cNvPr id="3" name="Image 0" descr="assets/ekanayake.jpg">    </p:cNvPr>
          <p:cNvPicPr>
            <a:picLocks noChangeAspect="1"/>
          </p:cNvPicPr>
          <p:nvPr/>
        </p:nvPicPr>
        <p:blipFill>
          <a:blip r:embed="rId2"/>
          <a:stretch>
            <a:fillRect/>
          </a:stretch>
        </p:blipFill>
        <p:spPr>
          <a:xfrm>
            <a:off x="10561320" y="457200"/>
            <a:ext cx="914400" cy="914400"/>
          </a:xfrm>
          <a:prstGeom prst="ellipse">
            <a:avLst/>
          </a:prstGeom>
        </p:spPr>
      </p:pic>
      <p:sp>
        <p:nvSpPr>
          <p:cNvPr id="4" name="Text 1"/>
          <p:cNvSpPr txBox="1"/>
          <p:nvPr/>
        </p:nvSpPr>
        <p:spPr>
          <a:xfrm>
            <a:off x="603504" y="493776"/>
            <a:ext cx="10058400" cy="274320"/>
          </a:xfrm>
          <a:prstGeom prst="rect">
            <a:avLst/>
          </a:prstGeom>
          <a:noFill/>
          <a:ln/>
        </p:spPr>
        <p:txBody>
          <a:bodyPr wrap="square" lIns="0" tIns="0" rIns="0" bIns="0" rtlCol="0" anchor="ctr"/>
          <a:lstStyle/>
          <a:p>
            <a:pPr indent="0" marL="0">
              <a:lnSpc>
                <a:spcPct val="100000"/>
              </a:lnSpc>
              <a:buNone/>
            </a:pPr>
            <a:r>
              <a:rPr lang="en-US" sz="1100" b="1" spc="260" kern="0" dirty="0">
                <a:solidFill>
                  <a:srgbClr val="9FE7C9"/>
                </a:solidFill>
                <a:latin typeface="Calibri" pitchFamily="34" charset="0"/>
                <a:ea typeface="Calibri" pitchFamily="34" charset="-122"/>
                <a:cs typeface="Calibri" pitchFamily="34" charset="-120"/>
              </a:rPr>
              <a:t>ADAPTIVE AI TUTOR  ·  COMPONENT DIAGRAM</a:t>
            </a:r>
            <a:endParaRPr lang="en-US" sz="1100" dirty="0"/>
          </a:p>
        </p:txBody>
      </p:sp>
      <p:sp>
        <p:nvSpPr>
          <p:cNvPr id="5" name="Text 2"/>
          <p:cNvSpPr txBox="1"/>
          <p:nvPr/>
        </p:nvSpPr>
        <p:spPr>
          <a:xfrm>
            <a:off x="566928" y="749808"/>
            <a:ext cx="9601200" cy="777240"/>
          </a:xfrm>
          <a:prstGeom prst="rect">
            <a:avLst/>
          </a:prstGeom>
          <a:noFill/>
          <a:ln/>
        </p:spPr>
        <p:txBody>
          <a:bodyPr wrap="square" lIns="0" tIns="0" rIns="0" bIns="0" rtlCol="0" anchor="ctr"/>
          <a:lstStyle/>
          <a:p>
            <a:pPr indent="0" marL="0">
              <a:lnSpc>
                <a:spcPct val="98000"/>
              </a:lnSpc>
              <a:buNone/>
            </a:pPr>
            <a:r>
              <a:rPr lang="en-US" sz="2200" b="1" dirty="0">
                <a:solidFill>
                  <a:srgbClr val="FFFFFF"/>
                </a:solidFill>
                <a:latin typeface="Calibri" pitchFamily="34" charset="0"/>
                <a:ea typeface="Calibri" pitchFamily="34" charset="-122"/>
                <a:cs typeface="Calibri" pitchFamily="34" charset="-120"/>
              </a:rPr>
              <a:t>Evolving Learner Model &amp; Adaptation Loop</a:t>
            </a:r>
            <a:endParaRPr lang="en-US" sz="2200" dirty="0"/>
          </a:p>
        </p:txBody>
      </p:sp>
      <p:sp>
        <p:nvSpPr>
          <p:cNvPr id="6" name="Text 3"/>
          <p:cNvSpPr txBox="1"/>
          <p:nvPr/>
        </p:nvSpPr>
        <p:spPr>
          <a:xfrm>
            <a:off x="566928" y="1920240"/>
            <a:ext cx="2286000" cy="219456"/>
          </a:xfrm>
          <a:prstGeom prst="rect">
            <a:avLst/>
          </a:prstGeom>
          <a:noFill/>
          <a:ln/>
        </p:spPr>
        <p:txBody>
          <a:bodyPr wrap="square" lIns="0" tIns="0" rIns="0" bIns="0" rtlCol="0" anchor="ctr"/>
          <a:lstStyle/>
          <a:p>
            <a:pPr indent="0" marL="0">
              <a:lnSpc>
                <a:spcPct val="100000"/>
              </a:lnSpc>
              <a:buNone/>
            </a:pPr>
            <a:r>
              <a:rPr lang="en-US" sz="950" b="1" spc="120" kern="0" dirty="0">
                <a:solidFill>
                  <a:srgbClr val="9FE7C9"/>
                </a:solidFill>
                <a:latin typeface="Calibri" pitchFamily="34" charset="0"/>
                <a:ea typeface="Calibri" pitchFamily="34" charset="-122"/>
                <a:cs typeface="Calibri" pitchFamily="34" charset="-120"/>
              </a:rPr>
              <a:t>EVIDENCE</a:t>
            </a:r>
            <a:endParaRPr lang="en-US" sz="950" dirty="0"/>
          </a:p>
        </p:txBody>
      </p:sp>
      <p:sp>
        <p:nvSpPr>
          <p:cNvPr id="7" name="Shape 4"/>
          <p:cNvSpPr/>
          <p:nvPr/>
        </p:nvSpPr>
        <p:spPr>
          <a:xfrm>
            <a:off x="566928" y="2231136"/>
            <a:ext cx="2514600" cy="548640"/>
          </a:xfrm>
          <a:prstGeom prst="roundRect">
            <a:avLst>
              <a:gd name="adj" fmla="val 18333"/>
            </a:avLst>
          </a:prstGeom>
          <a:solidFill>
            <a:srgbClr val="FFFFFF">
              <a:alpha val="12000"/>
            </a:srgbClr>
          </a:solidFill>
          <a:ln w="12700">
            <a:solidFill>
              <a:srgbClr val="FFFFFF">
                <a:alpha val="18000"/>
              </a:srgbClr>
            </a:solidFill>
            <a:prstDash val="solid"/>
          </a:ln>
          <a:effectLst>
            <a:outerShdw sx="100000" sy="100000" kx="0" ky="0" algn="bl" rotWithShape="0" blurRad="177800" dist="63500" dir="5400000">
              <a:srgbClr val="0B0920">
                <a:alpha val="45000"/>
              </a:srgbClr>
            </a:outerShdw>
          </a:effectLst>
        </p:spPr>
      </p:sp>
      <p:sp>
        <p:nvSpPr>
          <p:cNvPr id="8" name="Shape 5"/>
          <p:cNvSpPr/>
          <p:nvPr/>
        </p:nvSpPr>
        <p:spPr>
          <a:xfrm>
            <a:off x="768096" y="2459736"/>
            <a:ext cx="91440" cy="91440"/>
          </a:xfrm>
          <a:prstGeom prst="ellipse">
            <a:avLst/>
          </a:prstGeom>
          <a:solidFill>
            <a:srgbClr val="16C78C"/>
          </a:solidFill>
          <a:ln/>
        </p:spPr>
      </p:sp>
      <p:sp>
        <p:nvSpPr>
          <p:cNvPr id="9" name="Text 6"/>
          <p:cNvSpPr txBox="1"/>
          <p:nvPr/>
        </p:nvSpPr>
        <p:spPr>
          <a:xfrm>
            <a:off x="1024128" y="2231136"/>
            <a:ext cx="1965960" cy="548640"/>
          </a:xfrm>
          <a:prstGeom prst="rect">
            <a:avLst/>
          </a:prstGeom>
          <a:noFill/>
          <a:ln/>
        </p:spPr>
        <p:txBody>
          <a:bodyPr wrap="square" lIns="0" tIns="0" rIns="0" bIns="0" rtlCol="0" anchor="ctr"/>
          <a:lstStyle/>
          <a:p>
            <a:pPr indent="0" marL="0">
              <a:lnSpc>
                <a:spcPct val="100000"/>
              </a:lnSpc>
              <a:buNone/>
            </a:pPr>
            <a:r>
              <a:rPr lang="en-US" sz="1050" b="1" dirty="0">
                <a:solidFill>
                  <a:srgbClr val="FFFFFF"/>
                </a:solidFill>
                <a:latin typeface="Calibri" pitchFamily="34" charset="0"/>
                <a:ea typeface="Calibri" pitchFamily="34" charset="-122"/>
                <a:cs typeface="Calibri" pitchFamily="34" charset="-120"/>
              </a:rPr>
              <a:t>Learning activity</a:t>
            </a:r>
            <a:endParaRPr lang="en-US" sz="1050" dirty="0"/>
          </a:p>
        </p:txBody>
      </p:sp>
      <p:sp>
        <p:nvSpPr>
          <p:cNvPr id="10" name="Shape 7"/>
          <p:cNvSpPr/>
          <p:nvPr/>
        </p:nvSpPr>
        <p:spPr>
          <a:xfrm>
            <a:off x="3127248" y="2505456"/>
            <a:ext cx="457200" cy="0"/>
          </a:xfrm>
          <a:prstGeom prst="line">
            <a:avLst/>
          </a:prstGeom>
          <a:noFill/>
          <a:ln w="22225">
            <a:solidFill>
              <a:srgbClr val="7E6CF4"/>
            </a:solidFill>
            <a:prstDash val="solid"/>
            <a:tailEnd type="triangle"/>
          </a:ln>
        </p:spPr>
      </p:sp>
      <p:sp>
        <p:nvSpPr>
          <p:cNvPr id="11" name="Shape 8"/>
          <p:cNvSpPr/>
          <p:nvPr/>
        </p:nvSpPr>
        <p:spPr>
          <a:xfrm>
            <a:off x="566928" y="2889504"/>
            <a:ext cx="2514600" cy="548640"/>
          </a:xfrm>
          <a:prstGeom prst="roundRect">
            <a:avLst>
              <a:gd name="adj" fmla="val 18333"/>
            </a:avLst>
          </a:prstGeom>
          <a:solidFill>
            <a:srgbClr val="FFFFFF">
              <a:alpha val="12000"/>
            </a:srgbClr>
          </a:solidFill>
          <a:ln w="12700">
            <a:solidFill>
              <a:srgbClr val="FFFFFF">
                <a:alpha val="18000"/>
              </a:srgbClr>
            </a:solidFill>
            <a:prstDash val="solid"/>
          </a:ln>
          <a:effectLst>
            <a:outerShdw sx="100000" sy="100000" kx="0" ky="0" algn="bl" rotWithShape="0" blurRad="177800" dist="63500" dir="5400000">
              <a:srgbClr val="0B0920">
                <a:alpha val="45000"/>
              </a:srgbClr>
            </a:outerShdw>
          </a:effectLst>
        </p:spPr>
      </p:sp>
      <p:sp>
        <p:nvSpPr>
          <p:cNvPr id="12" name="Shape 9"/>
          <p:cNvSpPr/>
          <p:nvPr/>
        </p:nvSpPr>
        <p:spPr>
          <a:xfrm>
            <a:off x="768096" y="3118104"/>
            <a:ext cx="91440" cy="91440"/>
          </a:xfrm>
          <a:prstGeom prst="ellipse">
            <a:avLst/>
          </a:prstGeom>
          <a:solidFill>
            <a:srgbClr val="16C78C"/>
          </a:solidFill>
          <a:ln/>
        </p:spPr>
      </p:sp>
      <p:sp>
        <p:nvSpPr>
          <p:cNvPr id="13" name="Text 10"/>
          <p:cNvSpPr txBox="1"/>
          <p:nvPr/>
        </p:nvSpPr>
        <p:spPr>
          <a:xfrm>
            <a:off x="1024128" y="2889504"/>
            <a:ext cx="1965960" cy="548640"/>
          </a:xfrm>
          <a:prstGeom prst="rect">
            <a:avLst/>
          </a:prstGeom>
          <a:noFill/>
          <a:ln/>
        </p:spPr>
        <p:txBody>
          <a:bodyPr wrap="square" lIns="0" tIns="0" rIns="0" bIns="0" rtlCol="0" anchor="ctr"/>
          <a:lstStyle/>
          <a:p>
            <a:pPr indent="0" marL="0">
              <a:lnSpc>
                <a:spcPct val="100000"/>
              </a:lnSpc>
              <a:buNone/>
            </a:pPr>
            <a:r>
              <a:rPr lang="en-US" sz="1050" b="1" dirty="0">
                <a:solidFill>
                  <a:srgbClr val="FFFFFF"/>
                </a:solidFill>
                <a:latin typeface="Calibri" pitchFamily="34" charset="0"/>
                <a:ea typeface="Calibri" pitchFamily="34" charset="-122"/>
                <a:cs typeface="Calibri" pitchFamily="34" charset="-120"/>
              </a:rPr>
              <a:t>Assessment results</a:t>
            </a:r>
            <a:endParaRPr lang="en-US" sz="1050" dirty="0"/>
          </a:p>
        </p:txBody>
      </p:sp>
      <p:sp>
        <p:nvSpPr>
          <p:cNvPr id="14" name="Shape 11"/>
          <p:cNvSpPr/>
          <p:nvPr/>
        </p:nvSpPr>
        <p:spPr>
          <a:xfrm>
            <a:off x="3127248" y="3163824"/>
            <a:ext cx="457200" cy="0"/>
          </a:xfrm>
          <a:prstGeom prst="line">
            <a:avLst/>
          </a:prstGeom>
          <a:noFill/>
          <a:ln w="22225">
            <a:solidFill>
              <a:srgbClr val="7E6CF4"/>
            </a:solidFill>
            <a:prstDash val="solid"/>
            <a:tailEnd type="triangle"/>
          </a:ln>
        </p:spPr>
      </p:sp>
      <p:sp>
        <p:nvSpPr>
          <p:cNvPr id="15" name="Shape 12"/>
          <p:cNvSpPr/>
          <p:nvPr/>
        </p:nvSpPr>
        <p:spPr>
          <a:xfrm>
            <a:off x="566928" y="3547872"/>
            <a:ext cx="2514600" cy="548640"/>
          </a:xfrm>
          <a:prstGeom prst="roundRect">
            <a:avLst>
              <a:gd name="adj" fmla="val 18333"/>
            </a:avLst>
          </a:prstGeom>
          <a:solidFill>
            <a:srgbClr val="FFFFFF">
              <a:alpha val="12000"/>
            </a:srgbClr>
          </a:solidFill>
          <a:ln w="12700">
            <a:solidFill>
              <a:srgbClr val="FFFFFF">
                <a:alpha val="18000"/>
              </a:srgbClr>
            </a:solidFill>
            <a:prstDash val="solid"/>
          </a:ln>
          <a:effectLst>
            <a:outerShdw sx="100000" sy="100000" kx="0" ky="0" algn="bl" rotWithShape="0" blurRad="177800" dist="63500" dir="5400000">
              <a:srgbClr val="0B0920">
                <a:alpha val="45000"/>
              </a:srgbClr>
            </a:outerShdw>
          </a:effectLst>
        </p:spPr>
      </p:sp>
      <p:sp>
        <p:nvSpPr>
          <p:cNvPr id="16" name="Shape 13"/>
          <p:cNvSpPr/>
          <p:nvPr/>
        </p:nvSpPr>
        <p:spPr>
          <a:xfrm>
            <a:off x="768096" y="3776472"/>
            <a:ext cx="91440" cy="91440"/>
          </a:xfrm>
          <a:prstGeom prst="ellipse">
            <a:avLst/>
          </a:prstGeom>
          <a:solidFill>
            <a:srgbClr val="16C78C"/>
          </a:solidFill>
          <a:ln/>
        </p:spPr>
      </p:sp>
      <p:sp>
        <p:nvSpPr>
          <p:cNvPr id="17" name="Text 14"/>
          <p:cNvSpPr txBox="1"/>
          <p:nvPr/>
        </p:nvSpPr>
        <p:spPr>
          <a:xfrm>
            <a:off x="1024128" y="3547872"/>
            <a:ext cx="1965960" cy="548640"/>
          </a:xfrm>
          <a:prstGeom prst="rect">
            <a:avLst/>
          </a:prstGeom>
          <a:noFill/>
          <a:ln/>
        </p:spPr>
        <p:txBody>
          <a:bodyPr wrap="square" lIns="0" tIns="0" rIns="0" bIns="0" rtlCol="0" anchor="ctr"/>
          <a:lstStyle/>
          <a:p>
            <a:pPr indent="0" marL="0">
              <a:lnSpc>
                <a:spcPct val="100000"/>
              </a:lnSpc>
              <a:buNone/>
            </a:pPr>
            <a:r>
              <a:rPr lang="en-US" sz="1050" b="1" dirty="0">
                <a:solidFill>
                  <a:srgbClr val="FFFFFF"/>
                </a:solidFill>
                <a:latin typeface="Calibri" pitchFamily="34" charset="0"/>
                <a:ea typeface="Calibri" pitchFamily="34" charset="-122"/>
                <a:cs typeface="Calibri" pitchFamily="34" charset="-120"/>
              </a:rPr>
              <a:t>Behaviour &amp; progress</a:t>
            </a:r>
            <a:endParaRPr lang="en-US" sz="1050" dirty="0"/>
          </a:p>
        </p:txBody>
      </p:sp>
      <p:sp>
        <p:nvSpPr>
          <p:cNvPr id="18" name="Shape 15"/>
          <p:cNvSpPr/>
          <p:nvPr/>
        </p:nvSpPr>
        <p:spPr>
          <a:xfrm>
            <a:off x="3127248" y="3822192"/>
            <a:ext cx="457200" cy="0"/>
          </a:xfrm>
          <a:prstGeom prst="line">
            <a:avLst/>
          </a:prstGeom>
          <a:noFill/>
          <a:ln w="22225">
            <a:solidFill>
              <a:srgbClr val="7E6CF4"/>
            </a:solidFill>
            <a:prstDash val="solid"/>
            <a:tailEnd type="triangle"/>
          </a:ln>
        </p:spPr>
      </p:sp>
      <p:sp>
        <p:nvSpPr>
          <p:cNvPr id="19" name="Shape 16"/>
          <p:cNvSpPr/>
          <p:nvPr/>
        </p:nvSpPr>
        <p:spPr>
          <a:xfrm>
            <a:off x="566928" y="4206240"/>
            <a:ext cx="2514600" cy="548640"/>
          </a:xfrm>
          <a:prstGeom prst="roundRect">
            <a:avLst>
              <a:gd name="adj" fmla="val 18333"/>
            </a:avLst>
          </a:prstGeom>
          <a:solidFill>
            <a:srgbClr val="FFFFFF">
              <a:alpha val="12000"/>
            </a:srgbClr>
          </a:solidFill>
          <a:ln w="12700">
            <a:solidFill>
              <a:srgbClr val="FFFFFF">
                <a:alpha val="18000"/>
              </a:srgbClr>
            </a:solidFill>
            <a:prstDash val="solid"/>
          </a:ln>
          <a:effectLst>
            <a:outerShdw sx="100000" sy="100000" kx="0" ky="0" algn="bl" rotWithShape="0" blurRad="177800" dist="63500" dir="5400000">
              <a:srgbClr val="0B0920">
                <a:alpha val="45000"/>
              </a:srgbClr>
            </a:outerShdw>
          </a:effectLst>
        </p:spPr>
      </p:sp>
      <p:sp>
        <p:nvSpPr>
          <p:cNvPr id="20" name="Shape 17"/>
          <p:cNvSpPr/>
          <p:nvPr/>
        </p:nvSpPr>
        <p:spPr>
          <a:xfrm>
            <a:off x="768096" y="4434840"/>
            <a:ext cx="91440" cy="91440"/>
          </a:xfrm>
          <a:prstGeom prst="ellipse">
            <a:avLst/>
          </a:prstGeom>
          <a:solidFill>
            <a:srgbClr val="16C78C"/>
          </a:solidFill>
          <a:ln/>
        </p:spPr>
      </p:sp>
      <p:sp>
        <p:nvSpPr>
          <p:cNvPr id="21" name="Text 18"/>
          <p:cNvSpPr txBox="1"/>
          <p:nvPr/>
        </p:nvSpPr>
        <p:spPr>
          <a:xfrm>
            <a:off x="1024128" y="4206240"/>
            <a:ext cx="1965960" cy="548640"/>
          </a:xfrm>
          <a:prstGeom prst="rect">
            <a:avLst/>
          </a:prstGeom>
          <a:noFill/>
          <a:ln/>
        </p:spPr>
        <p:txBody>
          <a:bodyPr wrap="square" lIns="0" tIns="0" rIns="0" bIns="0" rtlCol="0" anchor="ctr"/>
          <a:lstStyle/>
          <a:p>
            <a:pPr indent="0" marL="0">
              <a:lnSpc>
                <a:spcPct val="100000"/>
              </a:lnSpc>
              <a:buNone/>
            </a:pPr>
            <a:r>
              <a:rPr lang="en-US" sz="1050" b="1" dirty="0">
                <a:solidFill>
                  <a:srgbClr val="FFFFFF"/>
                </a:solidFill>
                <a:latin typeface="Calibri" pitchFamily="34" charset="0"/>
                <a:ea typeface="Calibri" pitchFamily="34" charset="-122"/>
                <a:cs typeface="Calibri" pitchFamily="34" charset="-120"/>
              </a:rPr>
              <a:t>Project / sprint context</a:t>
            </a:r>
            <a:endParaRPr lang="en-US" sz="1050" dirty="0"/>
          </a:p>
        </p:txBody>
      </p:sp>
      <p:sp>
        <p:nvSpPr>
          <p:cNvPr id="22" name="Shape 19"/>
          <p:cNvSpPr/>
          <p:nvPr/>
        </p:nvSpPr>
        <p:spPr>
          <a:xfrm>
            <a:off x="3127248" y="4480560"/>
            <a:ext cx="457200" cy="0"/>
          </a:xfrm>
          <a:prstGeom prst="line">
            <a:avLst/>
          </a:prstGeom>
          <a:noFill/>
          <a:ln w="22225">
            <a:solidFill>
              <a:srgbClr val="7E6CF4"/>
            </a:solidFill>
            <a:prstDash val="solid"/>
            <a:tailEnd type="triangle"/>
          </a:ln>
        </p:spPr>
      </p:sp>
      <p:sp>
        <p:nvSpPr>
          <p:cNvPr id="23" name="Shape 20"/>
          <p:cNvSpPr/>
          <p:nvPr/>
        </p:nvSpPr>
        <p:spPr>
          <a:xfrm>
            <a:off x="3675888" y="2231136"/>
            <a:ext cx="2926080" cy="2724912"/>
          </a:xfrm>
          <a:prstGeom prst="roundRect">
            <a:avLst>
              <a:gd name="adj" fmla="val 4027"/>
            </a:avLst>
          </a:prstGeom>
          <a:solidFill>
            <a:srgbClr val="4A3DC2"/>
          </a:solidFill>
          <a:ln w="15240">
            <a:solidFill>
              <a:srgbClr val="6E5CF0"/>
            </a:solidFill>
            <a:prstDash val="solid"/>
          </a:ln>
          <a:effectLst>
            <a:outerShdw sx="100000" sy="100000" kx="0" ky="0" algn="bl" rotWithShape="0" blurRad="127000" dist="50800" dir="5400000">
              <a:srgbClr val="6E5CF0">
                <a:alpha val="45000"/>
              </a:srgbClr>
            </a:outerShdw>
          </a:effectLst>
        </p:spPr>
      </p:sp>
      <p:sp>
        <p:nvSpPr>
          <p:cNvPr id="24" name="Shape 21"/>
          <p:cNvSpPr/>
          <p:nvPr/>
        </p:nvSpPr>
        <p:spPr>
          <a:xfrm>
            <a:off x="4800600" y="2468880"/>
            <a:ext cx="676656" cy="676656"/>
          </a:xfrm>
          <a:prstGeom prst="ellipse">
            <a:avLst/>
          </a:prstGeom>
          <a:solidFill>
            <a:srgbClr val="5A47CE"/>
          </a:solidFill>
          <a:ln w="17780">
            <a:solidFill>
              <a:srgbClr val="7E6CF4"/>
            </a:solidFill>
            <a:prstDash val="solid"/>
          </a:ln>
          <a:effectLst>
            <a:outerShdw sx="100000" sy="100000" kx="0" ky="0" algn="bl" rotWithShape="0" blurRad="127000" dist="50800" dir="5400000">
              <a:srgbClr val="7E6CF4">
                <a:alpha val="45000"/>
              </a:srgbClr>
            </a:outerShdw>
          </a:effectLst>
        </p:spPr>
      </p:sp>
      <p:pic>
        <p:nvPicPr>
          <p:cNvPr id="25" name="Image 1" descr="assets/icons/share_w.png">    </p:cNvPr>
          <p:cNvPicPr>
            <a:picLocks noChangeAspect="1"/>
          </p:cNvPicPr>
          <p:nvPr/>
        </p:nvPicPr>
        <p:blipFill>
          <a:blip r:embed="rId3"/>
          <a:stretch>
            <a:fillRect/>
          </a:stretch>
        </p:blipFill>
        <p:spPr>
          <a:xfrm>
            <a:off x="4990064" y="2658344"/>
            <a:ext cx="297729" cy="297729"/>
          </a:xfrm>
          <a:prstGeom prst="rect">
            <a:avLst/>
          </a:prstGeom>
        </p:spPr>
      </p:pic>
      <p:sp>
        <p:nvSpPr>
          <p:cNvPr id="26" name="Text 22"/>
          <p:cNvSpPr txBox="1"/>
          <p:nvPr/>
        </p:nvSpPr>
        <p:spPr>
          <a:xfrm>
            <a:off x="3858768" y="3218688"/>
            <a:ext cx="2560320" cy="274320"/>
          </a:xfrm>
          <a:prstGeom prst="rect">
            <a:avLst/>
          </a:prstGeom>
          <a:noFill/>
          <a:ln/>
        </p:spPr>
        <p:txBody>
          <a:bodyPr wrap="square" lIns="0" tIns="0" rIns="0" bIns="0" rtlCol="0" anchor="ctr"/>
          <a:lstStyle/>
          <a:p>
            <a:pPr algn="ctr" indent="0" marL="0">
              <a:lnSpc>
                <a:spcPct val="100000"/>
              </a:lnSpc>
              <a:buNone/>
            </a:pPr>
            <a:r>
              <a:rPr lang="en-US" sz="1400" b="1" dirty="0">
                <a:solidFill>
                  <a:srgbClr val="FFFFFF"/>
                </a:solidFill>
                <a:latin typeface="Calibri" pitchFamily="34" charset="0"/>
                <a:ea typeface="Calibri" pitchFamily="34" charset="-122"/>
                <a:cs typeface="Calibri" pitchFamily="34" charset="-120"/>
              </a:rPr>
              <a:t>Dynamic Learner Model</a:t>
            </a:r>
            <a:endParaRPr lang="en-US" sz="1400" dirty="0"/>
          </a:p>
        </p:txBody>
      </p:sp>
      <p:sp>
        <p:nvSpPr>
          <p:cNvPr id="27" name="Text 23"/>
          <p:cNvSpPr txBox="1"/>
          <p:nvPr/>
        </p:nvSpPr>
        <p:spPr>
          <a:xfrm>
            <a:off x="3968496" y="3566160"/>
            <a:ext cx="2377440" cy="365760"/>
          </a:xfrm>
          <a:prstGeom prst="rect">
            <a:avLst/>
          </a:prstGeom>
          <a:noFill/>
          <a:ln/>
        </p:spPr>
        <p:txBody>
          <a:bodyPr wrap="square" lIns="0" tIns="0" rIns="0" bIns="0" rtlCol="0" anchor="ctr"/>
          <a:lstStyle/>
          <a:p>
            <a:pPr indent="0" marL="0">
              <a:lnSpc>
                <a:spcPct val="90000"/>
              </a:lnSpc>
              <a:buNone/>
            </a:pPr>
            <a:r>
              <a:rPr lang="en-US" sz="1000" dirty="0">
                <a:solidFill>
                  <a:srgbClr val="E7E3FF"/>
                </a:solidFill>
                <a:latin typeface="Calibri" pitchFamily="34" charset="0"/>
                <a:ea typeface="Calibri" pitchFamily="34" charset="-122"/>
                <a:cs typeface="Calibri" pitchFamily="34" charset="-120"/>
              </a:rPr>
              <a:t>•  Course &amp; Student Knowledge Graphs (Neo4j)</a:t>
            </a:r>
            <a:endParaRPr lang="en-US" sz="1000" dirty="0"/>
          </a:p>
        </p:txBody>
      </p:sp>
      <p:sp>
        <p:nvSpPr>
          <p:cNvPr id="28" name="Text 24"/>
          <p:cNvSpPr txBox="1"/>
          <p:nvPr/>
        </p:nvSpPr>
        <p:spPr>
          <a:xfrm>
            <a:off x="3968496" y="3950208"/>
            <a:ext cx="2377440" cy="365760"/>
          </a:xfrm>
          <a:prstGeom prst="rect">
            <a:avLst/>
          </a:prstGeom>
          <a:noFill/>
          <a:ln/>
        </p:spPr>
        <p:txBody>
          <a:bodyPr wrap="square" lIns="0" tIns="0" rIns="0" bIns="0" rtlCol="0" anchor="ctr"/>
          <a:lstStyle/>
          <a:p>
            <a:pPr indent="0" marL="0">
              <a:lnSpc>
                <a:spcPct val="90000"/>
              </a:lnSpc>
              <a:buNone/>
            </a:pPr>
            <a:r>
              <a:rPr lang="en-US" sz="1000" dirty="0">
                <a:solidFill>
                  <a:srgbClr val="E7E3FF"/>
                </a:solidFill>
                <a:latin typeface="Calibri" pitchFamily="34" charset="0"/>
                <a:ea typeface="Calibri" pitchFamily="34" charset="-122"/>
                <a:cs typeface="Calibri" pitchFamily="34" charset="-120"/>
              </a:rPr>
              <a:t>•  Bayesian mastery estimation (BKT)</a:t>
            </a:r>
            <a:endParaRPr lang="en-US" sz="1000" dirty="0"/>
          </a:p>
        </p:txBody>
      </p:sp>
      <p:sp>
        <p:nvSpPr>
          <p:cNvPr id="29" name="Text 25"/>
          <p:cNvSpPr txBox="1"/>
          <p:nvPr/>
        </p:nvSpPr>
        <p:spPr>
          <a:xfrm>
            <a:off x="3968496" y="4334256"/>
            <a:ext cx="2377440" cy="365760"/>
          </a:xfrm>
          <a:prstGeom prst="rect">
            <a:avLst/>
          </a:prstGeom>
          <a:noFill/>
          <a:ln/>
        </p:spPr>
        <p:txBody>
          <a:bodyPr wrap="square" lIns="0" tIns="0" rIns="0" bIns="0" rtlCol="0" anchor="ctr"/>
          <a:lstStyle/>
          <a:p>
            <a:pPr indent="0" marL="0">
              <a:lnSpc>
                <a:spcPct val="90000"/>
              </a:lnSpc>
              <a:buNone/>
            </a:pPr>
            <a:r>
              <a:rPr lang="en-US" sz="1000" dirty="0">
                <a:solidFill>
                  <a:srgbClr val="E7E3FF"/>
                </a:solidFill>
                <a:latin typeface="Calibri" pitchFamily="34" charset="0"/>
                <a:ea typeface="Calibri" pitchFamily="34" charset="-122"/>
                <a:cs typeface="Calibri" pitchFamily="34" charset="-120"/>
              </a:rPr>
              <a:t>•  Multi-dimensional learner state</a:t>
            </a:r>
            <a:endParaRPr lang="en-US" sz="1000" dirty="0"/>
          </a:p>
        </p:txBody>
      </p:sp>
      <p:sp>
        <p:nvSpPr>
          <p:cNvPr id="30" name="Shape 26"/>
          <p:cNvSpPr/>
          <p:nvPr/>
        </p:nvSpPr>
        <p:spPr>
          <a:xfrm>
            <a:off x="6638544" y="3566160"/>
            <a:ext cx="457200" cy="0"/>
          </a:xfrm>
          <a:prstGeom prst="line">
            <a:avLst/>
          </a:prstGeom>
          <a:noFill/>
          <a:ln w="22225">
            <a:solidFill>
              <a:srgbClr val="7E6CF4"/>
            </a:solidFill>
            <a:prstDash val="solid"/>
            <a:tailEnd type="triangle"/>
          </a:ln>
        </p:spPr>
      </p:sp>
      <p:sp>
        <p:nvSpPr>
          <p:cNvPr id="31" name="Text 27"/>
          <p:cNvSpPr txBox="1"/>
          <p:nvPr/>
        </p:nvSpPr>
        <p:spPr>
          <a:xfrm>
            <a:off x="7150608" y="1920240"/>
            <a:ext cx="2286000" cy="219456"/>
          </a:xfrm>
          <a:prstGeom prst="rect">
            <a:avLst/>
          </a:prstGeom>
          <a:noFill/>
          <a:ln/>
        </p:spPr>
        <p:txBody>
          <a:bodyPr wrap="square" lIns="0" tIns="0" rIns="0" bIns="0" rtlCol="0" anchor="ctr"/>
          <a:lstStyle/>
          <a:p>
            <a:pPr indent="0" marL="0">
              <a:lnSpc>
                <a:spcPct val="100000"/>
              </a:lnSpc>
              <a:buNone/>
            </a:pPr>
            <a:r>
              <a:rPr lang="en-US" sz="950" b="1" spc="120" kern="0" dirty="0">
                <a:solidFill>
                  <a:srgbClr val="9FE7C9"/>
                </a:solidFill>
                <a:latin typeface="Calibri" pitchFamily="34" charset="0"/>
                <a:ea typeface="Calibri" pitchFamily="34" charset="-122"/>
                <a:cs typeface="Calibri" pitchFamily="34" charset="-120"/>
              </a:rPr>
              <a:t>ADAPTS</a:t>
            </a:r>
            <a:endParaRPr lang="en-US" sz="950" dirty="0"/>
          </a:p>
        </p:txBody>
      </p:sp>
      <p:sp>
        <p:nvSpPr>
          <p:cNvPr id="32" name="Shape 28"/>
          <p:cNvSpPr/>
          <p:nvPr/>
        </p:nvSpPr>
        <p:spPr>
          <a:xfrm>
            <a:off x="7150608" y="2231136"/>
            <a:ext cx="2697480" cy="731520"/>
          </a:xfrm>
          <a:prstGeom prst="roundRect">
            <a:avLst>
              <a:gd name="adj" fmla="val 13750"/>
            </a:avLst>
          </a:prstGeom>
          <a:solidFill>
            <a:srgbClr val="FFFFFF">
              <a:alpha val="12000"/>
            </a:srgbClr>
          </a:solidFill>
          <a:ln w="12700">
            <a:solidFill>
              <a:srgbClr val="FFFFFF">
                <a:alpha val="18000"/>
              </a:srgbClr>
            </a:solidFill>
            <a:prstDash val="solid"/>
          </a:ln>
          <a:effectLst>
            <a:outerShdw sx="100000" sy="100000" kx="0" ky="0" algn="bl" rotWithShape="0" blurRad="177800" dist="63500" dir="5400000">
              <a:srgbClr val="0B0920">
                <a:alpha val="45000"/>
              </a:srgbClr>
            </a:outerShdw>
          </a:effectLst>
        </p:spPr>
      </p:sp>
      <p:sp>
        <p:nvSpPr>
          <p:cNvPr id="33" name="Shape 29"/>
          <p:cNvSpPr/>
          <p:nvPr/>
        </p:nvSpPr>
        <p:spPr>
          <a:xfrm>
            <a:off x="7315200" y="2377440"/>
            <a:ext cx="438912" cy="438912"/>
          </a:xfrm>
          <a:prstGeom prst="ellipse">
            <a:avLst/>
          </a:prstGeom>
          <a:solidFill>
            <a:srgbClr val="5A47CE"/>
          </a:solidFill>
          <a:ln w="17780">
            <a:solidFill>
              <a:srgbClr val="7E6CF4"/>
            </a:solidFill>
            <a:prstDash val="solid"/>
          </a:ln>
          <a:effectLst>
            <a:outerShdw sx="100000" sy="100000" kx="0" ky="0" algn="bl" rotWithShape="0" blurRad="127000" dist="50800" dir="5400000">
              <a:srgbClr val="7E6CF4">
                <a:alpha val="45000"/>
              </a:srgbClr>
            </a:outerShdw>
          </a:effectLst>
        </p:spPr>
      </p:sp>
      <p:pic>
        <p:nvPicPr>
          <p:cNvPr id="34" name="Image 2" descr="assets/icons/book_w.png">    </p:cNvPr>
          <p:cNvPicPr>
            <a:picLocks noChangeAspect="1"/>
          </p:cNvPicPr>
          <p:nvPr/>
        </p:nvPicPr>
        <p:blipFill>
          <a:blip r:embed="rId4"/>
          <a:stretch>
            <a:fillRect/>
          </a:stretch>
        </p:blipFill>
        <p:spPr>
          <a:xfrm>
            <a:off x="7438095" y="2500335"/>
            <a:ext cx="193121" cy="193121"/>
          </a:xfrm>
          <a:prstGeom prst="rect">
            <a:avLst/>
          </a:prstGeom>
        </p:spPr>
      </p:pic>
      <p:sp>
        <p:nvSpPr>
          <p:cNvPr id="35" name="Text 30"/>
          <p:cNvSpPr txBox="1"/>
          <p:nvPr/>
        </p:nvSpPr>
        <p:spPr>
          <a:xfrm>
            <a:off x="7863840" y="2231136"/>
            <a:ext cx="1874520" cy="731520"/>
          </a:xfrm>
          <a:prstGeom prst="rect">
            <a:avLst/>
          </a:prstGeom>
          <a:noFill/>
          <a:ln/>
        </p:spPr>
        <p:txBody>
          <a:bodyPr wrap="square" lIns="0" tIns="0" rIns="0" bIns="0" rtlCol="0" anchor="ctr"/>
          <a:lstStyle/>
          <a:p>
            <a:pPr indent="0" marL="0">
              <a:lnSpc>
                <a:spcPct val="92000"/>
              </a:lnSpc>
              <a:buNone/>
            </a:pPr>
            <a:r>
              <a:rPr lang="en-US" sz="1100" b="1" dirty="0">
                <a:solidFill>
                  <a:srgbClr val="FFFFFF"/>
                </a:solidFill>
                <a:latin typeface="Calibri" pitchFamily="34" charset="0"/>
                <a:ea typeface="Calibri" pitchFamily="34" charset="-122"/>
                <a:cs typeface="Calibri" pitchFamily="34" charset="-120"/>
              </a:rPr>
              <a:t>Personalized learning paths</a:t>
            </a:r>
            <a:endParaRPr lang="en-US" sz="1100" dirty="0"/>
          </a:p>
        </p:txBody>
      </p:sp>
      <p:sp>
        <p:nvSpPr>
          <p:cNvPr id="36" name="Shape 31"/>
          <p:cNvSpPr/>
          <p:nvPr/>
        </p:nvSpPr>
        <p:spPr>
          <a:xfrm>
            <a:off x="7150608" y="3099816"/>
            <a:ext cx="2697480" cy="731520"/>
          </a:xfrm>
          <a:prstGeom prst="roundRect">
            <a:avLst>
              <a:gd name="adj" fmla="val 13750"/>
            </a:avLst>
          </a:prstGeom>
          <a:solidFill>
            <a:srgbClr val="FFFFFF">
              <a:alpha val="12000"/>
            </a:srgbClr>
          </a:solidFill>
          <a:ln w="12700">
            <a:solidFill>
              <a:srgbClr val="FFFFFF">
                <a:alpha val="18000"/>
              </a:srgbClr>
            </a:solidFill>
            <a:prstDash val="solid"/>
          </a:ln>
          <a:effectLst>
            <a:outerShdw sx="100000" sy="100000" kx="0" ky="0" algn="bl" rotWithShape="0" blurRad="177800" dist="63500" dir="5400000">
              <a:srgbClr val="0B0920">
                <a:alpha val="45000"/>
              </a:srgbClr>
            </a:outerShdw>
          </a:effectLst>
        </p:spPr>
      </p:sp>
      <p:sp>
        <p:nvSpPr>
          <p:cNvPr id="37" name="Shape 32"/>
          <p:cNvSpPr/>
          <p:nvPr/>
        </p:nvSpPr>
        <p:spPr>
          <a:xfrm>
            <a:off x="7315200" y="3246120"/>
            <a:ext cx="438912" cy="438912"/>
          </a:xfrm>
          <a:prstGeom prst="ellipse">
            <a:avLst/>
          </a:prstGeom>
          <a:solidFill>
            <a:srgbClr val="1E9BA1"/>
          </a:solidFill>
          <a:ln w="17780">
            <a:solidFill>
              <a:srgbClr val="38C6CC"/>
            </a:solidFill>
            <a:prstDash val="solid"/>
          </a:ln>
          <a:effectLst>
            <a:outerShdw sx="100000" sy="100000" kx="0" ky="0" algn="bl" rotWithShape="0" blurRad="127000" dist="50800" dir="5400000">
              <a:srgbClr val="38C6CC">
                <a:alpha val="45000"/>
              </a:srgbClr>
            </a:outerShdw>
          </a:effectLst>
        </p:spPr>
      </p:sp>
      <p:pic>
        <p:nvPicPr>
          <p:cNvPr id="38" name="Image 3" descr="assets/icons/compass_w.png">    </p:cNvPr>
          <p:cNvPicPr>
            <a:picLocks noChangeAspect="1"/>
          </p:cNvPicPr>
          <p:nvPr/>
        </p:nvPicPr>
        <p:blipFill>
          <a:blip r:embed="rId5"/>
          <a:stretch>
            <a:fillRect/>
          </a:stretch>
        </p:blipFill>
        <p:spPr>
          <a:xfrm>
            <a:off x="7438095" y="3369015"/>
            <a:ext cx="193121" cy="193121"/>
          </a:xfrm>
          <a:prstGeom prst="rect">
            <a:avLst/>
          </a:prstGeom>
        </p:spPr>
      </p:pic>
      <p:sp>
        <p:nvSpPr>
          <p:cNvPr id="39" name="Text 33"/>
          <p:cNvSpPr txBox="1"/>
          <p:nvPr/>
        </p:nvSpPr>
        <p:spPr>
          <a:xfrm>
            <a:off x="7863840" y="3099816"/>
            <a:ext cx="1874520" cy="731520"/>
          </a:xfrm>
          <a:prstGeom prst="rect">
            <a:avLst/>
          </a:prstGeom>
          <a:noFill/>
          <a:ln/>
        </p:spPr>
        <p:txBody>
          <a:bodyPr wrap="square" lIns="0" tIns="0" rIns="0" bIns="0" rtlCol="0" anchor="ctr"/>
          <a:lstStyle/>
          <a:p>
            <a:pPr indent="0" marL="0">
              <a:lnSpc>
                <a:spcPct val="92000"/>
              </a:lnSpc>
              <a:buNone/>
            </a:pPr>
            <a:r>
              <a:rPr lang="en-US" sz="1100" b="1" dirty="0">
                <a:solidFill>
                  <a:srgbClr val="FFFFFF"/>
                </a:solidFill>
                <a:latin typeface="Calibri" pitchFamily="34" charset="0"/>
                <a:ea typeface="Calibri" pitchFamily="34" charset="-122"/>
                <a:cs typeface="Calibri" pitchFamily="34" charset="-120"/>
              </a:rPr>
              <a:t>Project-aware guidance</a:t>
            </a:r>
            <a:endParaRPr lang="en-US" sz="1100" dirty="0"/>
          </a:p>
        </p:txBody>
      </p:sp>
      <p:sp>
        <p:nvSpPr>
          <p:cNvPr id="40" name="Shape 34"/>
          <p:cNvSpPr/>
          <p:nvPr/>
        </p:nvSpPr>
        <p:spPr>
          <a:xfrm>
            <a:off x="7150608" y="3968496"/>
            <a:ext cx="2697480" cy="731520"/>
          </a:xfrm>
          <a:prstGeom prst="roundRect">
            <a:avLst>
              <a:gd name="adj" fmla="val 13750"/>
            </a:avLst>
          </a:prstGeom>
          <a:solidFill>
            <a:srgbClr val="FFFFFF">
              <a:alpha val="12000"/>
            </a:srgbClr>
          </a:solidFill>
          <a:ln w="12700">
            <a:solidFill>
              <a:srgbClr val="FFFFFF">
                <a:alpha val="18000"/>
              </a:srgbClr>
            </a:solidFill>
            <a:prstDash val="solid"/>
          </a:ln>
          <a:effectLst>
            <a:outerShdw sx="100000" sy="100000" kx="0" ky="0" algn="bl" rotWithShape="0" blurRad="177800" dist="63500" dir="5400000">
              <a:srgbClr val="0B0920">
                <a:alpha val="45000"/>
              </a:srgbClr>
            </a:outerShdw>
          </a:effectLst>
        </p:spPr>
      </p:sp>
      <p:sp>
        <p:nvSpPr>
          <p:cNvPr id="41" name="Shape 35"/>
          <p:cNvSpPr/>
          <p:nvPr/>
        </p:nvSpPr>
        <p:spPr>
          <a:xfrm>
            <a:off x="7315200" y="4114800"/>
            <a:ext cx="438912" cy="438912"/>
          </a:xfrm>
          <a:prstGeom prst="ellipse">
            <a:avLst/>
          </a:prstGeom>
          <a:solidFill>
            <a:srgbClr val="E0891C"/>
          </a:solidFill>
          <a:ln w="17780">
            <a:solidFill>
              <a:srgbClr val="F2A740"/>
            </a:solidFill>
            <a:prstDash val="solid"/>
          </a:ln>
          <a:effectLst>
            <a:outerShdw sx="100000" sy="100000" kx="0" ky="0" algn="bl" rotWithShape="0" blurRad="127000" dist="50800" dir="5400000">
              <a:srgbClr val="F2A740">
                <a:alpha val="45000"/>
              </a:srgbClr>
            </a:outerShdw>
          </a:effectLst>
        </p:spPr>
      </p:sp>
      <p:pic>
        <p:nvPicPr>
          <p:cNvPr id="42" name="Image 4" descr="assets/icons/checksq_w.png">    </p:cNvPr>
          <p:cNvPicPr>
            <a:picLocks noChangeAspect="1"/>
          </p:cNvPicPr>
          <p:nvPr/>
        </p:nvPicPr>
        <p:blipFill>
          <a:blip r:embed="rId6"/>
          <a:stretch>
            <a:fillRect/>
          </a:stretch>
        </p:blipFill>
        <p:spPr>
          <a:xfrm>
            <a:off x="7438095" y="4237695"/>
            <a:ext cx="193121" cy="193121"/>
          </a:xfrm>
          <a:prstGeom prst="rect">
            <a:avLst/>
          </a:prstGeom>
        </p:spPr>
      </p:pic>
      <p:sp>
        <p:nvSpPr>
          <p:cNvPr id="43" name="Text 36"/>
          <p:cNvSpPr txBox="1"/>
          <p:nvPr/>
        </p:nvSpPr>
        <p:spPr>
          <a:xfrm>
            <a:off x="7863840" y="3968496"/>
            <a:ext cx="1874520" cy="731520"/>
          </a:xfrm>
          <a:prstGeom prst="rect">
            <a:avLst/>
          </a:prstGeom>
          <a:noFill/>
          <a:ln/>
        </p:spPr>
        <p:txBody>
          <a:bodyPr wrap="square" lIns="0" tIns="0" rIns="0" bIns="0" rtlCol="0" anchor="ctr"/>
          <a:lstStyle/>
          <a:p>
            <a:pPr indent="0" marL="0">
              <a:lnSpc>
                <a:spcPct val="92000"/>
              </a:lnSpc>
              <a:buNone/>
            </a:pPr>
            <a:r>
              <a:rPr lang="en-US" sz="1100" b="1" dirty="0">
                <a:solidFill>
                  <a:srgbClr val="FFFFFF"/>
                </a:solidFill>
                <a:latin typeface="Calibri" pitchFamily="34" charset="0"/>
                <a:ea typeface="Calibri" pitchFamily="34" charset="-122"/>
                <a:cs typeface="Calibri" pitchFamily="34" charset="-120"/>
              </a:rPr>
              <a:t>Adaptive assessment</a:t>
            </a:r>
            <a:endParaRPr lang="en-US" sz="1100" dirty="0"/>
          </a:p>
        </p:txBody>
      </p:sp>
      <p:sp>
        <p:nvSpPr>
          <p:cNvPr id="44" name="Shape 37"/>
          <p:cNvSpPr/>
          <p:nvPr/>
        </p:nvSpPr>
        <p:spPr>
          <a:xfrm>
            <a:off x="566928" y="5120640"/>
            <a:ext cx="9281160" cy="512064"/>
          </a:xfrm>
          <a:prstGeom prst="roundRect">
            <a:avLst>
              <a:gd name="adj" fmla="val 19643"/>
            </a:avLst>
          </a:prstGeom>
          <a:solidFill>
            <a:srgbClr val="FFFFFF">
              <a:alpha val="16000"/>
            </a:srgbClr>
          </a:solidFill>
          <a:ln w="12700">
            <a:solidFill>
              <a:srgbClr val="FFFFFF">
                <a:alpha val="18000"/>
              </a:srgbClr>
            </a:solidFill>
            <a:prstDash val="solid"/>
          </a:ln>
          <a:effectLst>
            <a:outerShdw sx="100000" sy="100000" kx="0" ky="0" algn="bl" rotWithShape="0" blurRad="177800" dist="63500" dir="5400000">
              <a:srgbClr val="0B0920">
                <a:alpha val="45000"/>
              </a:srgbClr>
            </a:outerShdw>
          </a:effectLst>
        </p:spPr>
      </p:sp>
      <p:sp>
        <p:nvSpPr>
          <p:cNvPr id="45" name="Shape 38"/>
          <p:cNvSpPr/>
          <p:nvPr/>
        </p:nvSpPr>
        <p:spPr>
          <a:xfrm>
            <a:off x="749808" y="5212080"/>
            <a:ext cx="329184" cy="329184"/>
          </a:xfrm>
          <a:prstGeom prst="ellipse">
            <a:avLst/>
          </a:prstGeom>
          <a:solidFill>
            <a:srgbClr val="23925B"/>
          </a:solidFill>
          <a:ln w="17780">
            <a:solidFill>
              <a:srgbClr val="39BC7A"/>
            </a:solidFill>
            <a:prstDash val="solid"/>
          </a:ln>
          <a:effectLst>
            <a:outerShdw sx="100000" sy="100000" kx="0" ky="0" algn="bl" rotWithShape="0" blurRad="127000" dist="50800" dir="5400000">
              <a:srgbClr val="39BC7A">
                <a:alpha val="45000"/>
              </a:srgbClr>
            </a:outerShdw>
          </a:effectLst>
        </p:spPr>
      </p:sp>
      <p:pic>
        <p:nvPicPr>
          <p:cNvPr id="46" name="Image 5" descr="assets/icons/loop_w.png">    </p:cNvPr>
          <p:cNvPicPr>
            <a:picLocks noChangeAspect="1"/>
          </p:cNvPicPr>
          <p:nvPr/>
        </p:nvPicPr>
        <p:blipFill>
          <a:blip r:embed="rId7"/>
          <a:stretch>
            <a:fillRect/>
          </a:stretch>
        </p:blipFill>
        <p:spPr>
          <a:xfrm>
            <a:off x="841980" y="5304252"/>
            <a:ext cx="144841" cy="144841"/>
          </a:xfrm>
          <a:prstGeom prst="rect">
            <a:avLst/>
          </a:prstGeom>
        </p:spPr>
      </p:pic>
      <p:sp>
        <p:nvSpPr>
          <p:cNvPr id="47" name="Text 39"/>
          <p:cNvSpPr txBox="1"/>
          <p:nvPr/>
        </p:nvSpPr>
        <p:spPr>
          <a:xfrm>
            <a:off x="1225296" y="5120640"/>
            <a:ext cx="8412480" cy="512064"/>
          </a:xfrm>
          <a:prstGeom prst="rect">
            <a:avLst/>
          </a:prstGeom>
          <a:noFill/>
          <a:ln/>
        </p:spPr>
        <p:txBody>
          <a:bodyPr wrap="square" lIns="0" tIns="0" rIns="0" bIns="0" rtlCol="0" anchor="ctr"/>
          <a:lstStyle/>
          <a:p>
            <a:pPr indent="0" marL="0">
              <a:lnSpc>
                <a:spcPct val="100000"/>
              </a:lnSpc>
              <a:buNone/>
            </a:pPr>
            <a:r>
              <a:rPr lang="en-US" sz="1050" b="1" dirty="0">
                <a:solidFill>
                  <a:srgbClr val="9FE7C9"/>
                </a:solidFill>
                <a:latin typeface="Calibri" pitchFamily="34" charset="0"/>
                <a:ea typeface="Calibri" pitchFamily="34" charset="-122"/>
                <a:cs typeface="Calibri" pitchFamily="34" charset="-120"/>
              </a:rPr>
              <a:t>Continuous loop:  </a:t>
            </a:r>
            <a:pPr indent="0" marL="0">
              <a:lnSpc>
                <a:spcPct val="100000"/>
              </a:lnSpc>
              <a:buNone/>
            </a:pPr>
            <a:r>
              <a:rPr lang="en-US" sz="1050" dirty="0">
                <a:solidFill>
                  <a:srgbClr val="CFCBEF"/>
                </a:solidFill>
                <a:latin typeface="Calibri" pitchFamily="34" charset="0"/>
                <a:ea typeface="Calibri" pitchFamily="34" charset="-122"/>
                <a:cs typeface="Calibri" pitchFamily="34" charset="-120"/>
              </a:rPr>
              <a:t>every new interaction updates the learner model, which drives the next personalized intervention.</a:t>
            </a:r>
            <a:endParaRPr lang="en-US" sz="1050" dirty="0"/>
          </a:p>
        </p:txBody>
      </p:sp>
      <p:sp>
        <p:nvSpPr>
          <p:cNvPr id="48" name="Text 40"/>
          <p:cNvSpPr txBox="1"/>
          <p:nvPr/>
        </p:nvSpPr>
        <p:spPr>
          <a:xfrm>
            <a:off x="603504" y="6528816"/>
            <a:ext cx="8229600" cy="256032"/>
          </a:xfrm>
          <a:prstGeom prst="rect">
            <a:avLst/>
          </a:prstGeom>
          <a:noFill/>
          <a:ln/>
        </p:spPr>
        <p:txBody>
          <a:bodyPr wrap="square" lIns="0" tIns="0" rIns="0" bIns="0" rtlCol="0" anchor="ctr"/>
          <a:lstStyle/>
          <a:p>
            <a:pPr indent="0" marL="0">
              <a:lnSpc>
                <a:spcPct val="100000"/>
              </a:lnSpc>
              <a:buNone/>
            </a:pPr>
            <a:r>
              <a:rPr lang="en-US" sz="900" b="1" dirty="0">
                <a:solidFill>
                  <a:srgbClr val="9C97CC"/>
                </a:solidFill>
                <a:latin typeface="Calibri" pitchFamily="34" charset="0"/>
                <a:ea typeface="Calibri" pitchFamily="34" charset="-122"/>
                <a:cs typeface="Calibri" pitchFamily="34" charset="-120"/>
              </a:rPr>
              <a:t>IT23283930  |  Ekanayake E M N D  |  J26-SE-363</a:t>
            </a:r>
            <a:endParaRPr lang="en-US" sz="900" dirty="0"/>
          </a:p>
        </p:txBody>
      </p:sp>
      <p:sp>
        <p:nvSpPr>
          <p:cNvPr id="49" name="Text 41"/>
          <p:cNvSpPr txBox="1"/>
          <p:nvPr/>
        </p:nvSpPr>
        <p:spPr>
          <a:xfrm>
            <a:off x="10972800" y="6528816"/>
            <a:ext cx="640080" cy="256032"/>
          </a:xfrm>
          <a:prstGeom prst="rect">
            <a:avLst/>
          </a:prstGeom>
          <a:noFill/>
          <a:ln/>
        </p:spPr>
        <p:txBody>
          <a:bodyPr wrap="square" lIns="0" tIns="0" rIns="0" bIns="0" rtlCol="0" anchor="ctr"/>
          <a:lstStyle/>
          <a:p>
            <a:pPr algn="r" indent="0" marL="0">
              <a:lnSpc>
                <a:spcPct val="100000"/>
              </a:lnSpc>
              <a:buNone/>
            </a:pPr>
            <a:r>
              <a:rPr lang="en-US" sz="850" dirty="0">
                <a:solidFill>
                  <a:srgbClr val="726CA6"/>
                </a:solidFill>
                <a:latin typeface="Calibri" pitchFamily="34" charset="0"/>
                <a:ea typeface="Calibri" pitchFamily="34" charset="-122"/>
                <a:cs typeface="Calibri" pitchFamily="34" charset="-120"/>
              </a:rPr>
              <a:t>16</a:t>
            </a:r>
            <a:endParaRPr lang="en-US" sz="85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Shape 0"/>
          <p:cNvSpPr/>
          <p:nvPr/>
        </p:nvSpPr>
        <p:spPr>
          <a:xfrm>
            <a:off x="10515600" y="411480"/>
            <a:ext cx="1143000" cy="1143000"/>
          </a:xfrm>
          <a:prstGeom prst="ellipse">
            <a:avLst/>
          </a:prstGeom>
          <a:solidFill>
            <a:srgbClr val="1A1640"/>
          </a:solidFill>
          <a:ln w="25400">
            <a:solidFill>
              <a:srgbClr val="39BC7A"/>
            </a:solidFill>
            <a:prstDash val="solid"/>
          </a:ln>
          <a:effectLst>
            <a:outerShdw sx="100000" sy="100000" kx="0" ky="0" algn="bl" rotWithShape="0" blurRad="127000" dist="50800" dir="5400000">
              <a:srgbClr val="4A3DC2">
                <a:alpha val="45000"/>
              </a:srgbClr>
            </a:outerShdw>
          </a:effectLst>
        </p:spPr>
      </p:sp>
      <p:pic>
        <p:nvPicPr>
          <p:cNvPr id="3" name="Image 0" descr="assets/croos.jpg">    </p:cNvPr>
          <p:cNvPicPr>
            <a:picLocks noChangeAspect="1"/>
          </p:cNvPicPr>
          <p:nvPr/>
        </p:nvPicPr>
        <p:blipFill>
          <a:blip r:embed="rId2"/>
          <a:stretch>
            <a:fillRect/>
          </a:stretch>
        </p:blipFill>
        <p:spPr>
          <a:xfrm>
            <a:off x="10561320" y="457200"/>
            <a:ext cx="1051560" cy="1051560"/>
          </a:xfrm>
          <a:prstGeom prst="ellipse">
            <a:avLst/>
          </a:prstGeom>
        </p:spPr>
      </p:pic>
      <p:sp>
        <p:nvSpPr>
          <p:cNvPr id="4" name="Text 1"/>
          <p:cNvSpPr txBox="1"/>
          <p:nvPr/>
        </p:nvSpPr>
        <p:spPr>
          <a:xfrm>
            <a:off x="603504" y="493776"/>
            <a:ext cx="10058400" cy="274320"/>
          </a:xfrm>
          <a:prstGeom prst="rect">
            <a:avLst/>
          </a:prstGeom>
          <a:noFill/>
          <a:ln/>
        </p:spPr>
        <p:txBody>
          <a:bodyPr wrap="square" lIns="0" tIns="0" rIns="0" bIns="0" rtlCol="0" anchor="ctr"/>
          <a:lstStyle/>
          <a:p>
            <a:pPr indent="0" marL="0">
              <a:lnSpc>
                <a:spcPct val="100000"/>
              </a:lnSpc>
              <a:buNone/>
            </a:pPr>
            <a:r>
              <a:rPr lang="en-US" sz="1100" b="1" spc="260" kern="0" dirty="0">
                <a:solidFill>
                  <a:srgbClr val="9FE7C9"/>
                </a:solidFill>
                <a:latin typeface="Calibri" pitchFamily="34" charset="0"/>
                <a:ea typeface="Calibri" pitchFamily="34" charset="-122"/>
                <a:cs typeface="Calibri" pitchFamily="34" charset="-120"/>
              </a:rPr>
              <a:t>INDIVIDUAL COMPONENT  ·  04</a:t>
            </a:r>
            <a:endParaRPr lang="en-US" sz="1100" dirty="0"/>
          </a:p>
        </p:txBody>
      </p:sp>
      <p:sp>
        <p:nvSpPr>
          <p:cNvPr id="5" name="Text 2"/>
          <p:cNvSpPr txBox="1"/>
          <p:nvPr/>
        </p:nvSpPr>
        <p:spPr>
          <a:xfrm>
            <a:off x="566928" y="749808"/>
            <a:ext cx="9692640" cy="1005840"/>
          </a:xfrm>
          <a:prstGeom prst="rect">
            <a:avLst/>
          </a:prstGeom>
          <a:noFill/>
          <a:ln/>
        </p:spPr>
        <p:txBody>
          <a:bodyPr wrap="square" lIns="0" tIns="0" rIns="0" bIns="0" rtlCol="0" anchor="ctr"/>
          <a:lstStyle/>
          <a:p>
            <a:pPr indent="0" marL="0">
              <a:lnSpc>
                <a:spcPct val="98000"/>
              </a:lnSpc>
              <a:buNone/>
            </a:pPr>
            <a:r>
              <a:rPr lang="en-US" sz="2600" b="1" dirty="0">
                <a:solidFill>
                  <a:srgbClr val="FFFFFF"/>
                </a:solidFill>
                <a:latin typeface="Calibri" pitchFamily="34" charset="0"/>
                <a:ea typeface="Calibri" pitchFamily="34" charset="-122"/>
                <a:cs typeface="Calibri" pitchFamily="34" charset="-120"/>
              </a:rPr>
              <a:t>Security-Aware Vulnerability Detection &amp; Governance</a:t>
            </a:r>
            <a:endParaRPr lang="en-US" sz="2600" dirty="0"/>
          </a:p>
        </p:txBody>
      </p:sp>
      <p:sp>
        <p:nvSpPr>
          <p:cNvPr id="6" name="Shape 3"/>
          <p:cNvSpPr/>
          <p:nvPr/>
        </p:nvSpPr>
        <p:spPr>
          <a:xfrm>
            <a:off x="566928" y="1901952"/>
            <a:ext cx="2011680" cy="365760"/>
          </a:xfrm>
          <a:prstGeom prst="roundRect">
            <a:avLst>
              <a:gd name="adj" fmla="val 50000"/>
            </a:avLst>
          </a:prstGeom>
          <a:solidFill>
            <a:srgbClr val="FFFFFF">
              <a:alpha val="14000"/>
            </a:srgbClr>
          </a:solidFill>
          <a:ln w="12700">
            <a:solidFill>
              <a:srgbClr val="FFFFFF">
                <a:alpha val="34000"/>
              </a:srgbClr>
            </a:solidFill>
            <a:prstDash val="solid"/>
          </a:ln>
        </p:spPr>
      </p:sp>
      <p:sp>
        <p:nvSpPr>
          <p:cNvPr id="7" name="Text 4"/>
          <p:cNvSpPr txBox="1"/>
          <p:nvPr/>
        </p:nvSpPr>
        <p:spPr>
          <a:xfrm>
            <a:off x="566928" y="1901952"/>
            <a:ext cx="2011680" cy="365760"/>
          </a:xfrm>
          <a:prstGeom prst="rect">
            <a:avLst/>
          </a:prstGeom>
          <a:noFill/>
          <a:ln/>
        </p:spPr>
        <p:txBody>
          <a:bodyPr wrap="square" lIns="0" tIns="0" rIns="0" bIns="0" rtlCol="0" anchor="ctr"/>
          <a:lstStyle/>
          <a:p>
            <a:pPr algn="ctr" indent="0" marL="0">
              <a:lnSpc>
                <a:spcPct val="100000"/>
              </a:lnSpc>
              <a:buNone/>
            </a:pPr>
            <a:r>
              <a:rPr lang="en-US" sz="1000" b="1" dirty="0">
                <a:solidFill>
                  <a:srgbClr val="E7E3FF"/>
                </a:solidFill>
                <a:latin typeface="Calibri" pitchFamily="34" charset="0"/>
                <a:ea typeface="Calibri" pitchFamily="34" charset="-122"/>
                <a:cs typeface="Calibri" pitchFamily="34" charset="-120"/>
              </a:rPr>
              <a:t>Software Engineering</a:t>
            </a:r>
            <a:endParaRPr lang="en-US" sz="1000" dirty="0"/>
          </a:p>
        </p:txBody>
      </p:sp>
      <p:sp>
        <p:nvSpPr>
          <p:cNvPr id="8" name="Shape 5"/>
          <p:cNvSpPr/>
          <p:nvPr/>
        </p:nvSpPr>
        <p:spPr>
          <a:xfrm>
            <a:off x="2697480" y="1901952"/>
            <a:ext cx="3291840" cy="365760"/>
          </a:xfrm>
          <a:prstGeom prst="roundRect">
            <a:avLst>
              <a:gd name="adj" fmla="val 50000"/>
            </a:avLst>
          </a:prstGeom>
          <a:solidFill>
            <a:srgbClr val="23925B"/>
          </a:solidFill>
          <a:ln w="12700">
            <a:solidFill>
              <a:srgbClr val="39BC7A"/>
            </a:solidFill>
            <a:prstDash val="solid"/>
          </a:ln>
        </p:spPr>
      </p:sp>
      <p:sp>
        <p:nvSpPr>
          <p:cNvPr id="9" name="Text 6"/>
          <p:cNvSpPr txBox="1"/>
          <p:nvPr/>
        </p:nvSpPr>
        <p:spPr>
          <a:xfrm>
            <a:off x="2697480" y="1901952"/>
            <a:ext cx="3291840" cy="365760"/>
          </a:xfrm>
          <a:prstGeom prst="rect">
            <a:avLst/>
          </a:prstGeom>
          <a:noFill/>
          <a:ln/>
        </p:spPr>
        <p:txBody>
          <a:bodyPr wrap="square" lIns="0" tIns="0" rIns="0" bIns="0" rtlCol="0" anchor="ctr"/>
          <a:lstStyle/>
          <a:p>
            <a:pPr algn="ctr" indent="0" marL="0">
              <a:lnSpc>
                <a:spcPct val="100000"/>
              </a:lnSpc>
              <a:buNone/>
            </a:pPr>
            <a:r>
              <a:rPr lang="en-US" sz="1000" b="1" dirty="0">
                <a:solidFill>
                  <a:srgbClr val="FFFFFF"/>
                </a:solidFill>
                <a:latin typeface="Calibri" pitchFamily="34" charset="0"/>
                <a:ea typeface="Calibri" pitchFamily="34" charset="-122"/>
                <a:cs typeface="Calibri" pitchFamily="34" charset="-120"/>
              </a:rPr>
              <a:t>Croos E D  ·  IT23314238</a:t>
            </a:r>
            <a:endParaRPr lang="en-US" sz="1000" dirty="0"/>
          </a:p>
        </p:txBody>
      </p:sp>
      <p:sp>
        <p:nvSpPr>
          <p:cNvPr id="10" name="Text 7"/>
          <p:cNvSpPr txBox="1"/>
          <p:nvPr/>
        </p:nvSpPr>
        <p:spPr>
          <a:xfrm>
            <a:off x="566928" y="2505456"/>
            <a:ext cx="9692640" cy="731520"/>
          </a:xfrm>
          <a:prstGeom prst="rect">
            <a:avLst/>
          </a:prstGeom>
          <a:noFill/>
          <a:ln/>
        </p:spPr>
        <p:txBody>
          <a:bodyPr wrap="square" lIns="0" tIns="0" rIns="0" bIns="0" rtlCol="0" anchor="ctr"/>
          <a:lstStyle/>
          <a:p>
            <a:pPr indent="0" marL="0">
              <a:lnSpc>
                <a:spcPct val="108000"/>
              </a:lnSpc>
              <a:buNone/>
            </a:pPr>
            <a:r>
              <a:rPr lang="en-US" sz="1500" dirty="0">
                <a:solidFill>
                  <a:srgbClr val="CFCBEF"/>
                </a:solidFill>
                <a:latin typeface="Calibri" pitchFamily="34" charset="0"/>
                <a:ea typeface="Calibri" pitchFamily="34" charset="-122"/>
                <a:cs typeface="Calibri" pitchFamily="34" charset="-120"/>
              </a:rPr>
              <a:t>Continuously detect source-code vulnerabilities and guide students through standard-compliant, re-scanned and verified remediation.</a:t>
            </a:r>
            <a:endParaRPr lang="en-US" sz="1500" dirty="0"/>
          </a:p>
        </p:txBody>
      </p:sp>
      <p:sp>
        <p:nvSpPr>
          <p:cNvPr id="11" name="Shape 8"/>
          <p:cNvSpPr/>
          <p:nvPr/>
        </p:nvSpPr>
        <p:spPr>
          <a:xfrm>
            <a:off x="566928" y="3474720"/>
            <a:ext cx="11064240" cy="1097280"/>
          </a:xfrm>
          <a:prstGeom prst="roundRect">
            <a:avLst>
              <a:gd name="adj" fmla="val 9167"/>
            </a:avLst>
          </a:prstGeom>
          <a:solidFill>
            <a:srgbClr val="FFFFFF">
              <a:alpha val="12000"/>
            </a:srgbClr>
          </a:solidFill>
          <a:ln w="12700">
            <a:solidFill>
              <a:srgbClr val="FFFFFF">
                <a:alpha val="18000"/>
              </a:srgbClr>
            </a:solidFill>
            <a:prstDash val="solid"/>
          </a:ln>
          <a:effectLst>
            <a:outerShdw sx="100000" sy="100000" kx="0" ky="0" algn="bl" rotWithShape="0" blurRad="177800" dist="63500" dir="5400000">
              <a:srgbClr val="0B0920">
                <a:alpha val="45000"/>
              </a:srgbClr>
            </a:outerShdw>
          </a:effectLst>
        </p:spPr>
      </p:sp>
      <p:sp>
        <p:nvSpPr>
          <p:cNvPr id="12" name="Shape 9"/>
          <p:cNvSpPr/>
          <p:nvPr/>
        </p:nvSpPr>
        <p:spPr>
          <a:xfrm>
            <a:off x="932688" y="3218688"/>
            <a:ext cx="1832458" cy="512064"/>
          </a:xfrm>
          <a:prstGeom prst="roundRect">
            <a:avLst>
              <a:gd name="adj" fmla="val 50000"/>
            </a:avLst>
          </a:prstGeom>
          <a:solidFill>
            <a:srgbClr val="16C78C"/>
          </a:solidFill>
          <a:ln/>
          <a:effectLst>
            <a:outerShdw sx="100000" sy="100000" kx="0" ky="0" algn="bl" rotWithShape="0" blurRad="127000" dist="50800" dir="5400000">
              <a:srgbClr val="16C78C">
                <a:alpha val="45000"/>
              </a:srgbClr>
            </a:outerShdw>
          </a:effectLst>
        </p:spPr>
      </p:sp>
      <p:sp>
        <p:nvSpPr>
          <p:cNvPr id="13" name="Shape 10"/>
          <p:cNvSpPr/>
          <p:nvPr/>
        </p:nvSpPr>
        <p:spPr>
          <a:xfrm>
            <a:off x="676656" y="3145536"/>
            <a:ext cx="676656" cy="676656"/>
          </a:xfrm>
          <a:prstGeom prst="ellipse">
            <a:avLst/>
          </a:prstGeom>
          <a:solidFill>
            <a:srgbClr val="0E9E6E"/>
          </a:solidFill>
          <a:ln w="15240">
            <a:solidFill>
              <a:srgbClr val="FFFFFF">
                <a:alpha val="38000"/>
              </a:srgbClr>
            </a:solidFill>
            <a:prstDash val="solid"/>
          </a:ln>
          <a:effectLst>
            <a:outerShdw sx="100000" sy="100000" kx="0" ky="0" algn="bl" rotWithShape="0" blurRad="127000" dist="50800" dir="5400000">
              <a:srgbClr val="0E9E6E">
                <a:alpha val="45000"/>
              </a:srgbClr>
            </a:outerShdw>
          </a:effectLst>
        </p:spPr>
      </p:sp>
      <p:pic>
        <p:nvPicPr>
          <p:cNvPr id="14" name="Image 1" descr="assets/icons/star_w.png">    </p:cNvPr>
          <p:cNvPicPr>
            <a:picLocks noChangeAspect="1"/>
          </p:cNvPicPr>
          <p:nvPr/>
        </p:nvPicPr>
        <p:blipFill>
          <a:blip r:embed="rId3"/>
          <a:stretch>
            <a:fillRect/>
          </a:stretch>
        </p:blipFill>
        <p:spPr>
          <a:xfrm>
            <a:off x="866120" y="3335000"/>
            <a:ext cx="297729" cy="297729"/>
          </a:xfrm>
          <a:prstGeom prst="rect">
            <a:avLst/>
          </a:prstGeom>
        </p:spPr>
      </p:pic>
      <p:sp>
        <p:nvSpPr>
          <p:cNvPr id="15" name="Text 11"/>
          <p:cNvSpPr txBox="1"/>
          <p:nvPr/>
        </p:nvSpPr>
        <p:spPr>
          <a:xfrm>
            <a:off x="1389888" y="3218688"/>
            <a:ext cx="1338682" cy="512064"/>
          </a:xfrm>
          <a:prstGeom prst="rect">
            <a:avLst/>
          </a:prstGeom>
          <a:noFill/>
          <a:ln/>
        </p:spPr>
        <p:txBody>
          <a:bodyPr wrap="square" lIns="0" tIns="0" rIns="0" bIns="0" rtlCol="0" anchor="ctr"/>
          <a:lstStyle/>
          <a:p>
            <a:pPr indent="0" marL="0">
              <a:lnSpc>
                <a:spcPct val="100000"/>
              </a:lnSpc>
              <a:buNone/>
            </a:pPr>
            <a:r>
              <a:rPr lang="en-US" sz="1150" b="1" dirty="0">
                <a:solidFill>
                  <a:srgbClr val="FFFFFF"/>
                </a:solidFill>
                <a:latin typeface="Calibri" pitchFamily="34" charset="0"/>
                <a:ea typeface="Calibri" pitchFamily="34" charset="-122"/>
                <a:cs typeface="Calibri" pitchFamily="34" charset="-120"/>
              </a:rPr>
              <a:t>Core novelty</a:t>
            </a:r>
            <a:endParaRPr lang="en-US" sz="1150" dirty="0"/>
          </a:p>
        </p:txBody>
      </p:sp>
      <p:sp>
        <p:nvSpPr>
          <p:cNvPr id="16" name="Text 12"/>
          <p:cNvSpPr txBox="1"/>
          <p:nvPr/>
        </p:nvSpPr>
        <p:spPr>
          <a:xfrm>
            <a:off x="822960" y="3950208"/>
            <a:ext cx="10332720" cy="548640"/>
          </a:xfrm>
          <a:prstGeom prst="rect">
            <a:avLst/>
          </a:prstGeom>
          <a:noFill/>
          <a:ln/>
        </p:spPr>
        <p:txBody>
          <a:bodyPr wrap="square" lIns="0" tIns="0" rIns="0" bIns="0" rtlCol="0" anchor="ctr"/>
          <a:lstStyle/>
          <a:p>
            <a:pPr indent="0" marL="0">
              <a:lnSpc>
                <a:spcPct val="98000"/>
              </a:lnSpc>
              <a:buNone/>
            </a:pPr>
            <a:r>
              <a:rPr lang="en-US" sz="1600" b="1" dirty="0">
                <a:solidFill>
                  <a:srgbClr val="FFFFFF"/>
                </a:solidFill>
                <a:latin typeface="Calibri" pitchFamily="34" charset="0"/>
                <a:ea typeface="Calibri" pitchFamily="34" charset="-122"/>
                <a:cs typeface="Calibri" pitchFamily="34" charset="-120"/>
              </a:rPr>
              <a:t>Project-context traceability + hybrid deterministic / semantic detection</a:t>
            </a:r>
            <a:endParaRPr lang="en-US" sz="1600" dirty="0"/>
          </a:p>
        </p:txBody>
      </p:sp>
      <p:sp>
        <p:nvSpPr>
          <p:cNvPr id="17" name="Shape 13"/>
          <p:cNvSpPr/>
          <p:nvPr/>
        </p:nvSpPr>
        <p:spPr>
          <a:xfrm>
            <a:off x="566928" y="4800600"/>
            <a:ext cx="3535680" cy="1051560"/>
          </a:xfrm>
          <a:prstGeom prst="roundRect">
            <a:avLst>
              <a:gd name="adj" fmla="val 9565"/>
            </a:avLst>
          </a:prstGeom>
          <a:solidFill>
            <a:srgbClr val="FFFFFF">
              <a:alpha val="12000"/>
            </a:srgbClr>
          </a:solidFill>
          <a:ln w="12700">
            <a:solidFill>
              <a:srgbClr val="FFFFFF">
                <a:alpha val="18000"/>
              </a:srgbClr>
            </a:solidFill>
            <a:prstDash val="solid"/>
          </a:ln>
          <a:effectLst>
            <a:outerShdw sx="100000" sy="100000" kx="0" ky="0" algn="bl" rotWithShape="0" blurRad="177800" dist="63500" dir="5400000">
              <a:srgbClr val="0B0920">
                <a:alpha val="45000"/>
              </a:srgbClr>
            </a:outerShdw>
          </a:effectLst>
        </p:spPr>
      </p:sp>
      <p:sp>
        <p:nvSpPr>
          <p:cNvPr id="18" name="Shape 14"/>
          <p:cNvSpPr/>
          <p:nvPr/>
        </p:nvSpPr>
        <p:spPr>
          <a:xfrm>
            <a:off x="786384" y="5074920"/>
            <a:ext cx="512064" cy="512064"/>
          </a:xfrm>
          <a:prstGeom prst="ellipse">
            <a:avLst/>
          </a:prstGeom>
          <a:solidFill>
            <a:srgbClr val="5A47CE"/>
          </a:solidFill>
          <a:ln w="17780">
            <a:solidFill>
              <a:srgbClr val="7E6CF4"/>
            </a:solidFill>
            <a:prstDash val="solid"/>
          </a:ln>
          <a:effectLst>
            <a:outerShdw sx="100000" sy="100000" kx="0" ky="0" algn="bl" rotWithShape="0" blurRad="127000" dist="50800" dir="5400000">
              <a:srgbClr val="7E6CF4">
                <a:alpha val="45000"/>
              </a:srgbClr>
            </a:outerShdw>
          </a:effectLst>
        </p:spPr>
      </p:sp>
      <p:pic>
        <p:nvPicPr>
          <p:cNvPr id="19" name="Image 2" descr="assets/icons/search_w.png">    </p:cNvPr>
          <p:cNvPicPr>
            <a:picLocks noChangeAspect="1"/>
          </p:cNvPicPr>
          <p:nvPr/>
        </p:nvPicPr>
        <p:blipFill>
          <a:blip r:embed="rId4"/>
          <a:stretch>
            <a:fillRect/>
          </a:stretch>
        </p:blipFill>
        <p:spPr>
          <a:xfrm>
            <a:off x="929762" y="5218298"/>
            <a:ext cx="225308" cy="225308"/>
          </a:xfrm>
          <a:prstGeom prst="rect">
            <a:avLst/>
          </a:prstGeom>
        </p:spPr>
      </p:pic>
      <p:sp>
        <p:nvSpPr>
          <p:cNvPr id="20" name="Text 15"/>
          <p:cNvSpPr txBox="1"/>
          <p:nvPr/>
        </p:nvSpPr>
        <p:spPr>
          <a:xfrm>
            <a:off x="1444752" y="5056632"/>
            <a:ext cx="2493264" cy="292608"/>
          </a:xfrm>
          <a:prstGeom prst="rect">
            <a:avLst/>
          </a:prstGeom>
          <a:noFill/>
          <a:ln/>
        </p:spPr>
        <p:txBody>
          <a:bodyPr wrap="square" lIns="0" tIns="0" rIns="0" bIns="0" rtlCol="0" anchor="ctr"/>
          <a:lstStyle/>
          <a:p>
            <a:pPr indent="0" marL="0">
              <a:lnSpc>
                <a:spcPct val="100000"/>
              </a:lnSpc>
              <a:buNone/>
            </a:pPr>
            <a:r>
              <a:rPr lang="en-US" sz="1350" b="1" dirty="0">
                <a:solidFill>
                  <a:srgbClr val="FFFFFF"/>
                </a:solidFill>
                <a:latin typeface="Calibri" pitchFamily="34" charset="0"/>
                <a:ea typeface="Calibri" pitchFamily="34" charset="-122"/>
                <a:cs typeface="Calibri" pitchFamily="34" charset="-120"/>
              </a:rPr>
              <a:t>CodeQL + SCA</a:t>
            </a:r>
            <a:endParaRPr lang="en-US" sz="1350" dirty="0"/>
          </a:p>
        </p:txBody>
      </p:sp>
      <p:sp>
        <p:nvSpPr>
          <p:cNvPr id="21" name="Text 16"/>
          <p:cNvSpPr txBox="1"/>
          <p:nvPr/>
        </p:nvSpPr>
        <p:spPr>
          <a:xfrm>
            <a:off x="1444752" y="5367528"/>
            <a:ext cx="2493264" cy="384048"/>
          </a:xfrm>
          <a:prstGeom prst="rect">
            <a:avLst/>
          </a:prstGeom>
          <a:noFill/>
          <a:ln/>
        </p:spPr>
        <p:txBody>
          <a:bodyPr wrap="square" lIns="0" tIns="0" rIns="0" bIns="0" rtlCol="0" anchor="ctr"/>
          <a:lstStyle/>
          <a:p>
            <a:pPr indent="0" marL="0">
              <a:lnSpc>
                <a:spcPct val="95000"/>
              </a:lnSpc>
              <a:buNone/>
            </a:pPr>
            <a:r>
              <a:rPr lang="en-US" sz="1000" dirty="0">
                <a:solidFill>
                  <a:srgbClr val="CFCBEF"/>
                </a:solidFill>
                <a:latin typeface="Calibri" pitchFamily="34" charset="0"/>
                <a:ea typeface="Calibri" pitchFamily="34" charset="-122"/>
                <a:cs typeface="Calibri" pitchFamily="34" charset="-120"/>
              </a:rPr>
              <a:t>Deterministic evidence</a:t>
            </a:r>
            <a:endParaRPr lang="en-US" sz="1000" dirty="0"/>
          </a:p>
        </p:txBody>
      </p:sp>
      <p:sp>
        <p:nvSpPr>
          <p:cNvPr id="22" name="Shape 17"/>
          <p:cNvSpPr/>
          <p:nvPr/>
        </p:nvSpPr>
        <p:spPr>
          <a:xfrm>
            <a:off x="4331208" y="4800600"/>
            <a:ext cx="3535680" cy="1051560"/>
          </a:xfrm>
          <a:prstGeom prst="roundRect">
            <a:avLst>
              <a:gd name="adj" fmla="val 9565"/>
            </a:avLst>
          </a:prstGeom>
          <a:solidFill>
            <a:srgbClr val="FFFFFF">
              <a:alpha val="12000"/>
            </a:srgbClr>
          </a:solidFill>
          <a:ln w="12700">
            <a:solidFill>
              <a:srgbClr val="FFFFFF">
                <a:alpha val="18000"/>
              </a:srgbClr>
            </a:solidFill>
            <a:prstDash val="solid"/>
          </a:ln>
          <a:effectLst>
            <a:outerShdw sx="100000" sy="100000" kx="0" ky="0" algn="bl" rotWithShape="0" blurRad="177800" dist="63500" dir="5400000">
              <a:srgbClr val="0B0920">
                <a:alpha val="45000"/>
              </a:srgbClr>
            </a:outerShdw>
          </a:effectLst>
        </p:spPr>
      </p:sp>
      <p:sp>
        <p:nvSpPr>
          <p:cNvPr id="23" name="Shape 18"/>
          <p:cNvSpPr/>
          <p:nvPr/>
        </p:nvSpPr>
        <p:spPr>
          <a:xfrm>
            <a:off x="4550664" y="5074920"/>
            <a:ext cx="512064" cy="512064"/>
          </a:xfrm>
          <a:prstGeom prst="ellipse">
            <a:avLst/>
          </a:prstGeom>
          <a:solidFill>
            <a:srgbClr val="E0891C"/>
          </a:solidFill>
          <a:ln w="17780">
            <a:solidFill>
              <a:srgbClr val="F2A740"/>
            </a:solidFill>
            <a:prstDash val="solid"/>
          </a:ln>
          <a:effectLst>
            <a:outerShdw sx="100000" sy="100000" kx="0" ky="0" algn="bl" rotWithShape="0" blurRad="127000" dist="50800" dir="5400000">
              <a:srgbClr val="F2A740">
                <a:alpha val="45000"/>
              </a:srgbClr>
            </a:outerShdw>
          </a:effectLst>
        </p:spPr>
      </p:sp>
      <p:pic>
        <p:nvPicPr>
          <p:cNvPr id="24" name="Image 3" descr="assets/icons/map_w.png">    </p:cNvPr>
          <p:cNvPicPr>
            <a:picLocks noChangeAspect="1"/>
          </p:cNvPicPr>
          <p:nvPr/>
        </p:nvPicPr>
        <p:blipFill>
          <a:blip r:embed="rId5"/>
          <a:stretch>
            <a:fillRect/>
          </a:stretch>
        </p:blipFill>
        <p:spPr>
          <a:xfrm>
            <a:off x="4694042" y="5218298"/>
            <a:ext cx="225308" cy="225308"/>
          </a:xfrm>
          <a:prstGeom prst="rect">
            <a:avLst/>
          </a:prstGeom>
        </p:spPr>
      </p:pic>
      <p:sp>
        <p:nvSpPr>
          <p:cNvPr id="25" name="Text 19"/>
          <p:cNvSpPr txBox="1"/>
          <p:nvPr/>
        </p:nvSpPr>
        <p:spPr>
          <a:xfrm>
            <a:off x="5209032" y="5056632"/>
            <a:ext cx="2493264" cy="292608"/>
          </a:xfrm>
          <a:prstGeom prst="rect">
            <a:avLst/>
          </a:prstGeom>
          <a:noFill/>
          <a:ln/>
        </p:spPr>
        <p:txBody>
          <a:bodyPr wrap="square" lIns="0" tIns="0" rIns="0" bIns="0" rtlCol="0" anchor="ctr"/>
          <a:lstStyle/>
          <a:p>
            <a:pPr indent="0" marL="0">
              <a:lnSpc>
                <a:spcPct val="100000"/>
              </a:lnSpc>
              <a:buNone/>
            </a:pPr>
            <a:r>
              <a:rPr lang="en-US" sz="1350" b="1" dirty="0">
                <a:solidFill>
                  <a:srgbClr val="FFFFFF"/>
                </a:solidFill>
                <a:latin typeface="Calibri" pitchFamily="34" charset="0"/>
                <a:ea typeface="Calibri" pitchFamily="34" charset="-122"/>
                <a:cs typeface="Calibri" pitchFamily="34" charset="-120"/>
              </a:rPr>
              <a:t>Traceability</a:t>
            </a:r>
            <a:endParaRPr lang="en-US" sz="1350" dirty="0"/>
          </a:p>
        </p:txBody>
      </p:sp>
      <p:sp>
        <p:nvSpPr>
          <p:cNvPr id="26" name="Text 20"/>
          <p:cNvSpPr txBox="1"/>
          <p:nvPr/>
        </p:nvSpPr>
        <p:spPr>
          <a:xfrm>
            <a:off x="5209032" y="5367528"/>
            <a:ext cx="2493264" cy="384048"/>
          </a:xfrm>
          <a:prstGeom prst="rect">
            <a:avLst/>
          </a:prstGeom>
          <a:noFill/>
          <a:ln/>
        </p:spPr>
        <p:txBody>
          <a:bodyPr wrap="square" lIns="0" tIns="0" rIns="0" bIns="0" rtlCol="0" anchor="ctr"/>
          <a:lstStyle/>
          <a:p>
            <a:pPr indent="0" marL="0">
              <a:lnSpc>
                <a:spcPct val="95000"/>
              </a:lnSpc>
              <a:buNone/>
            </a:pPr>
            <a:r>
              <a:rPr lang="en-US" sz="1000" dirty="0">
                <a:solidFill>
                  <a:srgbClr val="CFCBEF"/>
                </a:solidFill>
                <a:latin typeface="Calibri" pitchFamily="34" charset="0"/>
                <a:ea typeface="Calibri" pitchFamily="34" charset="-122"/>
                <a:cs typeface="Calibri" pitchFamily="34" charset="-120"/>
              </a:rPr>
              <a:t>Finding → owner</a:t>
            </a:r>
            <a:endParaRPr lang="en-US" sz="1000" dirty="0"/>
          </a:p>
        </p:txBody>
      </p:sp>
      <p:sp>
        <p:nvSpPr>
          <p:cNvPr id="27" name="Shape 21"/>
          <p:cNvSpPr/>
          <p:nvPr/>
        </p:nvSpPr>
        <p:spPr>
          <a:xfrm>
            <a:off x="8095488" y="4800600"/>
            <a:ext cx="3535680" cy="1051560"/>
          </a:xfrm>
          <a:prstGeom prst="roundRect">
            <a:avLst>
              <a:gd name="adj" fmla="val 9565"/>
            </a:avLst>
          </a:prstGeom>
          <a:solidFill>
            <a:srgbClr val="FFFFFF">
              <a:alpha val="12000"/>
            </a:srgbClr>
          </a:solidFill>
          <a:ln w="12700">
            <a:solidFill>
              <a:srgbClr val="FFFFFF">
                <a:alpha val="18000"/>
              </a:srgbClr>
            </a:solidFill>
            <a:prstDash val="solid"/>
          </a:ln>
          <a:effectLst>
            <a:outerShdw sx="100000" sy="100000" kx="0" ky="0" algn="bl" rotWithShape="0" blurRad="177800" dist="63500" dir="5400000">
              <a:srgbClr val="0B0920">
                <a:alpha val="45000"/>
              </a:srgbClr>
            </a:outerShdw>
          </a:effectLst>
        </p:spPr>
      </p:sp>
      <p:sp>
        <p:nvSpPr>
          <p:cNvPr id="28" name="Shape 22"/>
          <p:cNvSpPr/>
          <p:nvPr/>
        </p:nvSpPr>
        <p:spPr>
          <a:xfrm>
            <a:off x="8314944" y="5074920"/>
            <a:ext cx="512064" cy="512064"/>
          </a:xfrm>
          <a:prstGeom prst="ellipse">
            <a:avLst/>
          </a:prstGeom>
          <a:solidFill>
            <a:srgbClr val="0E9E6E"/>
          </a:solidFill>
          <a:ln w="17780">
            <a:solidFill>
              <a:srgbClr val="16C78C"/>
            </a:solidFill>
            <a:prstDash val="solid"/>
          </a:ln>
          <a:effectLst>
            <a:outerShdw sx="100000" sy="100000" kx="0" ky="0" algn="bl" rotWithShape="0" blurRad="127000" dist="50800" dir="5400000">
              <a:srgbClr val="16C78C">
                <a:alpha val="45000"/>
              </a:srgbClr>
            </a:outerShdw>
          </a:effectLst>
        </p:spPr>
      </p:sp>
      <p:pic>
        <p:nvPicPr>
          <p:cNvPr id="29" name="Image 4" descr="assets/icons/lock_w.png">    </p:cNvPr>
          <p:cNvPicPr>
            <a:picLocks noChangeAspect="1"/>
          </p:cNvPicPr>
          <p:nvPr/>
        </p:nvPicPr>
        <p:blipFill>
          <a:blip r:embed="rId6"/>
          <a:stretch>
            <a:fillRect/>
          </a:stretch>
        </p:blipFill>
        <p:spPr>
          <a:xfrm>
            <a:off x="8458322" y="5218298"/>
            <a:ext cx="225308" cy="225308"/>
          </a:xfrm>
          <a:prstGeom prst="rect">
            <a:avLst/>
          </a:prstGeom>
        </p:spPr>
      </p:pic>
      <p:sp>
        <p:nvSpPr>
          <p:cNvPr id="30" name="Text 23"/>
          <p:cNvSpPr txBox="1"/>
          <p:nvPr/>
        </p:nvSpPr>
        <p:spPr>
          <a:xfrm>
            <a:off x="8973312" y="5056632"/>
            <a:ext cx="2493264" cy="292608"/>
          </a:xfrm>
          <a:prstGeom prst="rect">
            <a:avLst/>
          </a:prstGeom>
          <a:noFill/>
          <a:ln/>
        </p:spPr>
        <p:txBody>
          <a:bodyPr wrap="square" lIns="0" tIns="0" rIns="0" bIns="0" rtlCol="0" anchor="ctr"/>
          <a:lstStyle/>
          <a:p>
            <a:pPr indent="0" marL="0">
              <a:lnSpc>
                <a:spcPct val="100000"/>
              </a:lnSpc>
              <a:buNone/>
            </a:pPr>
            <a:r>
              <a:rPr lang="en-US" sz="1350" b="1" dirty="0">
                <a:solidFill>
                  <a:srgbClr val="FFFFFF"/>
                </a:solidFill>
                <a:latin typeface="Calibri" pitchFamily="34" charset="0"/>
                <a:ea typeface="Calibri" pitchFamily="34" charset="-122"/>
                <a:cs typeface="Calibri" pitchFamily="34" charset="-120"/>
              </a:rPr>
              <a:t>Governance</a:t>
            </a:r>
            <a:endParaRPr lang="en-US" sz="1350" dirty="0"/>
          </a:p>
        </p:txBody>
      </p:sp>
      <p:sp>
        <p:nvSpPr>
          <p:cNvPr id="31" name="Text 24"/>
          <p:cNvSpPr txBox="1"/>
          <p:nvPr/>
        </p:nvSpPr>
        <p:spPr>
          <a:xfrm>
            <a:off x="8973312" y="5367528"/>
            <a:ext cx="2493264" cy="384048"/>
          </a:xfrm>
          <a:prstGeom prst="rect">
            <a:avLst/>
          </a:prstGeom>
          <a:noFill/>
          <a:ln/>
        </p:spPr>
        <p:txBody>
          <a:bodyPr wrap="square" lIns="0" tIns="0" rIns="0" bIns="0" rtlCol="0" anchor="ctr"/>
          <a:lstStyle/>
          <a:p>
            <a:pPr indent="0" marL="0">
              <a:lnSpc>
                <a:spcPct val="95000"/>
              </a:lnSpc>
              <a:buNone/>
            </a:pPr>
            <a:r>
              <a:rPr lang="en-US" sz="1000" dirty="0">
                <a:solidFill>
                  <a:srgbClr val="CFCBEF"/>
                </a:solidFill>
                <a:latin typeface="Calibri" pitchFamily="34" charset="0"/>
                <a:ea typeface="Calibri" pitchFamily="34" charset="-122"/>
                <a:cs typeface="Calibri" pitchFamily="34" charset="-120"/>
              </a:rPr>
              <a:t>Protects the agents</a:t>
            </a:r>
            <a:endParaRPr lang="en-US" sz="1000" dirty="0"/>
          </a:p>
        </p:txBody>
      </p:sp>
      <p:sp>
        <p:nvSpPr>
          <p:cNvPr id="32" name="Text 25"/>
          <p:cNvSpPr txBox="1"/>
          <p:nvPr/>
        </p:nvSpPr>
        <p:spPr>
          <a:xfrm>
            <a:off x="603504" y="6528816"/>
            <a:ext cx="8229600" cy="256032"/>
          </a:xfrm>
          <a:prstGeom prst="rect">
            <a:avLst/>
          </a:prstGeom>
          <a:noFill/>
          <a:ln/>
        </p:spPr>
        <p:txBody>
          <a:bodyPr wrap="square" lIns="0" tIns="0" rIns="0" bIns="0" rtlCol="0" anchor="ctr"/>
          <a:lstStyle/>
          <a:p>
            <a:pPr indent="0" marL="0">
              <a:lnSpc>
                <a:spcPct val="100000"/>
              </a:lnSpc>
              <a:buNone/>
            </a:pPr>
            <a:r>
              <a:rPr lang="en-US" sz="900" b="1" dirty="0">
                <a:solidFill>
                  <a:srgbClr val="9C97CC"/>
                </a:solidFill>
                <a:latin typeface="Calibri" pitchFamily="34" charset="0"/>
                <a:ea typeface="Calibri" pitchFamily="34" charset="-122"/>
                <a:cs typeface="Calibri" pitchFamily="34" charset="-120"/>
              </a:rPr>
              <a:t>IT23314238  |  Croos E D  |  J26-SE-363</a:t>
            </a:r>
            <a:endParaRPr lang="en-US" sz="900" dirty="0"/>
          </a:p>
        </p:txBody>
      </p:sp>
      <p:sp>
        <p:nvSpPr>
          <p:cNvPr id="33" name="Text 26"/>
          <p:cNvSpPr txBox="1"/>
          <p:nvPr/>
        </p:nvSpPr>
        <p:spPr>
          <a:xfrm>
            <a:off x="10972800" y="6528816"/>
            <a:ext cx="640080" cy="256032"/>
          </a:xfrm>
          <a:prstGeom prst="rect">
            <a:avLst/>
          </a:prstGeom>
          <a:noFill/>
          <a:ln/>
        </p:spPr>
        <p:txBody>
          <a:bodyPr wrap="square" lIns="0" tIns="0" rIns="0" bIns="0" rtlCol="0" anchor="ctr"/>
          <a:lstStyle/>
          <a:p>
            <a:pPr algn="r" indent="0" marL="0">
              <a:lnSpc>
                <a:spcPct val="100000"/>
              </a:lnSpc>
              <a:buNone/>
            </a:pPr>
            <a:r>
              <a:rPr lang="en-US" sz="850" dirty="0">
                <a:solidFill>
                  <a:srgbClr val="726CA6"/>
                </a:solidFill>
                <a:latin typeface="Calibri" pitchFamily="34" charset="0"/>
                <a:ea typeface="Calibri" pitchFamily="34" charset="-122"/>
                <a:cs typeface="Calibri" pitchFamily="34" charset="-120"/>
              </a:rPr>
              <a:t>17</a:t>
            </a:r>
            <a:endParaRPr lang="en-US" sz="85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Shape 0"/>
          <p:cNvSpPr/>
          <p:nvPr/>
        </p:nvSpPr>
        <p:spPr>
          <a:xfrm>
            <a:off x="10515600" y="411480"/>
            <a:ext cx="1143000" cy="1143000"/>
          </a:xfrm>
          <a:prstGeom prst="ellipse">
            <a:avLst/>
          </a:prstGeom>
          <a:solidFill>
            <a:srgbClr val="1A1640"/>
          </a:solidFill>
          <a:ln w="25400">
            <a:solidFill>
              <a:srgbClr val="39BC7A"/>
            </a:solidFill>
            <a:prstDash val="solid"/>
          </a:ln>
          <a:effectLst>
            <a:outerShdw sx="100000" sy="100000" kx="0" ky="0" algn="bl" rotWithShape="0" blurRad="127000" dist="50800" dir="5400000">
              <a:srgbClr val="4A3DC2">
                <a:alpha val="45000"/>
              </a:srgbClr>
            </a:outerShdw>
          </a:effectLst>
        </p:spPr>
      </p:sp>
      <p:pic>
        <p:nvPicPr>
          <p:cNvPr id="3" name="Image 0" descr="assets/croos.jpg">    </p:cNvPr>
          <p:cNvPicPr>
            <a:picLocks noChangeAspect="1"/>
          </p:cNvPicPr>
          <p:nvPr/>
        </p:nvPicPr>
        <p:blipFill>
          <a:blip r:embed="rId2"/>
          <a:stretch>
            <a:fillRect/>
          </a:stretch>
        </p:blipFill>
        <p:spPr>
          <a:xfrm>
            <a:off x="10561320" y="457200"/>
            <a:ext cx="1051560" cy="1051560"/>
          </a:xfrm>
          <a:prstGeom prst="ellipse">
            <a:avLst/>
          </a:prstGeom>
        </p:spPr>
      </p:pic>
      <p:sp>
        <p:nvSpPr>
          <p:cNvPr id="4" name="Text 1"/>
          <p:cNvSpPr txBox="1"/>
          <p:nvPr/>
        </p:nvSpPr>
        <p:spPr>
          <a:xfrm>
            <a:off x="603504" y="493776"/>
            <a:ext cx="10058400" cy="274320"/>
          </a:xfrm>
          <a:prstGeom prst="rect">
            <a:avLst/>
          </a:prstGeom>
          <a:noFill/>
          <a:ln/>
        </p:spPr>
        <p:txBody>
          <a:bodyPr wrap="square" lIns="0" tIns="0" rIns="0" bIns="0" rtlCol="0" anchor="ctr"/>
          <a:lstStyle/>
          <a:p>
            <a:pPr indent="0" marL="0">
              <a:lnSpc>
                <a:spcPct val="100000"/>
              </a:lnSpc>
              <a:buNone/>
            </a:pPr>
            <a:r>
              <a:rPr lang="en-US" sz="1100" b="1" spc="260" kern="0" dirty="0">
                <a:solidFill>
                  <a:srgbClr val="9FE7C9"/>
                </a:solidFill>
                <a:latin typeface="Calibri" pitchFamily="34" charset="0"/>
                <a:ea typeface="Calibri" pitchFamily="34" charset="-122"/>
                <a:cs typeface="Calibri" pitchFamily="34" charset="-120"/>
              </a:rPr>
              <a:t>SECURITY-AWARE FRAMEWORK  ·  COMPONENT OVERVIEW</a:t>
            </a:r>
            <a:endParaRPr lang="en-US" sz="1100" dirty="0"/>
          </a:p>
        </p:txBody>
      </p:sp>
      <p:sp>
        <p:nvSpPr>
          <p:cNvPr id="5" name="Text 2"/>
          <p:cNvSpPr txBox="1"/>
          <p:nvPr/>
        </p:nvSpPr>
        <p:spPr>
          <a:xfrm>
            <a:off x="566928" y="749808"/>
            <a:ext cx="9692640" cy="777240"/>
          </a:xfrm>
          <a:prstGeom prst="rect">
            <a:avLst/>
          </a:prstGeom>
          <a:noFill/>
          <a:ln/>
        </p:spPr>
        <p:txBody>
          <a:bodyPr wrap="square" lIns="0" tIns="0" rIns="0" bIns="0" rtlCol="0" anchor="ctr"/>
          <a:lstStyle/>
          <a:p>
            <a:pPr indent="0" marL="0">
              <a:lnSpc>
                <a:spcPct val="98000"/>
              </a:lnSpc>
              <a:buNone/>
            </a:pPr>
            <a:r>
              <a:rPr lang="en-US" sz="2200" b="1" dirty="0">
                <a:solidFill>
                  <a:srgbClr val="FFFFFF"/>
                </a:solidFill>
                <a:latin typeface="Calibri" pitchFamily="34" charset="0"/>
                <a:ea typeface="Calibri" pitchFamily="34" charset="-122"/>
                <a:cs typeface="Calibri" pitchFamily="34" charset="-120"/>
              </a:rPr>
              <a:t>Security-Aware Vulnerability Detection &amp; Governance</a:t>
            </a:r>
            <a:endParaRPr lang="en-US" sz="2200" dirty="0"/>
          </a:p>
        </p:txBody>
      </p:sp>
      <p:sp>
        <p:nvSpPr>
          <p:cNvPr id="6" name="Shape 3"/>
          <p:cNvSpPr/>
          <p:nvPr/>
        </p:nvSpPr>
        <p:spPr>
          <a:xfrm>
            <a:off x="566928" y="2011680"/>
            <a:ext cx="5440680" cy="1847088"/>
          </a:xfrm>
          <a:prstGeom prst="roundRect">
            <a:avLst>
              <a:gd name="adj" fmla="val 5446"/>
            </a:avLst>
          </a:prstGeom>
          <a:solidFill>
            <a:srgbClr val="FFFFFF">
              <a:alpha val="12000"/>
            </a:srgbClr>
          </a:solidFill>
          <a:ln w="12700">
            <a:solidFill>
              <a:srgbClr val="FFFFFF">
                <a:alpha val="18000"/>
              </a:srgbClr>
            </a:solidFill>
            <a:prstDash val="solid"/>
          </a:ln>
          <a:effectLst>
            <a:outerShdw sx="100000" sy="100000" kx="0" ky="0" algn="bl" rotWithShape="0" blurRad="177800" dist="63500" dir="5400000">
              <a:srgbClr val="0B0920">
                <a:alpha val="45000"/>
              </a:srgbClr>
            </a:outerShdw>
          </a:effectLst>
        </p:spPr>
      </p:sp>
      <p:sp>
        <p:nvSpPr>
          <p:cNvPr id="7" name="Shape 4"/>
          <p:cNvSpPr/>
          <p:nvPr/>
        </p:nvSpPr>
        <p:spPr>
          <a:xfrm>
            <a:off x="932688" y="1755648"/>
            <a:ext cx="2926080" cy="512064"/>
          </a:xfrm>
          <a:prstGeom prst="roundRect">
            <a:avLst>
              <a:gd name="adj" fmla="val 50000"/>
            </a:avLst>
          </a:prstGeom>
          <a:solidFill>
            <a:srgbClr val="7E6CF4"/>
          </a:solidFill>
          <a:ln/>
          <a:effectLst>
            <a:outerShdw sx="100000" sy="100000" kx="0" ky="0" algn="bl" rotWithShape="0" blurRad="127000" dist="50800" dir="5400000">
              <a:srgbClr val="7E6CF4">
                <a:alpha val="45000"/>
              </a:srgbClr>
            </a:outerShdw>
          </a:effectLst>
        </p:spPr>
      </p:sp>
      <p:sp>
        <p:nvSpPr>
          <p:cNvPr id="8" name="Shape 5"/>
          <p:cNvSpPr/>
          <p:nvPr/>
        </p:nvSpPr>
        <p:spPr>
          <a:xfrm>
            <a:off x="676656" y="1682496"/>
            <a:ext cx="676656" cy="676656"/>
          </a:xfrm>
          <a:prstGeom prst="ellipse">
            <a:avLst/>
          </a:prstGeom>
          <a:solidFill>
            <a:srgbClr val="5A47CE"/>
          </a:solidFill>
          <a:ln w="15240">
            <a:solidFill>
              <a:srgbClr val="FFFFFF">
                <a:alpha val="38000"/>
              </a:srgbClr>
            </a:solidFill>
            <a:prstDash val="solid"/>
          </a:ln>
          <a:effectLst>
            <a:outerShdw sx="100000" sy="100000" kx="0" ky="0" algn="bl" rotWithShape="0" blurRad="127000" dist="50800" dir="5400000">
              <a:srgbClr val="5A47CE">
                <a:alpha val="45000"/>
              </a:srgbClr>
            </a:outerShdw>
          </a:effectLst>
        </p:spPr>
      </p:sp>
      <p:pic>
        <p:nvPicPr>
          <p:cNvPr id="9" name="Image 1" descr="assets/icons/target_w.png">    </p:cNvPr>
          <p:cNvPicPr>
            <a:picLocks noChangeAspect="1"/>
          </p:cNvPicPr>
          <p:nvPr/>
        </p:nvPicPr>
        <p:blipFill>
          <a:blip r:embed="rId3"/>
          <a:stretch>
            <a:fillRect/>
          </a:stretch>
        </p:blipFill>
        <p:spPr>
          <a:xfrm>
            <a:off x="866120" y="1871960"/>
            <a:ext cx="297729" cy="297729"/>
          </a:xfrm>
          <a:prstGeom prst="rect">
            <a:avLst/>
          </a:prstGeom>
        </p:spPr>
      </p:pic>
      <p:sp>
        <p:nvSpPr>
          <p:cNvPr id="10" name="Text 6"/>
          <p:cNvSpPr txBox="1"/>
          <p:nvPr/>
        </p:nvSpPr>
        <p:spPr>
          <a:xfrm>
            <a:off x="1389888" y="1755648"/>
            <a:ext cx="2432304" cy="512064"/>
          </a:xfrm>
          <a:prstGeom prst="rect">
            <a:avLst/>
          </a:prstGeom>
          <a:noFill/>
          <a:ln/>
        </p:spPr>
        <p:txBody>
          <a:bodyPr wrap="square" lIns="0" tIns="0" rIns="0" bIns="0" rtlCol="0" anchor="ctr"/>
          <a:lstStyle/>
          <a:p>
            <a:pPr indent="0" marL="0">
              <a:lnSpc>
                <a:spcPct val="100000"/>
              </a:lnSpc>
              <a:buNone/>
            </a:pPr>
            <a:r>
              <a:rPr lang="en-US" sz="1150" b="1" dirty="0">
                <a:solidFill>
                  <a:srgbClr val="FFFFFF"/>
                </a:solidFill>
                <a:latin typeface="Calibri" pitchFamily="34" charset="0"/>
                <a:ea typeface="Calibri" pitchFamily="34" charset="-122"/>
                <a:cs typeface="Calibri" pitchFamily="34" charset="-120"/>
              </a:rPr>
              <a:t>Addresses the sub-problem</a:t>
            </a:r>
            <a:endParaRPr lang="en-US" sz="1150" dirty="0"/>
          </a:p>
        </p:txBody>
      </p:sp>
      <p:sp>
        <p:nvSpPr>
          <p:cNvPr id="11" name="Text 7"/>
          <p:cNvSpPr txBox="1"/>
          <p:nvPr/>
        </p:nvSpPr>
        <p:spPr>
          <a:xfrm>
            <a:off x="822960" y="2596896"/>
            <a:ext cx="4946904" cy="1097280"/>
          </a:xfrm>
          <a:prstGeom prst="rect">
            <a:avLst/>
          </a:prstGeom>
          <a:noFill/>
          <a:ln/>
        </p:spPr>
        <p:txBody>
          <a:bodyPr wrap="square" lIns="0" tIns="0" rIns="0" bIns="0" rtlCol="0" anchor="ctr"/>
          <a:lstStyle/>
          <a:p>
            <a:pPr indent="0" marL="0">
              <a:lnSpc>
                <a:spcPct val="102000"/>
              </a:lnSpc>
              <a:buNone/>
            </a:pPr>
            <a:r>
              <a:rPr lang="en-US" sz="1100" dirty="0">
                <a:solidFill>
                  <a:srgbClr val="CFCBEF"/>
                </a:solidFill>
                <a:latin typeface="Calibri" pitchFamily="34" charset="0"/>
                <a:ea typeface="Calibri" pitchFamily="34" charset="-122"/>
                <a:cs typeface="Calibri" pitchFamily="34" charset="-120"/>
              </a:rPr>
              <a:t>Scanners report issues in isolation with no project link, and agents read untrusted repo text. The component is a unified, traceable, governed security layer.</a:t>
            </a:r>
            <a:endParaRPr lang="en-US" sz="1100" dirty="0"/>
          </a:p>
        </p:txBody>
      </p:sp>
      <p:sp>
        <p:nvSpPr>
          <p:cNvPr id="12" name="Shape 8"/>
          <p:cNvSpPr/>
          <p:nvPr/>
        </p:nvSpPr>
        <p:spPr>
          <a:xfrm>
            <a:off x="6208776" y="2011680"/>
            <a:ext cx="5440680" cy="1847088"/>
          </a:xfrm>
          <a:prstGeom prst="roundRect">
            <a:avLst>
              <a:gd name="adj" fmla="val 5446"/>
            </a:avLst>
          </a:prstGeom>
          <a:solidFill>
            <a:srgbClr val="FFFFFF">
              <a:alpha val="12000"/>
            </a:srgbClr>
          </a:solidFill>
          <a:ln w="12700">
            <a:solidFill>
              <a:srgbClr val="FFFFFF">
                <a:alpha val="18000"/>
              </a:srgbClr>
            </a:solidFill>
            <a:prstDash val="solid"/>
          </a:ln>
          <a:effectLst>
            <a:outerShdw sx="100000" sy="100000" kx="0" ky="0" algn="bl" rotWithShape="0" blurRad="177800" dist="63500" dir="5400000">
              <a:srgbClr val="0B0920">
                <a:alpha val="45000"/>
              </a:srgbClr>
            </a:outerShdw>
          </a:effectLst>
        </p:spPr>
      </p:sp>
      <p:sp>
        <p:nvSpPr>
          <p:cNvPr id="13" name="Shape 9"/>
          <p:cNvSpPr/>
          <p:nvPr/>
        </p:nvSpPr>
        <p:spPr>
          <a:xfrm>
            <a:off x="6574536" y="1755648"/>
            <a:ext cx="2589581" cy="512064"/>
          </a:xfrm>
          <a:prstGeom prst="roundRect">
            <a:avLst>
              <a:gd name="adj" fmla="val 50000"/>
            </a:avLst>
          </a:prstGeom>
          <a:solidFill>
            <a:srgbClr val="16C78C"/>
          </a:solidFill>
          <a:ln/>
          <a:effectLst>
            <a:outerShdw sx="100000" sy="100000" kx="0" ky="0" algn="bl" rotWithShape="0" blurRad="127000" dist="50800" dir="5400000">
              <a:srgbClr val="16C78C">
                <a:alpha val="45000"/>
              </a:srgbClr>
            </a:outerShdw>
          </a:effectLst>
        </p:spPr>
      </p:sp>
      <p:sp>
        <p:nvSpPr>
          <p:cNvPr id="14" name="Shape 10"/>
          <p:cNvSpPr/>
          <p:nvPr/>
        </p:nvSpPr>
        <p:spPr>
          <a:xfrm>
            <a:off x="6318504" y="1682496"/>
            <a:ext cx="676656" cy="676656"/>
          </a:xfrm>
          <a:prstGeom prst="ellipse">
            <a:avLst/>
          </a:prstGeom>
          <a:solidFill>
            <a:srgbClr val="0E9E6E"/>
          </a:solidFill>
          <a:ln w="15240">
            <a:solidFill>
              <a:srgbClr val="FFFFFF">
                <a:alpha val="38000"/>
              </a:srgbClr>
            </a:solidFill>
            <a:prstDash val="solid"/>
          </a:ln>
          <a:effectLst>
            <a:outerShdw sx="100000" sy="100000" kx="0" ky="0" algn="bl" rotWithShape="0" blurRad="127000" dist="50800" dir="5400000">
              <a:srgbClr val="0E9E6E">
                <a:alpha val="45000"/>
              </a:srgbClr>
            </a:outerShdw>
          </a:effectLst>
        </p:spPr>
      </p:sp>
      <p:pic>
        <p:nvPicPr>
          <p:cNvPr id="15" name="Image 2" descr="assets/icons/checksq_w.png">    </p:cNvPr>
          <p:cNvPicPr>
            <a:picLocks noChangeAspect="1"/>
          </p:cNvPicPr>
          <p:nvPr/>
        </p:nvPicPr>
        <p:blipFill>
          <a:blip r:embed="rId4"/>
          <a:stretch>
            <a:fillRect/>
          </a:stretch>
        </p:blipFill>
        <p:spPr>
          <a:xfrm>
            <a:off x="6507968" y="1871960"/>
            <a:ext cx="297729" cy="297729"/>
          </a:xfrm>
          <a:prstGeom prst="rect">
            <a:avLst/>
          </a:prstGeom>
        </p:spPr>
      </p:pic>
      <p:sp>
        <p:nvSpPr>
          <p:cNvPr id="16" name="Text 11"/>
          <p:cNvSpPr txBox="1"/>
          <p:nvPr/>
        </p:nvSpPr>
        <p:spPr>
          <a:xfrm>
            <a:off x="7031736" y="1755648"/>
            <a:ext cx="2095805" cy="512064"/>
          </a:xfrm>
          <a:prstGeom prst="rect">
            <a:avLst/>
          </a:prstGeom>
          <a:noFill/>
          <a:ln/>
        </p:spPr>
        <p:txBody>
          <a:bodyPr wrap="square" lIns="0" tIns="0" rIns="0" bIns="0" rtlCol="0" anchor="ctr"/>
          <a:lstStyle/>
          <a:p>
            <a:pPr indent="0" marL="0">
              <a:lnSpc>
                <a:spcPct val="100000"/>
              </a:lnSpc>
              <a:buNone/>
            </a:pPr>
            <a:r>
              <a:rPr lang="en-US" sz="1150" b="1" dirty="0">
                <a:solidFill>
                  <a:srgbClr val="FFFFFF"/>
                </a:solidFill>
                <a:latin typeface="Calibri" pitchFamily="34" charset="0"/>
                <a:ea typeface="Calibri" pitchFamily="34" charset="-122"/>
                <a:cs typeface="Calibri" pitchFamily="34" charset="-120"/>
              </a:rPr>
              <a:t>User requirements met</a:t>
            </a:r>
            <a:endParaRPr lang="en-US" sz="1150" dirty="0"/>
          </a:p>
        </p:txBody>
      </p:sp>
      <p:pic>
        <p:nvPicPr>
          <p:cNvPr id="17" name="Image 3" descr="assets/icons/check_w.png">    </p:cNvPr>
          <p:cNvPicPr>
            <a:picLocks noChangeAspect="1"/>
          </p:cNvPicPr>
          <p:nvPr/>
        </p:nvPicPr>
        <p:blipFill>
          <a:blip r:embed="rId5"/>
          <a:stretch>
            <a:fillRect/>
          </a:stretch>
        </p:blipFill>
        <p:spPr>
          <a:xfrm>
            <a:off x="6464808" y="2615184"/>
            <a:ext cx="155448" cy="155448"/>
          </a:xfrm>
          <a:prstGeom prst="rect">
            <a:avLst/>
          </a:prstGeom>
        </p:spPr>
      </p:pic>
      <p:sp>
        <p:nvSpPr>
          <p:cNvPr id="18" name="Text 12"/>
          <p:cNvSpPr txBox="1"/>
          <p:nvPr/>
        </p:nvSpPr>
        <p:spPr>
          <a:xfrm>
            <a:off x="6702552" y="2569464"/>
            <a:ext cx="4690872" cy="365760"/>
          </a:xfrm>
          <a:prstGeom prst="rect">
            <a:avLst/>
          </a:prstGeom>
          <a:noFill/>
          <a:ln/>
        </p:spPr>
        <p:txBody>
          <a:bodyPr wrap="square" lIns="0" tIns="0" rIns="0" bIns="0" rtlCol="0" anchor="ctr"/>
          <a:lstStyle/>
          <a:p>
            <a:pPr indent="0" marL="0">
              <a:lnSpc>
                <a:spcPct val="95000"/>
              </a:lnSpc>
              <a:buNone/>
            </a:pPr>
            <a:r>
              <a:rPr lang="en-US" sz="1050" dirty="0">
                <a:solidFill>
                  <a:srgbClr val="E7E4FA"/>
                </a:solidFill>
                <a:latin typeface="Calibri" pitchFamily="34" charset="0"/>
                <a:ea typeface="Calibri" pitchFamily="34" charset="-122"/>
                <a:cs typeface="Calibri" pitchFamily="34" charset="-120"/>
              </a:rPr>
              <a:t>Prioritized findings linked to requirement, sprint, commit &amp; student</a:t>
            </a:r>
            <a:endParaRPr lang="en-US" sz="1050" dirty="0"/>
          </a:p>
        </p:txBody>
      </p:sp>
      <p:pic>
        <p:nvPicPr>
          <p:cNvPr id="19" name="Image 4" descr="assets/icons/check_w.png">    </p:cNvPr>
          <p:cNvPicPr>
            <a:picLocks noChangeAspect="1"/>
          </p:cNvPicPr>
          <p:nvPr/>
        </p:nvPicPr>
        <p:blipFill>
          <a:blip r:embed="rId6"/>
          <a:stretch>
            <a:fillRect/>
          </a:stretch>
        </p:blipFill>
        <p:spPr>
          <a:xfrm>
            <a:off x="6464808" y="2999232"/>
            <a:ext cx="155448" cy="155448"/>
          </a:xfrm>
          <a:prstGeom prst="rect">
            <a:avLst/>
          </a:prstGeom>
        </p:spPr>
      </p:pic>
      <p:sp>
        <p:nvSpPr>
          <p:cNvPr id="20" name="Text 13"/>
          <p:cNvSpPr txBox="1"/>
          <p:nvPr/>
        </p:nvSpPr>
        <p:spPr>
          <a:xfrm>
            <a:off x="6702552" y="2953512"/>
            <a:ext cx="4690872" cy="365760"/>
          </a:xfrm>
          <a:prstGeom prst="rect">
            <a:avLst/>
          </a:prstGeom>
          <a:noFill/>
          <a:ln/>
        </p:spPr>
        <p:txBody>
          <a:bodyPr wrap="square" lIns="0" tIns="0" rIns="0" bIns="0" rtlCol="0" anchor="ctr"/>
          <a:lstStyle/>
          <a:p>
            <a:pPr indent="0" marL="0">
              <a:lnSpc>
                <a:spcPct val="95000"/>
              </a:lnSpc>
              <a:buNone/>
            </a:pPr>
            <a:r>
              <a:rPr lang="en-US" sz="1050" dirty="0">
                <a:solidFill>
                  <a:srgbClr val="E7E4FA"/>
                </a:solidFill>
                <a:latin typeface="Calibri" pitchFamily="34" charset="0"/>
                <a:ea typeface="Calibri" pitchFamily="34" charset="-122"/>
                <a:cs typeface="Calibri" pitchFamily="34" charset="-120"/>
              </a:rPr>
              <a:t>Evidence-backed secure-fix guidance</a:t>
            </a:r>
            <a:endParaRPr lang="en-US" sz="1050" dirty="0"/>
          </a:p>
        </p:txBody>
      </p:sp>
      <p:pic>
        <p:nvPicPr>
          <p:cNvPr id="21" name="Image 5" descr="assets/icons/check_w.png">    </p:cNvPr>
          <p:cNvPicPr>
            <a:picLocks noChangeAspect="1"/>
          </p:cNvPicPr>
          <p:nvPr/>
        </p:nvPicPr>
        <p:blipFill>
          <a:blip r:embed="rId7"/>
          <a:stretch>
            <a:fillRect/>
          </a:stretch>
        </p:blipFill>
        <p:spPr>
          <a:xfrm>
            <a:off x="6464808" y="3383280"/>
            <a:ext cx="155448" cy="155448"/>
          </a:xfrm>
          <a:prstGeom prst="rect">
            <a:avLst/>
          </a:prstGeom>
        </p:spPr>
      </p:pic>
      <p:sp>
        <p:nvSpPr>
          <p:cNvPr id="22" name="Text 14"/>
          <p:cNvSpPr txBox="1"/>
          <p:nvPr/>
        </p:nvSpPr>
        <p:spPr>
          <a:xfrm>
            <a:off x="6702552" y="3337560"/>
            <a:ext cx="4690872" cy="365760"/>
          </a:xfrm>
          <a:prstGeom prst="rect">
            <a:avLst/>
          </a:prstGeom>
          <a:noFill/>
          <a:ln/>
        </p:spPr>
        <p:txBody>
          <a:bodyPr wrap="square" lIns="0" tIns="0" rIns="0" bIns="0" rtlCol="0" anchor="ctr"/>
          <a:lstStyle/>
          <a:p>
            <a:pPr indent="0" marL="0">
              <a:lnSpc>
                <a:spcPct val="95000"/>
              </a:lnSpc>
              <a:buNone/>
            </a:pPr>
            <a:r>
              <a:rPr lang="en-US" sz="1050" dirty="0">
                <a:solidFill>
                  <a:srgbClr val="E7E4FA"/>
                </a:solidFill>
                <a:latin typeface="Calibri" pitchFamily="34" charset="0"/>
                <a:ea typeface="Calibri" pitchFamily="34" charset="-122"/>
                <a:cs typeface="Calibri" pitchFamily="34" charset="-120"/>
              </a:rPr>
              <a:t>Verified closure + lecturer dashboard</a:t>
            </a:r>
            <a:endParaRPr lang="en-US" sz="1050" dirty="0"/>
          </a:p>
        </p:txBody>
      </p:sp>
      <p:sp>
        <p:nvSpPr>
          <p:cNvPr id="23" name="Shape 15"/>
          <p:cNvSpPr/>
          <p:nvPr/>
        </p:nvSpPr>
        <p:spPr>
          <a:xfrm>
            <a:off x="566928" y="4315968"/>
            <a:ext cx="5440680" cy="1847088"/>
          </a:xfrm>
          <a:prstGeom prst="roundRect">
            <a:avLst>
              <a:gd name="adj" fmla="val 5446"/>
            </a:avLst>
          </a:prstGeom>
          <a:solidFill>
            <a:srgbClr val="FFFFFF">
              <a:alpha val="12000"/>
            </a:srgbClr>
          </a:solidFill>
          <a:ln w="12700">
            <a:solidFill>
              <a:srgbClr val="FFFFFF">
                <a:alpha val="18000"/>
              </a:srgbClr>
            </a:solidFill>
            <a:prstDash val="solid"/>
          </a:ln>
          <a:effectLst>
            <a:outerShdw sx="100000" sy="100000" kx="0" ky="0" algn="bl" rotWithShape="0" blurRad="177800" dist="63500" dir="5400000">
              <a:srgbClr val="0B0920">
                <a:alpha val="45000"/>
              </a:srgbClr>
            </a:outerShdw>
          </a:effectLst>
        </p:spPr>
      </p:sp>
      <p:sp>
        <p:nvSpPr>
          <p:cNvPr id="24" name="Shape 16"/>
          <p:cNvSpPr/>
          <p:nvPr/>
        </p:nvSpPr>
        <p:spPr>
          <a:xfrm>
            <a:off x="932688" y="4059936"/>
            <a:ext cx="3514954" cy="512064"/>
          </a:xfrm>
          <a:prstGeom prst="roundRect">
            <a:avLst>
              <a:gd name="adj" fmla="val 50000"/>
            </a:avLst>
          </a:prstGeom>
          <a:solidFill>
            <a:srgbClr val="F2A740"/>
          </a:solidFill>
          <a:ln/>
          <a:effectLst>
            <a:outerShdw sx="100000" sy="100000" kx="0" ky="0" algn="bl" rotWithShape="0" blurRad="127000" dist="50800" dir="5400000">
              <a:srgbClr val="F2A740">
                <a:alpha val="45000"/>
              </a:srgbClr>
            </a:outerShdw>
          </a:effectLst>
        </p:spPr>
      </p:sp>
      <p:sp>
        <p:nvSpPr>
          <p:cNvPr id="25" name="Shape 17"/>
          <p:cNvSpPr/>
          <p:nvPr/>
        </p:nvSpPr>
        <p:spPr>
          <a:xfrm>
            <a:off x="676656" y="3986784"/>
            <a:ext cx="676656" cy="676656"/>
          </a:xfrm>
          <a:prstGeom prst="ellipse">
            <a:avLst/>
          </a:prstGeom>
          <a:solidFill>
            <a:srgbClr val="E0891C"/>
          </a:solidFill>
          <a:ln w="15240">
            <a:solidFill>
              <a:srgbClr val="FFFFFF">
                <a:alpha val="38000"/>
              </a:srgbClr>
            </a:solidFill>
            <a:prstDash val="solid"/>
          </a:ln>
          <a:effectLst>
            <a:outerShdw sx="100000" sy="100000" kx="0" ky="0" algn="bl" rotWithShape="0" blurRad="127000" dist="50800" dir="5400000">
              <a:srgbClr val="E0891C">
                <a:alpha val="45000"/>
              </a:srgbClr>
            </a:outerShdw>
          </a:effectLst>
        </p:spPr>
      </p:sp>
      <p:pic>
        <p:nvPicPr>
          <p:cNvPr id="26" name="Image 6" descr="assets/icons/award_w.png">    </p:cNvPr>
          <p:cNvPicPr>
            <a:picLocks noChangeAspect="1"/>
          </p:cNvPicPr>
          <p:nvPr/>
        </p:nvPicPr>
        <p:blipFill>
          <a:blip r:embed="rId8"/>
          <a:stretch>
            <a:fillRect/>
          </a:stretch>
        </p:blipFill>
        <p:spPr>
          <a:xfrm>
            <a:off x="866120" y="4176248"/>
            <a:ext cx="297729" cy="297729"/>
          </a:xfrm>
          <a:prstGeom prst="rect">
            <a:avLst/>
          </a:prstGeom>
        </p:spPr>
      </p:pic>
      <p:sp>
        <p:nvSpPr>
          <p:cNvPr id="27" name="Text 18"/>
          <p:cNvSpPr txBox="1"/>
          <p:nvPr/>
        </p:nvSpPr>
        <p:spPr>
          <a:xfrm>
            <a:off x="1389888" y="4059936"/>
            <a:ext cx="3021178" cy="512064"/>
          </a:xfrm>
          <a:prstGeom prst="rect">
            <a:avLst/>
          </a:prstGeom>
          <a:noFill/>
          <a:ln/>
        </p:spPr>
        <p:txBody>
          <a:bodyPr wrap="square" lIns="0" tIns="0" rIns="0" bIns="0" rtlCol="0" anchor="ctr"/>
          <a:lstStyle/>
          <a:p>
            <a:pPr indent="0" marL="0">
              <a:lnSpc>
                <a:spcPct val="100000"/>
              </a:lnSpc>
              <a:buNone/>
            </a:pPr>
            <a:r>
              <a:rPr lang="en-US" sz="1150" b="1" dirty="0">
                <a:solidFill>
                  <a:srgbClr val="FFFFFF"/>
                </a:solidFill>
                <a:latin typeface="Calibri" pitchFamily="34" charset="0"/>
                <a:ea typeface="Calibri" pitchFamily="34" charset="-122"/>
                <a:cs typeface="Calibri" pitchFamily="34" charset="-120"/>
              </a:rPr>
              <a:t>Design excellence &amp; contribution</a:t>
            </a:r>
            <a:endParaRPr lang="en-US" sz="1150" dirty="0"/>
          </a:p>
        </p:txBody>
      </p:sp>
      <p:pic>
        <p:nvPicPr>
          <p:cNvPr id="28" name="Image 7" descr="assets/icons/check_w.png">    </p:cNvPr>
          <p:cNvPicPr>
            <a:picLocks noChangeAspect="1"/>
          </p:cNvPicPr>
          <p:nvPr/>
        </p:nvPicPr>
        <p:blipFill>
          <a:blip r:embed="rId9"/>
          <a:stretch>
            <a:fillRect/>
          </a:stretch>
        </p:blipFill>
        <p:spPr>
          <a:xfrm>
            <a:off x="822960" y="4919472"/>
            <a:ext cx="155448" cy="155448"/>
          </a:xfrm>
          <a:prstGeom prst="rect">
            <a:avLst/>
          </a:prstGeom>
        </p:spPr>
      </p:pic>
      <p:sp>
        <p:nvSpPr>
          <p:cNvPr id="29" name="Text 19"/>
          <p:cNvSpPr txBox="1"/>
          <p:nvPr/>
        </p:nvSpPr>
        <p:spPr>
          <a:xfrm>
            <a:off x="1060704" y="4873752"/>
            <a:ext cx="4690872" cy="365760"/>
          </a:xfrm>
          <a:prstGeom prst="rect">
            <a:avLst/>
          </a:prstGeom>
          <a:noFill/>
          <a:ln/>
        </p:spPr>
        <p:txBody>
          <a:bodyPr wrap="square" lIns="0" tIns="0" rIns="0" bIns="0" rtlCol="0" anchor="ctr"/>
          <a:lstStyle/>
          <a:p>
            <a:pPr indent="0" marL="0">
              <a:lnSpc>
                <a:spcPct val="95000"/>
              </a:lnSpc>
              <a:buNone/>
            </a:pPr>
            <a:r>
              <a:rPr lang="en-US" sz="1050" dirty="0">
                <a:solidFill>
                  <a:srgbClr val="E7E4FA"/>
                </a:solidFill>
                <a:latin typeface="Calibri" pitchFamily="34" charset="0"/>
                <a:ea typeface="Calibri" pitchFamily="34" charset="-122"/>
                <a:cs typeface="Calibri" pitchFamily="34" charset="-120"/>
              </a:rPr>
              <a:t>Deterministic scanners give evidence; the LLM only explains &amp; prioritizes</a:t>
            </a:r>
            <a:endParaRPr lang="en-US" sz="1050" dirty="0"/>
          </a:p>
        </p:txBody>
      </p:sp>
      <p:pic>
        <p:nvPicPr>
          <p:cNvPr id="30" name="Image 8" descr="assets/icons/check_w.png">    </p:cNvPr>
          <p:cNvPicPr>
            <a:picLocks noChangeAspect="1"/>
          </p:cNvPicPr>
          <p:nvPr/>
        </p:nvPicPr>
        <p:blipFill>
          <a:blip r:embed="rId10"/>
          <a:stretch>
            <a:fillRect/>
          </a:stretch>
        </p:blipFill>
        <p:spPr>
          <a:xfrm>
            <a:off x="822960" y="5303520"/>
            <a:ext cx="155448" cy="155448"/>
          </a:xfrm>
          <a:prstGeom prst="rect">
            <a:avLst/>
          </a:prstGeom>
        </p:spPr>
      </p:pic>
      <p:sp>
        <p:nvSpPr>
          <p:cNvPr id="31" name="Text 20"/>
          <p:cNvSpPr txBox="1"/>
          <p:nvPr/>
        </p:nvSpPr>
        <p:spPr>
          <a:xfrm>
            <a:off x="1060704" y="5257800"/>
            <a:ext cx="4690872" cy="365760"/>
          </a:xfrm>
          <a:prstGeom prst="rect">
            <a:avLst/>
          </a:prstGeom>
          <a:noFill/>
          <a:ln/>
        </p:spPr>
        <p:txBody>
          <a:bodyPr wrap="square" lIns="0" tIns="0" rIns="0" bIns="0" rtlCol="0" anchor="ctr"/>
          <a:lstStyle/>
          <a:p>
            <a:pPr indent="0" marL="0">
              <a:lnSpc>
                <a:spcPct val="95000"/>
              </a:lnSpc>
              <a:buNone/>
            </a:pPr>
            <a:r>
              <a:rPr lang="en-US" sz="1050" dirty="0">
                <a:solidFill>
                  <a:srgbClr val="E7E4FA"/>
                </a:solidFill>
                <a:latin typeface="Calibri" pitchFamily="34" charset="0"/>
                <a:ea typeface="Calibri" pitchFamily="34" charset="-122"/>
                <a:cs typeface="Calibri" pitchFamily="34" charset="-120"/>
              </a:rPr>
              <a:t>Full project-context traceability for every finding</a:t>
            </a:r>
            <a:endParaRPr lang="en-US" sz="1050" dirty="0"/>
          </a:p>
        </p:txBody>
      </p:sp>
      <p:pic>
        <p:nvPicPr>
          <p:cNvPr id="32" name="Image 9" descr="assets/icons/check_w.png">    </p:cNvPr>
          <p:cNvPicPr>
            <a:picLocks noChangeAspect="1"/>
          </p:cNvPicPr>
          <p:nvPr/>
        </p:nvPicPr>
        <p:blipFill>
          <a:blip r:embed="rId11"/>
          <a:stretch>
            <a:fillRect/>
          </a:stretch>
        </p:blipFill>
        <p:spPr>
          <a:xfrm>
            <a:off x="822960" y="5687568"/>
            <a:ext cx="155448" cy="155448"/>
          </a:xfrm>
          <a:prstGeom prst="rect">
            <a:avLst/>
          </a:prstGeom>
        </p:spPr>
      </p:pic>
      <p:sp>
        <p:nvSpPr>
          <p:cNvPr id="33" name="Text 21"/>
          <p:cNvSpPr txBox="1"/>
          <p:nvPr/>
        </p:nvSpPr>
        <p:spPr>
          <a:xfrm>
            <a:off x="1060704" y="5641848"/>
            <a:ext cx="4690872" cy="365760"/>
          </a:xfrm>
          <a:prstGeom prst="rect">
            <a:avLst/>
          </a:prstGeom>
          <a:noFill/>
          <a:ln/>
        </p:spPr>
        <p:txBody>
          <a:bodyPr wrap="square" lIns="0" tIns="0" rIns="0" bIns="0" rtlCol="0" anchor="ctr"/>
          <a:lstStyle/>
          <a:p>
            <a:pPr indent="0" marL="0">
              <a:lnSpc>
                <a:spcPct val="95000"/>
              </a:lnSpc>
              <a:buNone/>
            </a:pPr>
            <a:r>
              <a:rPr lang="en-US" sz="1050" dirty="0">
                <a:solidFill>
                  <a:srgbClr val="E7E4FA"/>
                </a:solidFill>
                <a:latin typeface="Calibri" pitchFamily="34" charset="0"/>
                <a:ea typeface="Calibri" pitchFamily="34" charset="-122"/>
                <a:cs typeface="Calibri" pitchFamily="34" charset="-120"/>
              </a:rPr>
              <a:t>Governance: least-privilege, prompt-injection defense, audit logs</a:t>
            </a:r>
            <a:endParaRPr lang="en-US" sz="1050" dirty="0"/>
          </a:p>
        </p:txBody>
      </p:sp>
      <p:sp>
        <p:nvSpPr>
          <p:cNvPr id="34" name="Shape 22"/>
          <p:cNvSpPr/>
          <p:nvPr/>
        </p:nvSpPr>
        <p:spPr>
          <a:xfrm>
            <a:off x="6208776" y="4315968"/>
            <a:ext cx="5440680" cy="1847088"/>
          </a:xfrm>
          <a:prstGeom prst="roundRect">
            <a:avLst>
              <a:gd name="adj" fmla="val 5446"/>
            </a:avLst>
          </a:prstGeom>
          <a:solidFill>
            <a:srgbClr val="FFFFFF">
              <a:alpha val="12000"/>
            </a:srgbClr>
          </a:solidFill>
          <a:ln w="12700">
            <a:solidFill>
              <a:srgbClr val="FFFFFF">
                <a:alpha val="18000"/>
              </a:srgbClr>
            </a:solidFill>
            <a:prstDash val="solid"/>
          </a:ln>
          <a:effectLst>
            <a:outerShdw sx="100000" sy="100000" kx="0" ky="0" algn="bl" rotWithShape="0" blurRad="177800" dist="63500" dir="5400000">
              <a:srgbClr val="0B0920">
                <a:alpha val="45000"/>
              </a:srgbClr>
            </a:outerShdw>
          </a:effectLst>
        </p:spPr>
      </p:sp>
      <p:sp>
        <p:nvSpPr>
          <p:cNvPr id="35" name="Shape 23"/>
          <p:cNvSpPr/>
          <p:nvPr/>
        </p:nvSpPr>
        <p:spPr>
          <a:xfrm>
            <a:off x="6574536" y="4059936"/>
            <a:ext cx="2421331" cy="512064"/>
          </a:xfrm>
          <a:prstGeom prst="roundRect">
            <a:avLst>
              <a:gd name="adj" fmla="val 50000"/>
            </a:avLst>
          </a:prstGeom>
          <a:solidFill>
            <a:srgbClr val="39BC7A"/>
          </a:solidFill>
          <a:ln/>
          <a:effectLst>
            <a:outerShdw sx="100000" sy="100000" kx="0" ky="0" algn="bl" rotWithShape="0" blurRad="127000" dist="50800" dir="5400000">
              <a:srgbClr val="39BC7A">
                <a:alpha val="45000"/>
              </a:srgbClr>
            </a:outerShdw>
          </a:effectLst>
        </p:spPr>
      </p:sp>
      <p:sp>
        <p:nvSpPr>
          <p:cNvPr id="36" name="Shape 24"/>
          <p:cNvSpPr/>
          <p:nvPr/>
        </p:nvSpPr>
        <p:spPr>
          <a:xfrm>
            <a:off x="6318504" y="3986784"/>
            <a:ext cx="676656" cy="676656"/>
          </a:xfrm>
          <a:prstGeom prst="ellipse">
            <a:avLst/>
          </a:prstGeom>
          <a:solidFill>
            <a:srgbClr val="23925B"/>
          </a:solidFill>
          <a:ln w="15240">
            <a:solidFill>
              <a:srgbClr val="FFFFFF">
                <a:alpha val="38000"/>
              </a:srgbClr>
            </a:solidFill>
            <a:prstDash val="solid"/>
          </a:ln>
          <a:effectLst>
            <a:outerShdw sx="100000" sy="100000" kx="0" ky="0" algn="bl" rotWithShape="0" blurRad="127000" dist="50800" dir="5400000">
              <a:srgbClr val="23925B">
                <a:alpha val="45000"/>
              </a:srgbClr>
            </a:outerShdw>
          </a:effectLst>
        </p:spPr>
      </p:sp>
      <p:pic>
        <p:nvPicPr>
          <p:cNvPr id="37" name="Image 10" descr="assets/icons/activity_w.png">    </p:cNvPr>
          <p:cNvPicPr>
            <a:picLocks noChangeAspect="1"/>
          </p:cNvPicPr>
          <p:nvPr/>
        </p:nvPicPr>
        <p:blipFill>
          <a:blip r:embed="rId12"/>
          <a:stretch>
            <a:fillRect/>
          </a:stretch>
        </p:blipFill>
        <p:spPr>
          <a:xfrm>
            <a:off x="6507968" y="4176248"/>
            <a:ext cx="297729" cy="297729"/>
          </a:xfrm>
          <a:prstGeom prst="rect">
            <a:avLst/>
          </a:prstGeom>
        </p:spPr>
      </p:pic>
      <p:sp>
        <p:nvSpPr>
          <p:cNvPr id="38" name="Text 25"/>
          <p:cNvSpPr txBox="1"/>
          <p:nvPr/>
        </p:nvSpPr>
        <p:spPr>
          <a:xfrm>
            <a:off x="7031736" y="4059936"/>
            <a:ext cx="1927555" cy="512064"/>
          </a:xfrm>
          <a:prstGeom prst="rect">
            <a:avLst/>
          </a:prstGeom>
          <a:noFill/>
          <a:ln/>
        </p:spPr>
        <p:txBody>
          <a:bodyPr wrap="square" lIns="0" tIns="0" rIns="0" bIns="0" rtlCol="0" anchor="ctr"/>
          <a:lstStyle/>
          <a:p>
            <a:pPr indent="0" marL="0">
              <a:lnSpc>
                <a:spcPct val="100000"/>
              </a:lnSpc>
              <a:buNone/>
            </a:pPr>
            <a:r>
              <a:rPr lang="en-US" sz="1150" b="1" dirty="0">
                <a:solidFill>
                  <a:srgbClr val="FFFFFF"/>
                </a:solidFill>
                <a:latin typeface="Calibri" pitchFamily="34" charset="0"/>
                <a:ea typeface="Calibri" pitchFamily="34" charset="-122"/>
                <a:cs typeface="Calibri" pitchFamily="34" charset="-120"/>
              </a:rPr>
              <a:t>Progress &amp; feedback</a:t>
            </a:r>
            <a:endParaRPr lang="en-US" sz="1150" dirty="0"/>
          </a:p>
        </p:txBody>
      </p:sp>
      <p:pic>
        <p:nvPicPr>
          <p:cNvPr id="39" name="Image 11" descr="assets/icons/check_e.png">    </p:cNvPr>
          <p:cNvPicPr>
            <a:picLocks noChangeAspect="1"/>
          </p:cNvPicPr>
          <p:nvPr/>
        </p:nvPicPr>
        <p:blipFill>
          <a:blip r:embed="rId13"/>
          <a:stretch>
            <a:fillRect/>
          </a:stretch>
        </p:blipFill>
        <p:spPr>
          <a:xfrm>
            <a:off x="6464808" y="4919472"/>
            <a:ext cx="155448" cy="155448"/>
          </a:xfrm>
          <a:prstGeom prst="rect">
            <a:avLst/>
          </a:prstGeom>
        </p:spPr>
      </p:pic>
      <p:sp>
        <p:nvSpPr>
          <p:cNvPr id="40" name="Text 26"/>
          <p:cNvSpPr txBox="1"/>
          <p:nvPr/>
        </p:nvSpPr>
        <p:spPr>
          <a:xfrm>
            <a:off x="6702552" y="4873752"/>
            <a:ext cx="4690872" cy="365760"/>
          </a:xfrm>
          <a:prstGeom prst="rect">
            <a:avLst/>
          </a:prstGeom>
          <a:noFill/>
          <a:ln/>
        </p:spPr>
        <p:txBody>
          <a:bodyPr wrap="square" lIns="0" tIns="0" rIns="0" bIns="0" rtlCol="0" anchor="ctr"/>
          <a:lstStyle/>
          <a:p>
            <a:pPr indent="0" marL="0">
              <a:lnSpc>
                <a:spcPct val="95000"/>
              </a:lnSpc>
              <a:buNone/>
            </a:pPr>
            <a:r>
              <a:rPr lang="en-US" sz="1050" dirty="0">
                <a:solidFill>
                  <a:srgbClr val="9FE7C9"/>
                </a:solidFill>
                <a:latin typeface="Calibri" pitchFamily="34" charset="0"/>
                <a:ea typeface="Calibri" pitchFamily="34" charset="-122"/>
                <a:cs typeface="Calibri" pitchFamily="34" charset="-120"/>
              </a:rPr>
              <a:t>Literature review &amp; scope complete</a:t>
            </a:r>
            <a:endParaRPr lang="en-US" sz="1050" dirty="0"/>
          </a:p>
        </p:txBody>
      </p:sp>
      <p:pic>
        <p:nvPicPr>
          <p:cNvPr id="41" name="Image 12" descr="assets/icons/check_e.png">    </p:cNvPr>
          <p:cNvPicPr>
            <a:picLocks noChangeAspect="1"/>
          </p:cNvPicPr>
          <p:nvPr/>
        </p:nvPicPr>
        <p:blipFill>
          <a:blip r:embed="rId14"/>
          <a:stretch>
            <a:fillRect/>
          </a:stretch>
        </p:blipFill>
        <p:spPr>
          <a:xfrm>
            <a:off x="6464808" y="5303520"/>
            <a:ext cx="155448" cy="155448"/>
          </a:xfrm>
          <a:prstGeom prst="rect">
            <a:avLst/>
          </a:prstGeom>
        </p:spPr>
      </p:pic>
      <p:sp>
        <p:nvSpPr>
          <p:cNvPr id="42" name="Text 27"/>
          <p:cNvSpPr txBox="1"/>
          <p:nvPr/>
        </p:nvSpPr>
        <p:spPr>
          <a:xfrm>
            <a:off x="6702552" y="5257800"/>
            <a:ext cx="4690872" cy="365760"/>
          </a:xfrm>
          <a:prstGeom prst="rect">
            <a:avLst/>
          </a:prstGeom>
          <a:noFill/>
          <a:ln/>
        </p:spPr>
        <p:txBody>
          <a:bodyPr wrap="square" lIns="0" tIns="0" rIns="0" bIns="0" rtlCol="0" anchor="ctr"/>
          <a:lstStyle/>
          <a:p>
            <a:pPr indent="0" marL="0">
              <a:lnSpc>
                <a:spcPct val="95000"/>
              </a:lnSpc>
              <a:buNone/>
            </a:pPr>
            <a:r>
              <a:rPr lang="en-US" sz="1050" dirty="0">
                <a:solidFill>
                  <a:srgbClr val="9FE7C9"/>
                </a:solidFill>
                <a:latin typeface="Calibri" pitchFamily="34" charset="0"/>
                <a:ea typeface="Calibri" pitchFamily="34" charset="-122"/>
                <a:cs typeface="Calibri" pitchFamily="34" charset="-120"/>
              </a:rPr>
              <a:t>Threat model in progress</a:t>
            </a:r>
            <a:endParaRPr lang="en-US" sz="1050" dirty="0"/>
          </a:p>
        </p:txBody>
      </p:sp>
      <p:pic>
        <p:nvPicPr>
          <p:cNvPr id="43" name="Image 13" descr="assets/icons/check_e.png">    </p:cNvPr>
          <p:cNvPicPr>
            <a:picLocks noChangeAspect="1"/>
          </p:cNvPicPr>
          <p:nvPr/>
        </p:nvPicPr>
        <p:blipFill>
          <a:blip r:embed="rId15"/>
          <a:stretch>
            <a:fillRect/>
          </a:stretch>
        </p:blipFill>
        <p:spPr>
          <a:xfrm>
            <a:off x="6464808" y="5687568"/>
            <a:ext cx="155448" cy="155448"/>
          </a:xfrm>
          <a:prstGeom prst="rect">
            <a:avLst/>
          </a:prstGeom>
        </p:spPr>
      </p:pic>
      <p:sp>
        <p:nvSpPr>
          <p:cNvPr id="44" name="Text 28"/>
          <p:cNvSpPr txBox="1"/>
          <p:nvPr/>
        </p:nvSpPr>
        <p:spPr>
          <a:xfrm>
            <a:off x="6702552" y="5641848"/>
            <a:ext cx="4690872" cy="365760"/>
          </a:xfrm>
          <a:prstGeom prst="rect">
            <a:avLst/>
          </a:prstGeom>
          <a:noFill/>
          <a:ln/>
        </p:spPr>
        <p:txBody>
          <a:bodyPr wrap="square" lIns="0" tIns="0" rIns="0" bIns="0" rtlCol="0" anchor="ctr"/>
          <a:lstStyle/>
          <a:p>
            <a:pPr indent="0" marL="0">
              <a:lnSpc>
                <a:spcPct val="95000"/>
              </a:lnSpc>
              <a:buNone/>
            </a:pPr>
            <a:r>
              <a:rPr lang="en-US" sz="1050" dirty="0">
                <a:solidFill>
                  <a:srgbClr val="9FE7C9"/>
                </a:solidFill>
                <a:latin typeface="Calibri" pitchFamily="34" charset="0"/>
                <a:ea typeface="Calibri" pitchFamily="34" charset="-122"/>
                <a:cs typeface="Calibri" pitchFamily="34" charset="-120"/>
              </a:rPr>
              <a:t>Evidence layer &amp; detection agents next</a:t>
            </a:r>
            <a:endParaRPr lang="en-US" sz="1050" dirty="0"/>
          </a:p>
        </p:txBody>
      </p:sp>
      <p:sp>
        <p:nvSpPr>
          <p:cNvPr id="45" name="Text 29"/>
          <p:cNvSpPr txBox="1"/>
          <p:nvPr/>
        </p:nvSpPr>
        <p:spPr>
          <a:xfrm>
            <a:off x="603504" y="6528816"/>
            <a:ext cx="8229600" cy="256032"/>
          </a:xfrm>
          <a:prstGeom prst="rect">
            <a:avLst/>
          </a:prstGeom>
          <a:noFill/>
          <a:ln/>
        </p:spPr>
        <p:txBody>
          <a:bodyPr wrap="square" lIns="0" tIns="0" rIns="0" bIns="0" rtlCol="0" anchor="ctr"/>
          <a:lstStyle/>
          <a:p>
            <a:pPr indent="0" marL="0">
              <a:lnSpc>
                <a:spcPct val="100000"/>
              </a:lnSpc>
              <a:buNone/>
            </a:pPr>
            <a:r>
              <a:rPr lang="en-US" sz="900" b="1" dirty="0">
                <a:solidFill>
                  <a:srgbClr val="9C97CC"/>
                </a:solidFill>
                <a:latin typeface="Calibri" pitchFamily="34" charset="0"/>
                <a:ea typeface="Calibri" pitchFamily="34" charset="-122"/>
                <a:cs typeface="Calibri" pitchFamily="34" charset="-120"/>
              </a:rPr>
              <a:t>IT23314238  |  Croos E D  |  J26-SE-363</a:t>
            </a:r>
            <a:endParaRPr lang="en-US" sz="900" dirty="0"/>
          </a:p>
        </p:txBody>
      </p:sp>
      <p:sp>
        <p:nvSpPr>
          <p:cNvPr id="46" name="Text 30"/>
          <p:cNvSpPr txBox="1"/>
          <p:nvPr/>
        </p:nvSpPr>
        <p:spPr>
          <a:xfrm>
            <a:off x="10972800" y="6528816"/>
            <a:ext cx="640080" cy="256032"/>
          </a:xfrm>
          <a:prstGeom prst="rect">
            <a:avLst/>
          </a:prstGeom>
          <a:noFill/>
          <a:ln/>
        </p:spPr>
        <p:txBody>
          <a:bodyPr wrap="square" lIns="0" tIns="0" rIns="0" bIns="0" rtlCol="0" anchor="ctr"/>
          <a:lstStyle/>
          <a:p>
            <a:pPr algn="r" indent="0" marL="0">
              <a:lnSpc>
                <a:spcPct val="100000"/>
              </a:lnSpc>
              <a:buNone/>
            </a:pPr>
            <a:r>
              <a:rPr lang="en-US" sz="850" dirty="0">
                <a:solidFill>
                  <a:srgbClr val="726CA6"/>
                </a:solidFill>
                <a:latin typeface="Calibri" pitchFamily="34" charset="0"/>
                <a:ea typeface="Calibri" pitchFamily="34" charset="-122"/>
                <a:cs typeface="Calibri" pitchFamily="34" charset="-120"/>
              </a:rPr>
              <a:t>18</a:t>
            </a:r>
            <a:endParaRPr lang="en-US" sz="85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Shape 0"/>
          <p:cNvSpPr/>
          <p:nvPr/>
        </p:nvSpPr>
        <p:spPr>
          <a:xfrm>
            <a:off x="10515600" y="411480"/>
            <a:ext cx="1005840" cy="1005840"/>
          </a:xfrm>
          <a:prstGeom prst="ellipse">
            <a:avLst/>
          </a:prstGeom>
          <a:solidFill>
            <a:srgbClr val="1A1640"/>
          </a:solidFill>
          <a:ln w="25400">
            <a:solidFill>
              <a:srgbClr val="39BC7A"/>
            </a:solidFill>
            <a:prstDash val="solid"/>
          </a:ln>
          <a:effectLst>
            <a:outerShdw sx="100000" sy="100000" kx="0" ky="0" algn="bl" rotWithShape="0" blurRad="127000" dist="50800" dir="5400000">
              <a:srgbClr val="4A3DC2">
                <a:alpha val="45000"/>
              </a:srgbClr>
            </a:outerShdw>
          </a:effectLst>
        </p:spPr>
      </p:sp>
      <p:pic>
        <p:nvPicPr>
          <p:cNvPr id="3" name="Image 0" descr="assets/croos.jpg">    </p:cNvPr>
          <p:cNvPicPr>
            <a:picLocks noChangeAspect="1"/>
          </p:cNvPicPr>
          <p:nvPr/>
        </p:nvPicPr>
        <p:blipFill>
          <a:blip r:embed="rId2"/>
          <a:stretch>
            <a:fillRect/>
          </a:stretch>
        </p:blipFill>
        <p:spPr>
          <a:xfrm>
            <a:off x="10561320" y="457200"/>
            <a:ext cx="914400" cy="914400"/>
          </a:xfrm>
          <a:prstGeom prst="ellipse">
            <a:avLst/>
          </a:prstGeom>
        </p:spPr>
      </p:pic>
      <p:sp>
        <p:nvSpPr>
          <p:cNvPr id="4" name="Text 1"/>
          <p:cNvSpPr txBox="1"/>
          <p:nvPr/>
        </p:nvSpPr>
        <p:spPr>
          <a:xfrm>
            <a:off x="603504" y="493776"/>
            <a:ext cx="10058400" cy="274320"/>
          </a:xfrm>
          <a:prstGeom prst="rect">
            <a:avLst/>
          </a:prstGeom>
          <a:noFill/>
          <a:ln/>
        </p:spPr>
        <p:txBody>
          <a:bodyPr wrap="square" lIns="0" tIns="0" rIns="0" bIns="0" rtlCol="0" anchor="ctr"/>
          <a:lstStyle/>
          <a:p>
            <a:pPr indent="0" marL="0">
              <a:lnSpc>
                <a:spcPct val="100000"/>
              </a:lnSpc>
              <a:buNone/>
            </a:pPr>
            <a:r>
              <a:rPr lang="en-US" sz="1100" b="1" spc="260" kern="0" dirty="0">
                <a:solidFill>
                  <a:srgbClr val="9FE7C9"/>
                </a:solidFill>
                <a:latin typeface="Calibri" pitchFamily="34" charset="0"/>
                <a:ea typeface="Calibri" pitchFamily="34" charset="-122"/>
                <a:cs typeface="Calibri" pitchFamily="34" charset="-120"/>
              </a:rPr>
              <a:t>SECURITY-AWARE FRAMEWORK  ·  COMPONENT DIAGRAM</a:t>
            </a:r>
            <a:endParaRPr lang="en-US" sz="1100" dirty="0"/>
          </a:p>
        </p:txBody>
      </p:sp>
      <p:sp>
        <p:nvSpPr>
          <p:cNvPr id="5" name="Text 2"/>
          <p:cNvSpPr txBox="1"/>
          <p:nvPr/>
        </p:nvSpPr>
        <p:spPr>
          <a:xfrm>
            <a:off x="566928" y="749808"/>
            <a:ext cx="9601200" cy="777240"/>
          </a:xfrm>
          <a:prstGeom prst="rect">
            <a:avLst/>
          </a:prstGeom>
          <a:noFill/>
          <a:ln/>
        </p:spPr>
        <p:txBody>
          <a:bodyPr wrap="square" lIns="0" tIns="0" rIns="0" bIns="0" rtlCol="0" anchor="ctr"/>
          <a:lstStyle/>
          <a:p>
            <a:pPr indent="0" marL="0">
              <a:lnSpc>
                <a:spcPct val="98000"/>
              </a:lnSpc>
              <a:buNone/>
            </a:pPr>
            <a:r>
              <a:rPr lang="en-US" sz="2200" b="1" dirty="0">
                <a:solidFill>
                  <a:srgbClr val="FFFFFF"/>
                </a:solidFill>
                <a:latin typeface="Calibri" pitchFamily="34" charset="0"/>
                <a:ea typeface="Calibri" pitchFamily="34" charset="-122"/>
                <a:cs typeface="Calibri" pitchFamily="34" charset="-120"/>
              </a:rPr>
              <a:t>Detect → Understand → Act Pipeline</a:t>
            </a:r>
            <a:endParaRPr lang="en-US" sz="2200" dirty="0"/>
          </a:p>
        </p:txBody>
      </p:sp>
      <p:sp>
        <p:nvSpPr>
          <p:cNvPr id="6" name="Shape 3"/>
          <p:cNvSpPr/>
          <p:nvPr/>
        </p:nvSpPr>
        <p:spPr>
          <a:xfrm>
            <a:off x="566928" y="1920240"/>
            <a:ext cx="3520440" cy="3017520"/>
          </a:xfrm>
          <a:prstGeom prst="roundRect">
            <a:avLst>
              <a:gd name="adj" fmla="val 3333"/>
            </a:avLst>
          </a:prstGeom>
          <a:solidFill>
            <a:srgbClr val="FFFFFF">
              <a:alpha val="12000"/>
            </a:srgbClr>
          </a:solidFill>
          <a:ln w="12700">
            <a:solidFill>
              <a:srgbClr val="FFFFFF">
                <a:alpha val="18000"/>
              </a:srgbClr>
            </a:solidFill>
            <a:prstDash val="solid"/>
          </a:ln>
          <a:effectLst>
            <a:outerShdw sx="100000" sy="100000" kx="0" ky="0" algn="bl" rotWithShape="0" blurRad="177800" dist="63500" dir="5400000">
              <a:srgbClr val="0B0920">
                <a:alpha val="45000"/>
              </a:srgbClr>
            </a:outerShdw>
          </a:effectLst>
        </p:spPr>
      </p:sp>
      <p:sp>
        <p:nvSpPr>
          <p:cNvPr id="7" name="Shape 4"/>
          <p:cNvSpPr/>
          <p:nvPr/>
        </p:nvSpPr>
        <p:spPr>
          <a:xfrm>
            <a:off x="804672" y="2157984"/>
            <a:ext cx="548640" cy="548640"/>
          </a:xfrm>
          <a:prstGeom prst="ellipse">
            <a:avLst/>
          </a:prstGeom>
          <a:solidFill>
            <a:srgbClr val="5A47CE"/>
          </a:solidFill>
          <a:ln w="17780">
            <a:solidFill>
              <a:srgbClr val="7E6CF4"/>
            </a:solidFill>
            <a:prstDash val="solid"/>
          </a:ln>
          <a:effectLst>
            <a:outerShdw sx="100000" sy="100000" kx="0" ky="0" algn="bl" rotWithShape="0" blurRad="127000" dist="50800" dir="5400000">
              <a:srgbClr val="7E6CF4">
                <a:alpha val="45000"/>
              </a:srgbClr>
            </a:outerShdw>
          </a:effectLst>
        </p:spPr>
      </p:sp>
      <p:pic>
        <p:nvPicPr>
          <p:cNvPr id="8" name="Image 1" descr="assets/icons/search_w.png">    </p:cNvPr>
          <p:cNvPicPr>
            <a:picLocks noChangeAspect="1"/>
          </p:cNvPicPr>
          <p:nvPr/>
        </p:nvPicPr>
        <p:blipFill>
          <a:blip r:embed="rId3"/>
          <a:stretch>
            <a:fillRect/>
          </a:stretch>
        </p:blipFill>
        <p:spPr>
          <a:xfrm>
            <a:off x="958291" y="2311603"/>
            <a:ext cx="241402" cy="241402"/>
          </a:xfrm>
          <a:prstGeom prst="rect">
            <a:avLst/>
          </a:prstGeom>
        </p:spPr>
      </p:pic>
      <p:sp>
        <p:nvSpPr>
          <p:cNvPr id="9" name="Text 5"/>
          <p:cNvSpPr txBox="1"/>
          <p:nvPr/>
        </p:nvSpPr>
        <p:spPr>
          <a:xfrm>
            <a:off x="1463040" y="2176272"/>
            <a:ext cx="2514600" cy="274320"/>
          </a:xfrm>
          <a:prstGeom prst="rect">
            <a:avLst/>
          </a:prstGeom>
          <a:noFill/>
          <a:ln/>
        </p:spPr>
        <p:txBody>
          <a:bodyPr wrap="square" lIns="0" tIns="0" rIns="0" bIns="0" rtlCol="0" anchor="ctr"/>
          <a:lstStyle/>
          <a:p>
            <a:pPr indent="0" marL="0">
              <a:lnSpc>
                <a:spcPct val="100000"/>
              </a:lnSpc>
              <a:buNone/>
            </a:pPr>
            <a:r>
              <a:rPr lang="en-US" sz="1450" b="1" dirty="0">
                <a:solidFill>
                  <a:srgbClr val="FFFFFF"/>
                </a:solidFill>
                <a:latin typeface="Calibri" pitchFamily="34" charset="0"/>
                <a:ea typeface="Calibri" pitchFamily="34" charset="-122"/>
                <a:cs typeface="Calibri" pitchFamily="34" charset="-120"/>
              </a:rPr>
              <a:t>Detect</a:t>
            </a:r>
            <a:endParaRPr lang="en-US" sz="1450" dirty="0"/>
          </a:p>
        </p:txBody>
      </p:sp>
      <p:sp>
        <p:nvSpPr>
          <p:cNvPr id="10" name="Text 6"/>
          <p:cNvSpPr txBox="1"/>
          <p:nvPr/>
        </p:nvSpPr>
        <p:spPr>
          <a:xfrm>
            <a:off x="1463040" y="2468880"/>
            <a:ext cx="2514600" cy="274320"/>
          </a:xfrm>
          <a:prstGeom prst="rect">
            <a:avLst/>
          </a:prstGeom>
          <a:noFill/>
          <a:ln/>
        </p:spPr>
        <p:txBody>
          <a:bodyPr wrap="square" lIns="0" tIns="0" rIns="0" bIns="0" rtlCol="0" anchor="ctr"/>
          <a:lstStyle/>
          <a:p>
            <a:pPr indent="0" marL="0">
              <a:lnSpc>
                <a:spcPct val="100000"/>
              </a:lnSpc>
              <a:buNone/>
            </a:pPr>
            <a:r>
              <a:rPr lang="en-US" sz="950" dirty="0">
                <a:solidFill>
                  <a:srgbClr val="CFCBEF"/>
                </a:solidFill>
                <a:latin typeface="Calibri" pitchFamily="34" charset="0"/>
                <a:ea typeface="Calibri" pitchFamily="34" charset="-122"/>
                <a:cs typeface="Calibri" pitchFamily="34" charset="-120"/>
              </a:rPr>
              <a:t>Deterministic evidence</a:t>
            </a:r>
            <a:endParaRPr lang="en-US" sz="950" dirty="0"/>
          </a:p>
        </p:txBody>
      </p:sp>
      <p:sp>
        <p:nvSpPr>
          <p:cNvPr id="11" name="Shape 7"/>
          <p:cNvSpPr/>
          <p:nvPr/>
        </p:nvSpPr>
        <p:spPr>
          <a:xfrm>
            <a:off x="804672" y="2944368"/>
            <a:ext cx="3044952" cy="384048"/>
          </a:xfrm>
          <a:prstGeom prst="roundRect">
            <a:avLst>
              <a:gd name="adj" fmla="val 19048"/>
            </a:avLst>
          </a:prstGeom>
          <a:solidFill>
            <a:srgbClr val="FFFFFF">
              <a:alpha val="12000"/>
            </a:srgbClr>
          </a:solidFill>
          <a:ln/>
        </p:spPr>
      </p:sp>
      <p:sp>
        <p:nvSpPr>
          <p:cNvPr id="12" name="Text 8"/>
          <p:cNvSpPr txBox="1"/>
          <p:nvPr/>
        </p:nvSpPr>
        <p:spPr>
          <a:xfrm>
            <a:off x="950976" y="2944368"/>
            <a:ext cx="2843784" cy="384048"/>
          </a:xfrm>
          <a:prstGeom prst="rect">
            <a:avLst/>
          </a:prstGeom>
          <a:noFill/>
          <a:ln/>
        </p:spPr>
        <p:txBody>
          <a:bodyPr wrap="square" lIns="0" tIns="0" rIns="0" bIns="0" rtlCol="0" anchor="ctr"/>
          <a:lstStyle/>
          <a:p>
            <a:pPr indent="0" marL="0">
              <a:lnSpc>
                <a:spcPct val="90000"/>
              </a:lnSpc>
              <a:buNone/>
            </a:pPr>
            <a:r>
              <a:rPr lang="en-US" sz="950" b="1" dirty="0">
                <a:solidFill>
                  <a:srgbClr val="FFFFFF"/>
                </a:solidFill>
                <a:latin typeface="Calibri" pitchFamily="34" charset="0"/>
                <a:ea typeface="Calibri" pitchFamily="34" charset="-122"/>
                <a:cs typeface="Calibri" pitchFamily="34" charset="-120"/>
              </a:rPr>
              <a:t>Ingest  </a:t>
            </a:r>
            <a:pPr indent="0" marL="0">
              <a:lnSpc>
                <a:spcPct val="90000"/>
              </a:lnSpc>
              <a:buNone/>
            </a:pPr>
            <a:r>
              <a:rPr lang="en-US" sz="950" dirty="0">
                <a:solidFill>
                  <a:srgbClr val="CFCBEF"/>
                </a:solidFill>
                <a:latin typeface="Calibri" pitchFamily="34" charset="0"/>
                <a:ea typeface="Calibri" pitchFamily="34" charset="-122"/>
                <a:cs typeface="Calibri" pitchFamily="34" charset="-120"/>
              </a:rPr>
              <a:t>commit, PR &amp; sprint events</a:t>
            </a:r>
            <a:endParaRPr lang="en-US" sz="950" dirty="0"/>
          </a:p>
        </p:txBody>
      </p:sp>
      <p:sp>
        <p:nvSpPr>
          <p:cNvPr id="13" name="Shape 9"/>
          <p:cNvSpPr/>
          <p:nvPr/>
        </p:nvSpPr>
        <p:spPr>
          <a:xfrm>
            <a:off x="804672" y="3419856"/>
            <a:ext cx="3044952" cy="384048"/>
          </a:xfrm>
          <a:prstGeom prst="roundRect">
            <a:avLst>
              <a:gd name="adj" fmla="val 19048"/>
            </a:avLst>
          </a:prstGeom>
          <a:solidFill>
            <a:srgbClr val="FFFFFF">
              <a:alpha val="12000"/>
            </a:srgbClr>
          </a:solidFill>
          <a:ln/>
        </p:spPr>
      </p:sp>
      <p:sp>
        <p:nvSpPr>
          <p:cNvPr id="14" name="Text 10"/>
          <p:cNvSpPr txBox="1"/>
          <p:nvPr/>
        </p:nvSpPr>
        <p:spPr>
          <a:xfrm>
            <a:off x="950976" y="3419856"/>
            <a:ext cx="2843784" cy="384048"/>
          </a:xfrm>
          <a:prstGeom prst="rect">
            <a:avLst/>
          </a:prstGeom>
          <a:noFill/>
          <a:ln/>
        </p:spPr>
        <p:txBody>
          <a:bodyPr wrap="square" lIns="0" tIns="0" rIns="0" bIns="0" rtlCol="0" anchor="ctr"/>
          <a:lstStyle/>
          <a:p>
            <a:pPr indent="0" marL="0">
              <a:lnSpc>
                <a:spcPct val="90000"/>
              </a:lnSpc>
              <a:buNone/>
            </a:pPr>
            <a:r>
              <a:rPr lang="en-US" sz="950" b="1" dirty="0">
                <a:solidFill>
                  <a:srgbClr val="FFFFFF"/>
                </a:solidFill>
                <a:latin typeface="Calibri" pitchFamily="34" charset="0"/>
                <a:ea typeface="Calibri" pitchFamily="34" charset="-122"/>
                <a:cs typeface="Calibri" pitchFamily="34" charset="-120"/>
              </a:rPr>
              <a:t>CodeQL  </a:t>
            </a:r>
            <a:pPr indent="0" marL="0">
              <a:lnSpc>
                <a:spcPct val="90000"/>
              </a:lnSpc>
              <a:buNone/>
            </a:pPr>
            <a:r>
              <a:rPr lang="en-US" sz="950" dirty="0">
                <a:solidFill>
                  <a:srgbClr val="CFCBEF"/>
                </a:solidFill>
                <a:latin typeface="Calibri" pitchFamily="34" charset="0"/>
                <a:ea typeface="Calibri" pitchFamily="34" charset="-122"/>
                <a:cs typeface="Calibri" pitchFamily="34" charset="-120"/>
              </a:rPr>
              <a:t>static analysis of code</a:t>
            </a:r>
            <a:endParaRPr lang="en-US" sz="950" dirty="0"/>
          </a:p>
        </p:txBody>
      </p:sp>
      <p:sp>
        <p:nvSpPr>
          <p:cNvPr id="15" name="Shape 11"/>
          <p:cNvSpPr/>
          <p:nvPr/>
        </p:nvSpPr>
        <p:spPr>
          <a:xfrm>
            <a:off x="804672" y="3895344"/>
            <a:ext cx="3044952" cy="384048"/>
          </a:xfrm>
          <a:prstGeom prst="roundRect">
            <a:avLst>
              <a:gd name="adj" fmla="val 19048"/>
            </a:avLst>
          </a:prstGeom>
          <a:solidFill>
            <a:srgbClr val="FFFFFF">
              <a:alpha val="12000"/>
            </a:srgbClr>
          </a:solidFill>
          <a:ln/>
        </p:spPr>
      </p:sp>
      <p:sp>
        <p:nvSpPr>
          <p:cNvPr id="16" name="Text 12"/>
          <p:cNvSpPr txBox="1"/>
          <p:nvPr/>
        </p:nvSpPr>
        <p:spPr>
          <a:xfrm>
            <a:off x="950976" y="3895344"/>
            <a:ext cx="2843784" cy="384048"/>
          </a:xfrm>
          <a:prstGeom prst="rect">
            <a:avLst/>
          </a:prstGeom>
          <a:noFill/>
          <a:ln/>
        </p:spPr>
        <p:txBody>
          <a:bodyPr wrap="square" lIns="0" tIns="0" rIns="0" bIns="0" rtlCol="0" anchor="ctr"/>
          <a:lstStyle/>
          <a:p>
            <a:pPr indent="0" marL="0">
              <a:lnSpc>
                <a:spcPct val="90000"/>
              </a:lnSpc>
              <a:buNone/>
            </a:pPr>
            <a:r>
              <a:rPr lang="en-US" sz="950" b="1" dirty="0">
                <a:solidFill>
                  <a:srgbClr val="FFFFFF"/>
                </a:solidFill>
                <a:latin typeface="Calibri" pitchFamily="34" charset="0"/>
                <a:ea typeface="Calibri" pitchFamily="34" charset="-122"/>
                <a:cs typeface="Calibri" pitchFamily="34" charset="-120"/>
              </a:rPr>
              <a:t>SCA / secret  </a:t>
            </a:r>
            <a:pPr indent="0" marL="0">
              <a:lnSpc>
                <a:spcPct val="90000"/>
              </a:lnSpc>
              <a:buNone/>
            </a:pPr>
            <a:r>
              <a:rPr lang="en-US" sz="950" dirty="0">
                <a:solidFill>
                  <a:srgbClr val="CFCBEF"/>
                </a:solidFill>
                <a:latin typeface="Calibri" pitchFamily="34" charset="0"/>
                <a:ea typeface="Calibri" pitchFamily="34" charset="-122"/>
                <a:cs typeface="Calibri" pitchFamily="34" charset="-120"/>
              </a:rPr>
              <a:t>vulnerable deps, leaked keys</a:t>
            </a:r>
            <a:endParaRPr lang="en-US" sz="950" dirty="0"/>
          </a:p>
        </p:txBody>
      </p:sp>
      <p:sp>
        <p:nvSpPr>
          <p:cNvPr id="17" name="Shape 13"/>
          <p:cNvSpPr/>
          <p:nvPr/>
        </p:nvSpPr>
        <p:spPr>
          <a:xfrm>
            <a:off x="804672" y="4370832"/>
            <a:ext cx="3044952" cy="384048"/>
          </a:xfrm>
          <a:prstGeom prst="roundRect">
            <a:avLst>
              <a:gd name="adj" fmla="val 19048"/>
            </a:avLst>
          </a:prstGeom>
          <a:solidFill>
            <a:srgbClr val="FFFFFF">
              <a:alpha val="12000"/>
            </a:srgbClr>
          </a:solidFill>
          <a:ln/>
        </p:spPr>
      </p:sp>
      <p:sp>
        <p:nvSpPr>
          <p:cNvPr id="18" name="Text 14"/>
          <p:cNvSpPr txBox="1"/>
          <p:nvPr/>
        </p:nvSpPr>
        <p:spPr>
          <a:xfrm>
            <a:off x="950976" y="4370832"/>
            <a:ext cx="2843784" cy="384048"/>
          </a:xfrm>
          <a:prstGeom prst="rect">
            <a:avLst/>
          </a:prstGeom>
          <a:noFill/>
          <a:ln/>
        </p:spPr>
        <p:txBody>
          <a:bodyPr wrap="square" lIns="0" tIns="0" rIns="0" bIns="0" rtlCol="0" anchor="ctr"/>
          <a:lstStyle/>
          <a:p>
            <a:pPr indent="0" marL="0">
              <a:lnSpc>
                <a:spcPct val="90000"/>
              </a:lnSpc>
              <a:buNone/>
            </a:pPr>
            <a:r>
              <a:rPr lang="en-US" sz="950" b="1" dirty="0">
                <a:solidFill>
                  <a:srgbClr val="FFFFFF"/>
                </a:solidFill>
                <a:latin typeface="Calibri" pitchFamily="34" charset="0"/>
                <a:ea typeface="Calibri" pitchFamily="34" charset="-122"/>
                <a:cs typeface="Calibri" pitchFamily="34" charset="-120"/>
              </a:rPr>
              <a:t>Normalize  </a:t>
            </a:r>
            <a:pPr indent="0" marL="0">
              <a:lnSpc>
                <a:spcPct val="90000"/>
              </a:lnSpc>
              <a:buNone/>
            </a:pPr>
            <a:r>
              <a:rPr lang="en-US" sz="950" dirty="0">
                <a:solidFill>
                  <a:srgbClr val="CFCBEF"/>
                </a:solidFill>
                <a:latin typeface="Calibri" pitchFamily="34" charset="0"/>
                <a:ea typeface="Calibri" pitchFamily="34" charset="-122"/>
                <a:cs typeface="Calibri" pitchFamily="34" charset="-120"/>
              </a:rPr>
              <a:t>CWE, file, severity, confidence</a:t>
            </a:r>
            <a:endParaRPr lang="en-US" sz="950" dirty="0"/>
          </a:p>
        </p:txBody>
      </p:sp>
      <p:sp>
        <p:nvSpPr>
          <p:cNvPr id="19" name="Shape 15"/>
          <p:cNvSpPr/>
          <p:nvPr/>
        </p:nvSpPr>
        <p:spPr>
          <a:xfrm>
            <a:off x="4105656" y="3429000"/>
            <a:ext cx="219456" cy="0"/>
          </a:xfrm>
          <a:prstGeom prst="line">
            <a:avLst/>
          </a:prstGeom>
          <a:noFill/>
          <a:ln w="22225">
            <a:solidFill>
              <a:srgbClr val="7E6CF4"/>
            </a:solidFill>
            <a:prstDash val="solid"/>
            <a:tailEnd type="triangle"/>
          </a:ln>
        </p:spPr>
      </p:sp>
      <p:sp>
        <p:nvSpPr>
          <p:cNvPr id="20" name="Shape 16"/>
          <p:cNvSpPr/>
          <p:nvPr/>
        </p:nvSpPr>
        <p:spPr>
          <a:xfrm>
            <a:off x="4361688" y="1920240"/>
            <a:ext cx="3520440" cy="3017520"/>
          </a:xfrm>
          <a:prstGeom prst="roundRect">
            <a:avLst>
              <a:gd name="adj" fmla="val 3333"/>
            </a:avLst>
          </a:prstGeom>
          <a:solidFill>
            <a:srgbClr val="FFFFFF">
              <a:alpha val="12000"/>
            </a:srgbClr>
          </a:solidFill>
          <a:ln w="12700">
            <a:solidFill>
              <a:srgbClr val="FFFFFF">
                <a:alpha val="18000"/>
              </a:srgbClr>
            </a:solidFill>
            <a:prstDash val="solid"/>
          </a:ln>
          <a:effectLst>
            <a:outerShdw sx="100000" sy="100000" kx="0" ky="0" algn="bl" rotWithShape="0" blurRad="177800" dist="63500" dir="5400000">
              <a:srgbClr val="0B0920">
                <a:alpha val="45000"/>
              </a:srgbClr>
            </a:outerShdw>
          </a:effectLst>
        </p:spPr>
      </p:sp>
      <p:sp>
        <p:nvSpPr>
          <p:cNvPr id="21" name="Shape 17"/>
          <p:cNvSpPr/>
          <p:nvPr/>
        </p:nvSpPr>
        <p:spPr>
          <a:xfrm>
            <a:off x="4599432" y="2157984"/>
            <a:ext cx="548640" cy="548640"/>
          </a:xfrm>
          <a:prstGeom prst="ellipse">
            <a:avLst/>
          </a:prstGeom>
          <a:solidFill>
            <a:srgbClr val="E0891C"/>
          </a:solidFill>
          <a:ln w="17780">
            <a:solidFill>
              <a:srgbClr val="F2A740"/>
            </a:solidFill>
            <a:prstDash val="solid"/>
          </a:ln>
          <a:effectLst>
            <a:outerShdw sx="100000" sy="100000" kx="0" ky="0" algn="bl" rotWithShape="0" blurRad="127000" dist="50800" dir="5400000">
              <a:srgbClr val="F2A740">
                <a:alpha val="45000"/>
              </a:srgbClr>
            </a:outerShdw>
          </a:effectLst>
        </p:spPr>
      </p:sp>
      <p:pic>
        <p:nvPicPr>
          <p:cNvPr id="22" name="Image 2" descr="assets/icons/map_w.png">    </p:cNvPr>
          <p:cNvPicPr>
            <a:picLocks noChangeAspect="1"/>
          </p:cNvPicPr>
          <p:nvPr/>
        </p:nvPicPr>
        <p:blipFill>
          <a:blip r:embed="rId4"/>
          <a:stretch>
            <a:fillRect/>
          </a:stretch>
        </p:blipFill>
        <p:spPr>
          <a:xfrm>
            <a:off x="4753051" y="2311603"/>
            <a:ext cx="241402" cy="241402"/>
          </a:xfrm>
          <a:prstGeom prst="rect">
            <a:avLst/>
          </a:prstGeom>
        </p:spPr>
      </p:pic>
      <p:sp>
        <p:nvSpPr>
          <p:cNvPr id="23" name="Text 18"/>
          <p:cNvSpPr txBox="1"/>
          <p:nvPr/>
        </p:nvSpPr>
        <p:spPr>
          <a:xfrm>
            <a:off x="5257800" y="2176272"/>
            <a:ext cx="2514600" cy="274320"/>
          </a:xfrm>
          <a:prstGeom prst="rect">
            <a:avLst/>
          </a:prstGeom>
          <a:noFill/>
          <a:ln/>
        </p:spPr>
        <p:txBody>
          <a:bodyPr wrap="square" lIns="0" tIns="0" rIns="0" bIns="0" rtlCol="0" anchor="ctr"/>
          <a:lstStyle/>
          <a:p>
            <a:pPr indent="0" marL="0">
              <a:lnSpc>
                <a:spcPct val="100000"/>
              </a:lnSpc>
              <a:buNone/>
            </a:pPr>
            <a:r>
              <a:rPr lang="en-US" sz="1450" b="1" dirty="0">
                <a:solidFill>
                  <a:srgbClr val="FFFFFF"/>
                </a:solidFill>
                <a:latin typeface="Calibri" pitchFamily="34" charset="0"/>
                <a:ea typeface="Calibri" pitchFamily="34" charset="-122"/>
                <a:cs typeface="Calibri" pitchFamily="34" charset="-120"/>
              </a:rPr>
              <a:t>Understand</a:t>
            </a:r>
            <a:endParaRPr lang="en-US" sz="1450" dirty="0"/>
          </a:p>
        </p:txBody>
      </p:sp>
      <p:sp>
        <p:nvSpPr>
          <p:cNvPr id="24" name="Text 19"/>
          <p:cNvSpPr txBox="1"/>
          <p:nvPr/>
        </p:nvSpPr>
        <p:spPr>
          <a:xfrm>
            <a:off x="5257800" y="2468880"/>
            <a:ext cx="2514600" cy="274320"/>
          </a:xfrm>
          <a:prstGeom prst="rect">
            <a:avLst/>
          </a:prstGeom>
          <a:noFill/>
          <a:ln/>
        </p:spPr>
        <p:txBody>
          <a:bodyPr wrap="square" lIns="0" tIns="0" rIns="0" bIns="0" rtlCol="0" anchor="ctr"/>
          <a:lstStyle/>
          <a:p>
            <a:pPr indent="0" marL="0">
              <a:lnSpc>
                <a:spcPct val="100000"/>
              </a:lnSpc>
              <a:buNone/>
            </a:pPr>
            <a:r>
              <a:rPr lang="en-US" sz="950" dirty="0">
                <a:solidFill>
                  <a:srgbClr val="CFCBEF"/>
                </a:solidFill>
                <a:latin typeface="Calibri" pitchFamily="34" charset="0"/>
                <a:ea typeface="Calibri" pitchFamily="34" charset="-122"/>
                <a:cs typeface="Calibri" pitchFamily="34" charset="-120"/>
              </a:rPr>
              <a:t>Semantic + traceability</a:t>
            </a:r>
            <a:endParaRPr lang="en-US" sz="950" dirty="0"/>
          </a:p>
        </p:txBody>
      </p:sp>
      <p:sp>
        <p:nvSpPr>
          <p:cNvPr id="25" name="Shape 20"/>
          <p:cNvSpPr/>
          <p:nvPr/>
        </p:nvSpPr>
        <p:spPr>
          <a:xfrm>
            <a:off x="4599432" y="2944368"/>
            <a:ext cx="3044952" cy="384048"/>
          </a:xfrm>
          <a:prstGeom prst="roundRect">
            <a:avLst>
              <a:gd name="adj" fmla="val 19048"/>
            </a:avLst>
          </a:prstGeom>
          <a:solidFill>
            <a:srgbClr val="FFFFFF">
              <a:alpha val="12000"/>
            </a:srgbClr>
          </a:solidFill>
          <a:ln/>
        </p:spPr>
      </p:sp>
      <p:sp>
        <p:nvSpPr>
          <p:cNvPr id="26" name="Text 21"/>
          <p:cNvSpPr txBox="1"/>
          <p:nvPr/>
        </p:nvSpPr>
        <p:spPr>
          <a:xfrm>
            <a:off x="4745736" y="2944368"/>
            <a:ext cx="2843784" cy="384048"/>
          </a:xfrm>
          <a:prstGeom prst="rect">
            <a:avLst/>
          </a:prstGeom>
          <a:noFill/>
          <a:ln/>
        </p:spPr>
        <p:txBody>
          <a:bodyPr wrap="square" lIns="0" tIns="0" rIns="0" bIns="0" rtlCol="0" anchor="ctr"/>
          <a:lstStyle/>
          <a:p>
            <a:pPr indent="0" marL="0">
              <a:lnSpc>
                <a:spcPct val="90000"/>
              </a:lnSpc>
              <a:buNone/>
            </a:pPr>
            <a:r>
              <a:rPr lang="en-US" sz="950" b="1" dirty="0">
                <a:solidFill>
                  <a:srgbClr val="FFFFFF"/>
                </a:solidFill>
                <a:latin typeface="Calibri" pitchFamily="34" charset="0"/>
                <a:ea typeface="Calibri" pitchFamily="34" charset="-122"/>
                <a:cs typeface="Calibri" pitchFamily="34" charset="-120"/>
              </a:rPr>
              <a:t>Filter  </a:t>
            </a:r>
            <a:pPr indent="0" marL="0">
              <a:lnSpc>
                <a:spcPct val="90000"/>
              </a:lnSpc>
              <a:buNone/>
            </a:pPr>
            <a:r>
              <a:rPr lang="en-US" sz="950" dirty="0">
                <a:solidFill>
                  <a:srgbClr val="CFCBEF"/>
                </a:solidFill>
                <a:latin typeface="Calibri" pitchFamily="34" charset="0"/>
                <a:ea typeface="Calibri" pitchFamily="34" charset="-122"/>
                <a:cs typeface="Calibri" pitchFamily="34" charset="-120"/>
              </a:rPr>
              <a:t>only relevant code to LLM</a:t>
            </a:r>
            <a:endParaRPr lang="en-US" sz="950" dirty="0"/>
          </a:p>
        </p:txBody>
      </p:sp>
      <p:sp>
        <p:nvSpPr>
          <p:cNvPr id="27" name="Shape 22"/>
          <p:cNvSpPr/>
          <p:nvPr/>
        </p:nvSpPr>
        <p:spPr>
          <a:xfrm>
            <a:off x="4599432" y="3419856"/>
            <a:ext cx="3044952" cy="384048"/>
          </a:xfrm>
          <a:prstGeom prst="roundRect">
            <a:avLst>
              <a:gd name="adj" fmla="val 19048"/>
            </a:avLst>
          </a:prstGeom>
          <a:solidFill>
            <a:srgbClr val="FFFFFF">
              <a:alpha val="12000"/>
            </a:srgbClr>
          </a:solidFill>
          <a:ln/>
        </p:spPr>
      </p:sp>
      <p:sp>
        <p:nvSpPr>
          <p:cNvPr id="28" name="Text 23"/>
          <p:cNvSpPr txBox="1"/>
          <p:nvPr/>
        </p:nvSpPr>
        <p:spPr>
          <a:xfrm>
            <a:off x="4745736" y="3419856"/>
            <a:ext cx="2843784" cy="384048"/>
          </a:xfrm>
          <a:prstGeom prst="rect">
            <a:avLst/>
          </a:prstGeom>
          <a:noFill/>
          <a:ln/>
        </p:spPr>
        <p:txBody>
          <a:bodyPr wrap="square" lIns="0" tIns="0" rIns="0" bIns="0" rtlCol="0" anchor="ctr"/>
          <a:lstStyle/>
          <a:p>
            <a:pPr indent="0" marL="0">
              <a:lnSpc>
                <a:spcPct val="90000"/>
              </a:lnSpc>
              <a:buNone/>
            </a:pPr>
            <a:r>
              <a:rPr lang="en-US" sz="950" b="1" dirty="0">
                <a:solidFill>
                  <a:srgbClr val="FFFFFF"/>
                </a:solidFill>
                <a:latin typeface="Calibri" pitchFamily="34" charset="0"/>
                <a:ea typeface="Calibri" pitchFamily="34" charset="-122"/>
                <a:cs typeface="Calibri" pitchFamily="34" charset="-120"/>
              </a:rPr>
              <a:t>Confirm  </a:t>
            </a:r>
            <a:pPr indent="0" marL="0">
              <a:lnSpc>
                <a:spcPct val="90000"/>
              </a:lnSpc>
              <a:buNone/>
            </a:pPr>
            <a:r>
              <a:rPr lang="en-US" sz="950" dirty="0">
                <a:solidFill>
                  <a:srgbClr val="CFCBEF"/>
                </a:solidFill>
                <a:latin typeface="Calibri" pitchFamily="34" charset="0"/>
                <a:ea typeface="Calibri" pitchFamily="34" charset="-122"/>
                <a:cs typeface="Calibri" pitchFamily="34" charset="-120"/>
              </a:rPr>
              <a:t>exploitability, cut false +ve</a:t>
            </a:r>
            <a:endParaRPr lang="en-US" sz="950" dirty="0"/>
          </a:p>
        </p:txBody>
      </p:sp>
      <p:sp>
        <p:nvSpPr>
          <p:cNvPr id="29" name="Shape 24"/>
          <p:cNvSpPr/>
          <p:nvPr/>
        </p:nvSpPr>
        <p:spPr>
          <a:xfrm>
            <a:off x="4599432" y="3895344"/>
            <a:ext cx="3044952" cy="384048"/>
          </a:xfrm>
          <a:prstGeom prst="roundRect">
            <a:avLst>
              <a:gd name="adj" fmla="val 19048"/>
            </a:avLst>
          </a:prstGeom>
          <a:solidFill>
            <a:srgbClr val="FFFFFF">
              <a:alpha val="12000"/>
            </a:srgbClr>
          </a:solidFill>
          <a:ln/>
        </p:spPr>
      </p:sp>
      <p:sp>
        <p:nvSpPr>
          <p:cNvPr id="30" name="Text 25"/>
          <p:cNvSpPr txBox="1"/>
          <p:nvPr/>
        </p:nvSpPr>
        <p:spPr>
          <a:xfrm>
            <a:off x="4745736" y="3895344"/>
            <a:ext cx="2843784" cy="384048"/>
          </a:xfrm>
          <a:prstGeom prst="rect">
            <a:avLst/>
          </a:prstGeom>
          <a:noFill/>
          <a:ln/>
        </p:spPr>
        <p:txBody>
          <a:bodyPr wrap="square" lIns="0" tIns="0" rIns="0" bIns="0" rtlCol="0" anchor="ctr"/>
          <a:lstStyle/>
          <a:p>
            <a:pPr indent="0" marL="0">
              <a:lnSpc>
                <a:spcPct val="90000"/>
              </a:lnSpc>
              <a:buNone/>
            </a:pPr>
            <a:r>
              <a:rPr lang="en-US" sz="950" b="1" dirty="0">
                <a:solidFill>
                  <a:srgbClr val="FFFFFF"/>
                </a:solidFill>
                <a:latin typeface="Calibri" pitchFamily="34" charset="0"/>
                <a:ea typeface="Calibri" pitchFamily="34" charset="-122"/>
                <a:cs typeface="Calibri" pitchFamily="34" charset="-120"/>
              </a:rPr>
              <a:t>Trace  </a:t>
            </a:r>
            <a:pPr indent="0" marL="0">
              <a:lnSpc>
                <a:spcPct val="90000"/>
              </a:lnSpc>
              <a:buNone/>
            </a:pPr>
            <a:r>
              <a:rPr lang="en-US" sz="950" dirty="0">
                <a:solidFill>
                  <a:srgbClr val="CFCBEF"/>
                </a:solidFill>
                <a:latin typeface="Calibri" pitchFamily="34" charset="0"/>
                <a:ea typeface="Calibri" pitchFamily="34" charset="-122"/>
                <a:cs typeface="Calibri" pitchFamily="34" charset="-120"/>
              </a:rPr>
              <a:t>finding → requirement, owner</a:t>
            </a:r>
            <a:endParaRPr lang="en-US" sz="950" dirty="0"/>
          </a:p>
        </p:txBody>
      </p:sp>
      <p:sp>
        <p:nvSpPr>
          <p:cNvPr id="31" name="Shape 26"/>
          <p:cNvSpPr/>
          <p:nvPr/>
        </p:nvSpPr>
        <p:spPr>
          <a:xfrm>
            <a:off x="4599432" y="4370832"/>
            <a:ext cx="3044952" cy="384048"/>
          </a:xfrm>
          <a:prstGeom prst="roundRect">
            <a:avLst>
              <a:gd name="adj" fmla="val 19048"/>
            </a:avLst>
          </a:prstGeom>
          <a:solidFill>
            <a:srgbClr val="FFFFFF">
              <a:alpha val="12000"/>
            </a:srgbClr>
          </a:solidFill>
          <a:ln/>
        </p:spPr>
      </p:sp>
      <p:sp>
        <p:nvSpPr>
          <p:cNvPr id="32" name="Text 27"/>
          <p:cNvSpPr txBox="1"/>
          <p:nvPr/>
        </p:nvSpPr>
        <p:spPr>
          <a:xfrm>
            <a:off x="4745736" y="4370832"/>
            <a:ext cx="2843784" cy="384048"/>
          </a:xfrm>
          <a:prstGeom prst="rect">
            <a:avLst/>
          </a:prstGeom>
          <a:noFill/>
          <a:ln/>
        </p:spPr>
        <p:txBody>
          <a:bodyPr wrap="square" lIns="0" tIns="0" rIns="0" bIns="0" rtlCol="0" anchor="ctr"/>
          <a:lstStyle/>
          <a:p>
            <a:pPr indent="0" marL="0">
              <a:lnSpc>
                <a:spcPct val="90000"/>
              </a:lnSpc>
              <a:buNone/>
            </a:pPr>
            <a:r>
              <a:rPr lang="en-US" sz="950" b="1" dirty="0">
                <a:solidFill>
                  <a:srgbClr val="FFFFFF"/>
                </a:solidFill>
                <a:latin typeface="Calibri" pitchFamily="34" charset="0"/>
                <a:ea typeface="Calibri" pitchFamily="34" charset="-122"/>
                <a:cs typeface="Calibri" pitchFamily="34" charset="-120"/>
              </a:rPr>
              <a:t>Probe  </a:t>
            </a:r>
            <a:pPr indent="0" marL="0">
              <a:lnSpc>
                <a:spcPct val="90000"/>
              </a:lnSpc>
              <a:buNone/>
            </a:pPr>
            <a:r>
              <a:rPr lang="en-US" sz="950" dirty="0">
                <a:solidFill>
                  <a:srgbClr val="CFCBEF"/>
                </a:solidFill>
                <a:latin typeface="Calibri" pitchFamily="34" charset="0"/>
                <a:ea typeface="Calibri" pitchFamily="34" charset="-122"/>
                <a:cs typeface="Calibri" pitchFamily="34" charset="-120"/>
              </a:rPr>
              <a:t>question built from code</a:t>
            </a:r>
            <a:endParaRPr lang="en-US" sz="950" dirty="0"/>
          </a:p>
        </p:txBody>
      </p:sp>
      <p:sp>
        <p:nvSpPr>
          <p:cNvPr id="33" name="Shape 28"/>
          <p:cNvSpPr/>
          <p:nvPr/>
        </p:nvSpPr>
        <p:spPr>
          <a:xfrm>
            <a:off x="7918704" y="3429000"/>
            <a:ext cx="219456" cy="0"/>
          </a:xfrm>
          <a:prstGeom prst="line">
            <a:avLst/>
          </a:prstGeom>
          <a:noFill/>
          <a:ln w="22225">
            <a:solidFill>
              <a:srgbClr val="7E6CF4"/>
            </a:solidFill>
            <a:prstDash val="solid"/>
            <a:tailEnd type="triangle"/>
          </a:ln>
        </p:spPr>
      </p:sp>
      <p:sp>
        <p:nvSpPr>
          <p:cNvPr id="34" name="Shape 29"/>
          <p:cNvSpPr/>
          <p:nvPr/>
        </p:nvSpPr>
        <p:spPr>
          <a:xfrm>
            <a:off x="7900416" y="1920240"/>
            <a:ext cx="3520440" cy="3017520"/>
          </a:xfrm>
          <a:prstGeom prst="roundRect">
            <a:avLst>
              <a:gd name="adj" fmla="val 3333"/>
            </a:avLst>
          </a:prstGeom>
          <a:solidFill>
            <a:srgbClr val="FFFFFF">
              <a:alpha val="12000"/>
            </a:srgbClr>
          </a:solidFill>
          <a:ln w="12700">
            <a:solidFill>
              <a:srgbClr val="FFFFFF">
                <a:alpha val="18000"/>
              </a:srgbClr>
            </a:solidFill>
            <a:prstDash val="solid"/>
          </a:ln>
          <a:effectLst>
            <a:outerShdw sx="100000" sy="100000" kx="0" ky="0" algn="bl" rotWithShape="0" blurRad="177800" dist="63500" dir="5400000">
              <a:srgbClr val="0B0920">
                <a:alpha val="45000"/>
              </a:srgbClr>
            </a:outerShdw>
          </a:effectLst>
        </p:spPr>
      </p:sp>
      <p:sp>
        <p:nvSpPr>
          <p:cNvPr id="35" name="Shape 30"/>
          <p:cNvSpPr/>
          <p:nvPr/>
        </p:nvSpPr>
        <p:spPr>
          <a:xfrm>
            <a:off x="8138160" y="2157984"/>
            <a:ext cx="548640" cy="548640"/>
          </a:xfrm>
          <a:prstGeom prst="ellipse">
            <a:avLst/>
          </a:prstGeom>
          <a:solidFill>
            <a:srgbClr val="0E9E6E"/>
          </a:solidFill>
          <a:ln w="17780">
            <a:solidFill>
              <a:srgbClr val="16C78C"/>
            </a:solidFill>
            <a:prstDash val="solid"/>
          </a:ln>
          <a:effectLst>
            <a:outerShdw sx="100000" sy="100000" kx="0" ky="0" algn="bl" rotWithShape="0" blurRad="127000" dist="50800" dir="5400000">
              <a:srgbClr val="16C78C">
                <a:alpha val="45000"/>
              </a:srgbClr>
            </a:outerShdw>
          </a:effectLst>
        </p:spPr>
      </p:sp>
      <p:pic>
        <p:nvPicPr>
          <p:cNvPr id="36" name="Image 3" descr="assets/icons/checksq_w.png">    </p:cNvPr>
          <p:cNvPicPr>
            <a:picLocks noChangeAspect="1"/>
          </p:cNvPicPr>
          <p:nvPr/>
        </p:nvPicPr>
        <p:blipFill>
          <a:blip r:embed="rId5"/>
          <a:stretch>
            <a:fillRect/>
          </a:stretch>
        </p:blipFill>
        <p:spPr>
          <a:xfrm>
            <a:off x="8291779" y="2311603"/>
            <a:ext cx="241402" cy="241402"/>
          </a:xfrm>
          <a:prstGeom prst="rect">
            <a:avLst/>
          </a:prstGeom>
        </p:spPr>
      </p:pic>
      <p:sp>
        <p:nvSpPr>
          <p:cNvPr id="37" name="Text 31"/>
          <p:cNvSpPr txBox="1"/>
          <p:nvPr/>
        </p:nvSpPr>
        <p:spPr>
          <a:xfrm>
            <a:off x="8796528" y="2176272"/>
            <a:ext cx="2514600" cy="274320"/>
          </a:xfrm>
          <a:prstGeom prst="rect">
            <a:avLst/>
          </a:prstGeom>
          <a:noFill/>
          <a:ln/>
        </p:spPr>
        <p:txBody>
          <a:bodyPr wrap="square" lIns="0" tIns="0" rIns="0" bIns="0" rtlCol="0" anchor="ctr"/>
          <a:lstStyle/>
          <a:p>
            <a:pPr indent="0" marL="0">
              <a:lnSpc>
                <a:spcPct val="100000"/>
              </a:lnSpc>
              <a:buNone/>
            </a:pPr>
            <a:r>
              <a:rPr lang="en-US" sz="1450" b="1" dirty="0">
                <a:solidFill>
                  <a:srgbClr val="FFFFFF"/>
                </a:solidFill>
                <a:latin typeface="Calibri" pitchFamily="34" charset="0"/>
                <a:ea typeface="Calibri" pitchFamily="34" charset="-122"/>
                <a:cs typeface="Calibri" pitchFamily="34" charset="-120"/>
              </a:rPr>
              <a:t>Act</a:t>
            </a:r>
            <a:endParaRPr lang="en-US" sz="1450" dirty="0"/>
          </a:p>
        </p:txBody>
      </p:sp>
      <p:sp>
        <p:nvSpPr>
          <p:cNvPr id="38" name="Text 32"/>
          <p:cNvSpPr txBox="1"/>
          <p:nvPr/>
        </p:nvSpPr>
        <p:spPr>
          <a:xfrm>
            <a:off x="8796528" y="2468880"/>
            <a:ext cx="2514600" cy="274320"/>
          </a:xfrm>
          <a:prstGeom prst="rect">
            <a:avLst/>
          </a:prstGeom>
          <a:noFill/>
          <a:ln/>
        </p:spPr>
        <p:txBody>
          <a:bodyPr wrap="square" lIns="0" tIns="0" rIns="0" bIns="0" rtlCol="0" anchor="ctr"/>
          <a:lstStyle/>
          <a:p>
            <a:pPr indent="0" marL="0">
              <a:lnSpc>
                <a:spcPct val="100000"/>
              </a:lnSpc>
              <a:buNone/>
            </a:pPr>
            <a:r>
              <a:rPr lang="en-US" sz="950" dirty="0">
                <a:solidFill>
                  <a:srgbClr val="CFCBEF"/>
                </a:solidFill>
                <a:latin typeface="Calibri" pitchFamily="34" charset="0"/>
                <a:ea typeface="Calibri" pitchFamily="34" charset="-122"/>
                <a:cs typeface="Calibri" pitchFamily="34" charset="-120"/>
              </a:rPr>
              <a:t>Prioritize &amp; verify</a:t>
            </a:r>
            <a:endParaRPr lang="en-US" sz="950" dirty="0"/>
          </a:p>
        </p:txBody>
      </p:sp>
      <p:sp>
        <p:nvSpPr>
          <p:cNvPr id="39" name="Shape 33"/>
          <p:cNvSpPr/>
          <p:nvPr/>
        </p:nvSpPr>
        <p:spPr>
          <a:xfrm>
            <a:off x="8138160" y="2944368"/>
            <a:ext cx="3044952" cy="384048"/>
          </a:xfrm>
          <a:prstGeom prst="roundRect">
            <a:avLst>
              <a:gd name="adj" fmla="val 19048"/>
            </a:avLst>
          </a:prstGeom>
          <a:solidFill>
            <a:srgbClr val="FFFFFF">
              <a:alpha val="12000"/>
            </a:srgbClr>
          </a:solidFill>
          <a:ln/>
        </p:spPr>
      </p:sp>
      <p:sp>
        <p:nvSpPr>
          <p:cNvPr id="40" name="Text 34"/>
          <p:cNvSpPr txBox="1"/>
          <p:nvPr/>
        </p:nvSpPr>
        <p:spPr>
          <a:xfrm>
            <a:off x="8284464" y="2944368"/>
            <a:ext cx="2843784" cy="384048"/>
          </a:xfrm>
          <a:prstGeom prst="rect">
            <a:avLst/>
          </a:prstGeom>
          <a:noFill/>
          <a:ln/>
        </p:spPr>
        <p:txBody>
          <a:bodyPr wrap="square" lIns="0" tIns="0" rIns="0" bIns="0" rtlCol="0" anchor="ctr"/>
          <a:lstStyle/>
          <a:p>
            <a:pPr indent="0" marL="0">
              <a:lnSpc>
                <a:spcPct val="90000"/>
              </a:lnSpc>
              <a:buNone/>
            </a:pPr>
            <a:r>
              <a:rPr lang="en-US" sz="950" b="1" dirty="0">
                <a:solidFill>
                  <a:srgbClr val="FFFFFF"/>
                </a:solidFill>
                <a:latin typeface="Calibri" pitchFamily="34" charset="0"/>
                <a:ea typeface="Calibri" pitchFamily="34" charset="-122"/>
                <a:cs typeface="Calibri" pitchFamily="34" charset="-120"/>
              </a:rPr>
              <a:t>Risk score  </a:t>
            </a:r>
            <a:pPr indent="0" marL="0">
              <a:lnSpc>
                <a:spcPct val="90000"/>
              </a:lnSpc>
              <a:buNone/>
            </a:pPr>
            <a:r>
              <a:rPr lang="en-US" sz="950" dirty="0">
                <a:solidFill>
                  <a:srgbClr val="CFCBEF"/>
                </a:solidFill>
                <a:latin typeface="Calibri" pitchFamily="34" charset="0"/>
                <a:ea typeface="Calibri" pitchFamily="34" charset="-122"/>
                <a:cs typeface="Calibri" pitchFamily="34" charset="-120"/>
              </a:rPr>
              <a:t>severity, exposure, confidence</a:t>
            </a:r>
            <a:endParaRPr lang="en-US" sz="950" dirty="0"/>
          </a:p>
        </p:txBody>
      </p:sp>
      <p:sp>
        <p:nvSpPr>
          <p:cNvPr id="41" name="Shape 35"/>
          <p:cNvSpPr/>
          <p:nvPr/>
        </p:nvSpPr>
        <p:spPr>
          <a:xfrm>
            <a:off x="8138160" y="3419856"/>
            <a:ext cx="3044952" cy="384048"/>
          </a:xfrm>
          <a:prstGeom prst="roundRect">
            <a:avLst>
              <a:gd name="adj" fmla="val 19048"/>
            </a:avLst>
          </a:prstGeom>
          <a:solidFill>
            <a:srgbClr val="FFFFFF">
              <a:alpha val="12000"/>
            </a:srgbClr>
          </a:solidFill>
          <a:ln/>
        </p:spPr>
      </p:sp>
      <p:sp>
        <p:nvSpPr>
          <p:cNvPr id="42" name="Text 36"/>
          <p:cNvSpPr txBox="1"/>
          <p:nvPr/>
        </p:nvSpPr>
        <p:spPr>
          <a:xfrm>
            <a:off x="8284464" y="3419856"/>
            <a:ext cx="2843784" cy="384048"/>
          </a:xfrm>
          <a:prstGeom prst="rect">
            <a:avLst/>
          </a:prstGeom>
          <a:noFill/>
          <a:ln/>
        </p:spPr>
        <p:txBody>
          <a:bodyPr wrap="square" lIns="0" tIns="0" rIns="0" bIns="0" rtlCol="0" anchor="ctr"/>
          <a:lstStyle/>
          <a:p>
            <a:pPr indent="0" marL="0">
              <a:lnSpc>
                <a:spcPct val="90000"/>
              </a:lnSpc>
              <a:buNone/>
            </a:pPr>
            <a:r>
              <a:rPr lang="en-US" sz="950" b="1" dirty="0">
                <a:solidFill>
                  <a:srgbClr val="FFFFFF"/>
                </a:solidFill>
                <a:latin typeface="Calibri" pitchFamily="34" charset="0"/>
                <a:ea typeface="Calibri" pitchFamily="34" charset="-122"/>
                <a:cs typeface="Calibri" pitchFamily="34" charset="-120"/>
              </a:rPr>
              <a:t>Secure fix  </a:t>
            </a:r>
            <a:pPr indent="0" marL="0">
              <a:lnSpc>
                <a:spcPct val="90000"/>
              </a:lnSpc>
              <a:buNone/>
            </a:pPr>
            <a:r>
              <a:rPr lang="en-US" sz="950" dirty="0">
                <a:solidFill>
                  <a:srgbClr val="CFCBEF"/>
                </a:solidFill>
                <a:latin typeface="Calibri" pitchFamily="34" charset="0"/>
                <a:ea typeface="Calibri" pitchFamily="34" charset="-122"/>
                <a:cs typeface="Calibri" pitchFamily="34" charset="-120"/>
              </a:rPr>
              <a:t>evidence-backed remediation</a:t>
            </a:r>
            <a:endParaRPr lang="en-US" sz="950" dirty="0"/>
          </a:p>
        </p:txBody>
      </p:sp>
      <p:sp>
        <p:nvSpPr>
          <p:cNvPr id="43" name="Shape 37"/>
          <p:cNvSpPr/>
          <p:nvPr/>
        </p:nvSpPr>
        <p:spPr>
          <a:xfrm>
            <a:off x="8138160" y="3895344"/>
            <a:ext cx="3044952" cy="384048"/>
          </a:xfrm>
          <a:prstGeom prst="roundRect">
            <a:avLst>
              <a:gd name="adj" fmla="val 19048"/>
            </a:avLst>
          </a:prstGeom>
          <a:solidFill>
            <a:srgbClr val="FFFFFF">
              <a:alpha val="12000"/>
            </a:srgbClr>
          </a:solidFill>
          <a:ln/>
        </p:spPr>
      </p:sp>
      <p:sp>
        <p:nvSpPr>
          <p:cNvPr id="44" name="Text 38"/>
          <p:cNvSpPr txBox="1"/>
          <p:nvPr/>
        </p:nvSpPr>
        <p:spPr>
          <a:xfrm>
            <a:off x="8284464" y="3895344"/>
            <a:ext cx="2843784" cy="384048"/>
          </a:xfrm>
          <a:prstGeom prst="rect">
            <a:avLst/>
          </a:prstGeom>
          <a:noFill/>
          <a:ln/>
        </p:spPr>
        <p:txBody>
          <a:bodyPr wrap="square" lIns="0" tIns="0" rIns="0" bIns="0" rtlCol="0" anchor="ctr"/>
          <a:lstStyle/>
          <a:p>
            <a:pPr indent="0" marL="0">
              <a:lnSpc>
                <a:spcPct val="90000"/>
              </a:lnSpc>
              <a:buNone/>
            </a:pPr>
            <a:r>
              <a:rPr lang="en-US" sz="950" b="1" dirty="0">
                <a:solidFill>
                  <a:srgbClr val="FFFFFF"/>
                </a:solidFill>
                <a:latin typeface="Calibri" pitchFamily="34" charset="0"/>
                <a:ea typeface="Calibri" pitchFamily="34" charset="-122"/>
                <a:cs typeface="Calibri" pitchFamily="34" charset="-120"/>
              </a:rPr>
              <a:t>Dashboard  </a:t>
            </a:r>
            <a:pPr indent="0" marL="0">
              <a:lnSpc>
                <a:spcPct val="90000"/>
              </a:lnSpc>
              <a:buNone/>
            </a:pPr>
            <a:r>
              <a:rPr lang="en-US" sz="950" dirty="0">
                <a:solidFill>
                  <a:srgbClr val="CFCBEF"/>
                </a:solidFill>
                <a:latin typeface="Calibri" pitchFamily="34" charset="0"/>
                <a:ea typeface="Calibri" pitchFamily="34" charset="-122"/>
                <a:cs typeface="Calibri" pitchFamily="34" charset="-120"/>
              </a:rPr>
              <a:t>findings by team &amp; severity</a:t>
            </a:r>
            <a:endParaRPr lang="en-US" sz="950" dirty="0"/>
          </a:p>
        </p:txBody>
      </p:sp>
      <p:sp>
        <p:nvSpPr>
          <p:cNvPr id="45" name="Shape 39"/>
          <p:cNvSpPr/>
          <p:nvPr/>
        </p:nvSpPr>
        <p:spPr>
          <a:xfrm>
            <a:off x="8138160" y="4370832"/>
            <a:ext cx="3044952" cy="384048"/>
          </a:xfrm>
          <a:prstGeom prst="roundRect">
            <a:avLst>
              <a:gd name="adj" fmla="val 19048"/>
            </a:avLst>
          </a:prstGeom>
          <a:solidFill>
            <a:srgbClr val="FFFFFF">
              <a:alpha val="12000"/>
            </a:srgbClr>
          </a:solidFill>
          <a:ln/>
        </p:spPr>
      </p:sp>
      <p:sp>
        <p:nvSpPr>
          <p:cNvPr id="46" name="Text 40"/>
          <p:cNvSpPr txBox="1"/>
          <p:nvPr/>
        </p:nvSpPr>
        <p:spPr>
          <a:xfrm>
            <a:off x="8284464" y="4370832"/>
            <a:ext cx="2843784" cy="384048"/>
          </a:xfrm>
          <a:prstGeom prst="rect">
            <a:avLst/>
          </a:prstGeom>
          <a:noFill/>
          <a:ln/>
        </p:spPr>
        <p:txBody>
          <a:bodyPr wrap="square" lIns="0" tIns="0" rIns="0" bIns="0" rtlCol="0" anchor="ctr"/>
          <a:lstStyle/>
          <a:p>
            <a:pPr indent="0" marL="0">
              <a:lnSpc>
                <a:spcPct val="90000"/>
              </a:lnSpc>
              <a:buNone/>
            </a:pPr>
            <a:r>
              <a:rPr lang="en-US" sz="950" b="1" dirty="0">
                <a:solidFill>
                  <a:srgbClr val="FFFFFF"/>
                </a:solidFill>
                <a:latin typeface="Calibri" pitchFamily="34" charset="0"/>
                <a:ea typeface="Calibri" pitchFamily="34" charset="-122"/>
                <a:cs typeface="Calibri" pitchFamily="34" charset="-120"/>
              </a:rPr>
              <a:t>Verify  </a:t>
            </a:r>
            <a:pPr indent="0" marL="0">
              <a:lnSpc>
                <a:spcPct val="90000"/>
              </a:lnSpc>
              <a:buNone/>
            </a:pPr>
            <a:r>
              <a:rPr lang="en-US" sz="950" dirty="0">
                <a:solidFill>
                  <a:srgbClr val="CFCBEF"/>
                </a:solidFill>
                <a:latin typeface="Calibri" pitchFamily="34" charset="0"/>
                <a:ea typeface="Calibri" pitchFamily="34" charset="-122"/>
                <a:cs typeface="Calibri" pitchFamily="34" charset="-120"/>
              </a:rPr>
              <a:t>re-scan; closed only if it passes</a:t>
            </a:r>
            <a:endParaRPr lang="en-US" sz="950" dirty="0"/>
          </a:p>
        </p:txBody>
      </p:sp>
      <p:sp>
        <p:nvSpPr>
          <p:cNvPr id="47" name="Text 41"/>
          <p:cNvSpPr txBox="1"/>
          <p:nvPr/>
        </p:nvSpPr>
        <p:spPr>
          <a:xfrm>
            <a:off x="603504" y="6528816"/>
            <a:ext cx="8229600" cy="256032"/>
          </a:xfrm>
          <a:prstGeom prst="rect">
            <a:avLst/>
          </a:prstGeom>
          <a:noFill/>
          <a:ln/>
        </p:spPr>
        <p:txBody>
          <a:bodyPr wrap="square" lIns="0" tIns="0" rIns="0" bIns="0" rtlCol="0" anchor="ctr"/>
          <a:lstStyle/>
          <a:p>
            <a:pPr indent="0" marL="0">
              <a:lnSpc>
                <a:spcPct val="100000"/>
              </a:lnSpc>
              <a:buNone/>
            </a:pPr>
            <a:r>
              <a:rPr lang="en-US" sz="900" b="1" dirty="0">
                <a:solidFill>
                  <a:srgbClr val="9C97CC"/>
                </a:solidFill>
                <a:latin typeface="Calibri" pitchFamily="34" charset="0"/>
                <a:ea typeface="Calibri" pitchFamily="34" charset="-122"/>
                <a:cs typeface="Calibri" pitchFamily="34" charset="-120"/>
              </a:rPr>
              <a:t>IT23314238  |  Croos E D  |  J26-SE-363</a:t>
            </a:r>
            <a:endParaRPr lang="en-US" sz="900" dirty="0"/>
          </a:p>
        </p:txBody>
      </p:sp>
      <p:sp>
        <p:nvSpPr>
          <p:cNvPr id="48" name="Text 42"/>
          <p:cNvSpPr txBox="1"/>
          <p:nvPr/>
        </p:nvSpPr>
        <p:spPr>
          <a:xfrm>
            <a:off x="10972800" y="6528816"/>
            <a:ext cx="640080" cy="256032"/>
          </a:xfrm>
          <a:prstGeom prst="rect">
            <a:avLst/>
          </a:prstGeom>
          <a:noFill/>
          <a:ln/>
        </p:spPr>
        <p:txBody>
          <a:bodyPr wrap="square" lIns="0" tIns="0" rIns="0" bIns="0" rtlCol="0" anchor="ctr"/>
          <a:lstStyle/>
          <a:p>
            <a:pPr algn="r" indent="0" marL="0">
              <a:lnSpc>
                <a:spcPct val="100000"/>
              </a:lnSpc>
              <a:buNone/>
            </a:pPr>
            <a:r>
              <a:rPr lang="en-US" sz="850" dirty="0">
                <a:solidFill>
                  <a:srgbClr val="726CA6"/>
                </a:solidFill>
                <a:latin typeface="Calibri" pitchFamily="34" charset="0"/>
                <a:ea typeface="Calibri" pitchFamily="34" charset="-122"/>
                <a:cs typeface="Calibri" pitchFamily="34" charset="-120"/>
              </a:rPr>
              <a:t>19</a:t>
            </a:r>
            <a:endParaRPr lang="en-US" sz="85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ext 0"/>
          <p:cNvSpPr txBox="1"/>
          <p:nvPr/>
        </p:nvSpPr>
        <p:spPr>
          <a:xfrm>
            <a:off x="603504" y="493776"/>
            <a:ext cx="10058400" cy="274320"/>
          </a:xfrm>
          <a:prstGeom prst="rect">
            <a:avLst/>
          </a:prstGeom>
          <a:noFill/>
          <a:ln/>
        </p:spPr>
        <p:txBody>
          <a:bodyPr wrap="square" lIns="0" tIns="0" rIns="0" bIns="0" rtlCol="0" anchor="ctr"/>
          <a:lstStyle/>
          <a:p>
            <a:pPr indent="0" marL="0">
              <a:lnSpc>
                <a:spcPct val="100000"/>
              </a:lnSpc>
              <a:buNone/>
            </a:pPr>
            <a:r>
              <a:rPr lang="en-US" sz="1100" b="1" spc="260" kern="0" dirty="0">
                <a:solidFill>
                  <a:srgbClr val="9FE7C9"/>
                </a:solidFill>
                <a:latin typeface="Calibri" pitchFamily="34" charset="0"/>
                <a:ea typeface="Calibri" pitchFamily="34" charset="-122"/>
                <a:cs typeface="Calibri" pitchFamily="34" charset="-120"/>
              </a:rPr>
              <a:t>OVERALL PROJECT   ·   BUSINESS VIEW</a:t>
            </a:r>
            <a:endParaRPr lang="en-US" sz="1100" dirty="0"/>
          </a:p>
        </p:txBody>
      </p:sp>
      <p:sp>
        <p:nvSpPr>
          <p:cNvPr id="3" name="Text 1"/>
          <p:cNvSpPr txBox="1"/>
          <p:nvPr/>
        </p:nvSpPr>
        <p:spPr>
          <a:xfrm>
            <a:off x="566928" y="749808"/>
            <a:ext cx="10607040" cy="777240"/>
          </a:xfrm>
          <a:prstGeom prst="rect">
            <a:avLst/>
          </a:prstGeom>
          <a:noFill/>
          <a:ln/>
        </p:spPr>
        <p:txBody>
          <a:bodyPr wrap="square" lIns="0" tIns="0" rIns="0" bIns="0" rtlCol="0" anchor="ctr"/>
          <a:lstStyle/>
          <a:p>
            <a:pPr indent="0" marL="0">
              <a:lnSpc>
                <a:spcPct val="98000"/>
              </a:lnSpc>
              <a:buNone/>
            </a:pPr>
            <a:r>
              <a:rPr lang="en-US" sz="2900" b="1" dirty="0">
                <a:solidFill>
                  <a:srgbClr val="FFFFFF"/>
                </a:solidFill>
                <a:latin typeface="Calibri" pitchFamily="34" charset="0"/>
                <a:ea typeface="Calibri" pitchFamily="34" charset="-122"/>
                <a:cs typeface="Calibri" pitchFamily="34" charset="-120"/>
              </a:rPr>
              <a:t>Commercialization &amp; Business Model</a:t>
            </a:r>
            <a:endParaRPr lang="en-US" sz="2900" dirty="0"/>
          </a:p>
        </p:txBody>
      </p:sp>
      <p:sp>
        <p:nvSpPr>
          <p:cNvPr id="4" name="Shape 2"/>
          <p:cNvSpPr/>
          <p:nvPr/>
        </p:nvSpPr>
        <p:spPr>
          <a:xfrm>
            <a:off x="566928" y="1865376"/>
            <a:ext cx="5440680" cy="1920240"/>
          </a:xfrm>
          <a:prstGeom prst="roundRect">
            <a:avLst>
              <a:gd name="adj" fmla="val 5238"/>
            </a:avLst>
          </a:prstGeom>
          <a:solidFill>
            <a:srgbClr val="FFFFFF">
              <a:alpha val="12000"/>
            </a:srgbClr>
          </a:solidFill>
          <a:ln w="12700">
            <a:solidFill>
              <a:srgbClr val="FFFFFF">
                <a:alpha val="18000"/>
              </a:srgbClr>
            </a:solidFill>
            <a:prstDash val="solid"/>
          </a:ln>
          <a:effectLst>
            <a:outerShdw sx="100000" sy="100000" kx="0" ky="0" algn="bl" rotWithShape="0" blurRad="177800" dist="63500" dir="5400000">
              <a:srgbClr val="0B0920">
                <a:alpha val="45000"/>
              </a:srgbClr>
            </a:outerShdw>
          </a:effectLst>
        </p:spPr>
      </p:sp>
      <p:sp>
        <p:nvSpPr>
          <p:cNvPr id="5" name="Shape 3"/>
          <p:cNvSpPr/>
          <p:nvPr/>
        </p:nvSpPr>
        <p:spPr>
          <a:xfrm>
            <a:off x="932688" y="1609344"/>
            <a:ext cx="2168957" cy="512064"/>
          </a:xfrm>
          <a:prstGeom prst="roundRect">
            <a:avLst>
              <a:gd name="adj" fmla="val 50000"/>
            </a:avLst>
          </a:prstGeom>
          <a:solidFill>
            <a:srgbClr val="7E6CF4"/>
          </a:solidFill>
          <a:ln/>
          <a:effectLst>
            <a:outerShdw sx="100000" sy="100000" kx="0" ky="0" algn="bl" rotWithShape="0" blurRad="127000" dist="50800" dir="5400000">
              <a:srgbClr val="7E6CF4">
                <a:alpha val="45000"/>
              </a:srgbClr>
            </a:outerShdw>
          </a:effectLst>
        </p:spPr>
      </p:sp>
      <p:sp>
        <p:nvSpPr>
          <p:cNvPr id="6" name="Shape 4"/>
          <p:cNvSpPr/>
          <p:nvPr/>
        </p:nvSpPr>
        <p:spPr>
          <a:xfrm>
            <a:off x="676656" y="1536192"/>
            <a:ext cx="676656" cy="676656"/>
          </a:xfrm>
          <a:prstGeom prst="ellipse">
            <a:avLst/>
          </a:prstGeom>
          <a:solidFill>
            <a:srgbClr val="5A47CE"/>
          </a:solidFill>
          <a:ln w="15240">
            <a:solidFill>
              <a:srgbClr val="FFFFFF">
                <a:alpha val="38000"/>
              </a:srgbClr>
            </a:solidFill>
            <a:prstDash val="solid"/>
          </a:ln>
          <a:effectLst>
            <a:outerShdw sx="100000" sy="100000" kx="0" ky="0" algn="bl" rotWithShape="0" blurRad="127000" dist="50800" dir="5400000">
              <a:srgbClr val="5A47CE">
                <a:alpha val="45000"/>
              </a:srgbClr>
            </a:outerShdw>
          </a:effectLst>
        </p:spPr>
      </p:sp>
      <p:pic>
        <p:nvPicPr>
          <p:cNvPr id="7" name="Image 0" descr="assets/icons/usercheck_w.png">    </p:cNvPr>
          <p:cNvPicPr>
            <a:picLocks noChangeAspect="1"/>
          </p:cNvPicPr>
          <p:nvPr/>
        </p:nvPicPr>
        <p:blipFill>
          <a:blip r:embed="rId2"/>
          <a:stretch>
            <a:fillRect/>
          </a:stretch>
        </p:blipFill>
        <p:spPr>
          <a:xfrm>
            <a:off x="866120" y="1725656"/>
            <a:ext cx="297729" cy="297729"/>
          </a:xfrm>
          <a:prstGeom prst="rect">
            <a:avLst/>
          </a:prstGeom>
        </p:spPr>
      </p:pic>
      <p:sp>
        <p:nvSpPr>
          <p:cNvPr id="8" name="Text 5"/>
          <p:cNvSpPr txBox="1"/>
          <p:nvPr/>
        </p:nvSpPr>
        <p:spPr>
          <a:xfrm>
            <a:off x="1389888" y="1609344"/>
            <a:ext cx="1675181" cy="512064"/>
          </a:xfrm>
          <a:prstGeom prst="rect">
            <a:avLst/>
          </a:prstGeom>
          <a:noFill/>
          <a:ln/>
        </p:spPr>
        <p:txBody>
          <a:bodyPr wrap="square" lIns="0" tIns="0" rIns="0" bIns="0" rtlCol="0" anchor="ctr"/>
          <a:lstStyle/>
          <a:p>
            <a:pPr indent="0" marL="0">
              <a:lnSpc>
                <a:spcPct val="100000"/>
              </a:lnSpc>
              <a:buNone/>
            </a:pPr>
            <a:r>
              <a:rPr lang="en-US" sz="1150" b="1" dirty="0">
                <a:solidFill>
                  <a:srgbClr val="FFFFFF"/>
                </a:solidFill>
                <a:latin typeface="Calibri" pitchFamily="34" charset="0"/>
                <a:ea typeface="Calibri" pitchFamily="34" charset="-122"/>
                <a:cs typeface="Calibri" pitchFamily="34" charset="-120"/>
              </a:rPr>
              <a:t>Customer persona</a:t>
            </a:r>
            <a:endParaRPr lang="en-US" sz="1150" dirty="0"/>
          </a:p>
        </p:txBody>
      </p:sp>
      <p:sp>
        <p:nvSpPr>
          <p:cNvPr id="9" name="Text 6"/>
          <p:cNvSpPr txBox="1"/>
          <p:nvPr/>
        </p:nvSpPr>
        <p:spPr>
          <a:xfrm>
            <a:off x="822960" y="2340864"/>
            <a:ext cx="4928616" cy="274320"/>
          </a:xfrm>
          <a:prstGeom prst="rect">
            <a:avLst/>
          </a:prstGeom>
          <a:noFill/>
          <a:ln/>
        </p:spPr>
        <p:txBody>
          <a:bodyPr wrap="square" lIns="0" tIns="0" rIns="0" bIns="0" rtlCol="0" anchor="ctr"/>
          <a:lstStyle/>
          <a:p>
            <a:pPr indent="0" marL="0">
              <a:lnSpc>
                <a:spcPct val="100000"/>
              </a:lnSpc>
              <a:buNone/>
            </a:pPr>
            <a:r>
              <a:rPr lang="en-US" sz="1100" b="1" dirty="0">
                <a:solidFill>
                  <a:srgbClr val="9FE7C9"/>
                </a:solidFill>
                <a:latin typeface="Calibri" pitchFamily="34" charset="0"/>
                <a:ea typeface="Calibri" pitchFamily="34" charset="-122"/>
                <a:cs typeface="Calibri" pitchFamily="34" charset="-120"/>
              </a:rPr>
              <a:t>B2B SaaS buyers</a:t>
            </a:r>
            <a:endParaRPr lang="en-US" sz="1100" dirty="0"/>
          </a:p>
        </p:txBody>
      </p:sp>
      <p:pic>
        <p:nvPicPr>
          <p:cNvPr id="10" name="Image 1" descr="assets/icons/check_w.png">    </p:cNvPr>
          <p:cNvPicPr>
            <a:picLocks noChangeAspect="1"/>
          </p:cNvPicPr>
          <p:nvPr/>
        </p:nvPicPr>
        <p:blipFill>
          <a:blip r:embed="rId3"/>
          <a:stretch>
            <a:fillRect/>
          </a:stretch>
        </p:blipFill>
        <p:spPr>
          <a:xfrm>
            <a:off x="822960" y="2724912"/>
            <a:ext cx="155448" cy="155448"/>
          </a:xfrm>
          <a:prstGeom prst="rect">
            <a:avLst/>
          </a:prstGeom>
        </p:spPr>
      </p:pic>
      <p:sp>
        <p:nvSpPr>
          <p:cNvPr id="11" name="Text 7"/>
          <p:cNvSpPr txBox="1"/>
          <p:nvPr/>
        </p:nvSpPr>
        <p:spPr>
          <a:xfrm>
            <a:off x="1060704" y="2679192"/>
            <a:ext cx="4690872" cy="347472"/>
          </a:xfrm>
          <a:prstGeom prst="rect">
            <a:avLst/>
          </a:prstGeom>
          <a:noFill/>
          <a:ln/>
        </p:spPr>
        <p:txBody>
          <a:bodyPr wrap="square" lIns="0" tIns="0" rIns="0" bIns="0" rtlCol="0" anchor="ctr"/>
          <a:lstStyle/>
          <a:p>
            <a:pPr indent="0" marL="0">
              <a:lnSpc>
                <a:spcPct val="92000"/>
              </a:lnSpc>
              <a:buNone/>
            </a:pPr>
            <a:r>
              <a:rPr lang="en-US" sz="1050" dirty="0">
                <a:solidFill>
                  <a:srgbClr val="E7E4FA"/>
                </a:solidFill>
                <a:latin typeface="Calibri" pitchFamily="34" charset="0"/>
                <a:ea typeface="Calibri" pitchFamily="34" charset="-122"/>
                <a:cs typeface="Calibri" pitchFamily="34" charset="-120"/>
              </a:rPr>
              <a:t>Deans, CS/SE heads of department &amp; module leaders</a:t>
            </a:r>
            <a:endParaRPr lang="en-US" sz="1050" dirty="0"/>
          </a:p>
        </p:txBody>
      </p:sp>
      <p:pic>
        <p:nvPicPr>
          <p:cNvPr id="12" name="Image 2" descr="assets/icons/check_w.png">    </p:cNvPr>
          <p:cNvPicPr>
            <a:picLocks noChangeAspect="1"/>
          </p:cNvPicPr>
          <p:nvPr/>
        </p:nvPicPr>
        <p:blipFill>
          <a:blip r:embed="rId4"/>
          <a:stretch>
            <a:fillRect/>
          </a:stretch>
        </p:blipFill>
        <p:spPr>
          <a:xfrm>
            <a:off x="822960" y="3090672"/>
            <a:ext cx="155448" cy="155448"/>
          </a:xfrm>
          <a:prstGeom prst="rect">
            <a:avLst/>
          </a:prstGeom>
        </p:spPr>
      </p:pic>
      <p:sp>
        <p:nvSpPr>
          <p:cNvPr id="13" name="Text 8"/>
          <p:cNvSpPr txBox="1"/>
          <p:nvPr/>
        </p:nvSpPr>
        <p:spPr>
          <a:xfrm>
            <a:off x="1060704" y="3044952"/>
            <a:ext cx="4690872" cy="347472"/>
          </a:xfrm>
          <a:prstGeom prst="rect">
            <a:avLst/>
          </a:prstGeom>
          <a:noFill/>
          <a:ln/>
        </p:spPr>
        <p:txBody>
          <a:bodyPr wrap="square" lIns="0" tIns="0" rIns="0" bIns="0" rtlCol="0" anchor="ctr"/>
          <a:lstStyle/>
          <a:p>
            <a:pPr indent="0" marL="0">
              <a:lnSpc>
                <a:spcPct val="92000"/>
              </a:lnSpc>
              <a:buNone/>
            </a:pPr>
            <a:r>
              <a:rPr lang="en-US" sz="1050" dirty="0">
                <a:solidFill>
                  <a:srgbClr val="E7E4FA"/>
                </a:solidFill>
                <a:latin typeface="Calibri" pitchFamily="34" charset="0"/>
                <a:ea typeface="Calibri" pitchFamily="34" charset="-122"/>
                <a:cs typeface="Calibri" pitchFamily="34" charset="-120"/>
              </a:rPr>
              <a:t>Instructors managing 200+ student cohorts</a:t>
            </a:r>
            <a:endParaRPr lang="en-US" sz="1050" dirty="0"/>
          </a:p>
        </p:txBody>
      </p:sp>
      <p:pic>
        <p:nvPicPr>
          <p:cNvPr id="14" name="Image 3" descr="assets/icons/check_w.png">    </p:cNvPr>
          <p:cNvPicPr>
            <a:picLocks noChangeAspect="1"/>
          </p:cNvPicPr>
          <p:nvPr/>
        </p:nvPicPr>
        <p:blipFill>
          <a:blip r:embed="rId5"/>
          <a:stretch>
            <a:fillRect/>
          </a:stretch>
        </p:blipFill>
        <p:spPr>
          <a:xfrm>
            <a:off x="822960" y="3456432"/>
            <a:ext cx="155448" cy="155448"/>
          </a:xfrm>
          <a:prstGeom prst="rect">
            <a:avLst/>
          </a:prstGeom>
        </p:spPr>
      </p:pic>
      <p:sp>
        <p:nvSpPr>
          <p:cNvPr id="15" name="Text 9"/>
          <p:cNvSpPr txBox="1"/>
          <p:nvPr/>
        </p:nvSpPr>
        <p:spPr>
          <a:xfrm>
            <a:off x="1060704" y="3410712"/>
            <a:ext cx="4690872" cy="347472"/>
          </a:xfrm>
          <a:prstGeom prst="rect">
            <a:avLst/>
          </a:prstGeom>
          <a:noFill/>
          <a:ln/>
        </p:spPr>
        <p:txBody>
          <a:bodyPr wrap="square" lIns="0" tIns="0" rIns="0" bIns="0" rtlCol="0" anchor="ctr"/>
          <a:lstStyle/>
          <a:p>
            <a:pPr indent="0" marL="0">
              <a:lnSpc>
                <a:spcPct val="92000"/>
              </a:lnSpc>
              <a:buNone/>
            </a:pPr>
            <a:r>
              <a:rPr lang="en-US" sz="1050" dirty="0">
                <a:solidFill>
                  <a:srgbClr val="E7E4FA"/>
                </a:solidFill>
                <a:latin typeface="Calibri" pitchFamily="34" charset="0"/>
                <a:ea typeface="Calibri" pitchFamily="34" charset="-122"/>
                <a:cs typeface="Calibri" pitchFamily="34" charset="-120"/>
              </a:rPr>
              <a:t>Departmental software &amp; LMS budget owners</a:t>
            </a:r>
            <a:endParaRPr lang="en-US" sz="1050" dirty="0"/>
          </a:p>
        </p:txBody>
      </p:sp>
      <p:sp>
        <p:nvSpPr>
          <p:cNvPr id="16" name="Shape 10"/>
          <p:cNvSpPr/>
          <p:nvPr/>
        </p:nvSpPr>
        <p:spPr>
          <a:xfrm>
            <a:off x="6208776" y="1865376"/>
            <a:ext cx="5440680" cy="1920240"/>
          </a:xfrm>
          <a:prstGeom prst="roundRect">
            <a:avLst>
              <a:gd name="adj" fmla="val 5238"/>
            </a:avLst>
          </a:prstGeom>
          <a:solidFill>
            <a:srgbClr val="FFFFFF">
              <a:alpha val="12000"/>
            </a:srgbClr>
          </a:solidFill>
          <a:ln w="12700">
            <a:solidFill>
              <a:srgbClr val="FFFFFF">
                <a:alpha val="18000"/>
              </a:srgbClr>
            </a:solidFill>
            <a:prstDash val="solid"/>
          </a:ln>
          <a:effectLst>
            <a:outerShdw sx="100000" sy="100000" kx="0" ky="0" algn="bl" rotWithShape="0" blurRad="177800" dist="63500" dir="5400000">
              <a:srgbClr val="0B0920">
                <a:alpha val="45000"/>
              </a:srgbClr>
            </a:outerShdw>
          </a:effectLst>
        </p:spPr>
      </p:sp>
      <p:sp>
        <p:nvSpPr>
          <p:cNvPr id="17" name="Shape 11"/>
          <p:cNvSpPr/>
          <p:nvPr/>
        </p:nvSpPr>
        <p:spPr>
          <a:xfrm>
            <a:off x="6574536" y="1609344"/>
            <a:ext cx="1748333" cy="512064"/>
          </a:xfrm>
          <a:prstGeom prst="roundRect">
            <a:avLst>
              <a:gd name="adj" fmla="val 50000"/>
            </a:avLst>
          </a:prstGeom>
          <a:solidFill>
            <a:srgbClr val="16C78C"/>
          </a:solidFill>
          <a:ln/>
          <a:effectLst>
            <a:outerShdw sx="100000" sy="100000" kx="0" ky="0" algn="bl" rotWithShape="0" blurRad="127000" dist="50800" dir="5400000">
              <a:srgbClr val="16C78C">
                <a:alpha val="45000"/>
              </a:srgbClr>
            </a:outerShdw>
          </a:effectLst>
        </p:spPr>
      </p:sp>
      <p:sp>
        <p:nvSpPr>
          <p:cNvPr id="18" name="Shape 12"/>
          <p:cNvSpPr/>
          <p:nvPr/>
        </p:nvSpPr>
        <p:spPr>
          <a:xfrm>
            <a:off x="6318504" y="1536192"/>
            <a:ext cx="676656" cy="676656"/>
          </a:xfrm>
          <a:prstGeom prst="ellipse">
            <a:avLst/>
          </a:prstGeom>
          <a:solidFill>
            <a:srgbClr val="0E9E6E"/>
          </a:solidFill>
          <a:ln w="15240">
            <a:solidFill>
              <a:srgbClr val="FFFFFF">
                <a:alpha val="38000"/>
              </a:srgbClr>
            </a:solidFill>
            <a:prstDash val="solid"/>
          </a:ln>
          <a:effectLst>
            <a:outerShdw sx="100000" sy="100000" kx="0" ky="0" algn="bl" rotWithShape="0" blurRad="127000" dist="50800" dir="5400000">
              <a:srgbClr val="0E9E6E">
                <a:alpha val="45000"/>
              </a:srgbClr>
            </a:outerShdw>
          </a:effectLst>
        </p:spPr>
      </p:sp>
      <p:pic>
        <p:nvPicPr>
          <p:cNvPr id="19" name="Image 4" descr="assets/icons/globe_w.png">    </p:cNvPr>
          <p:cNvPicPr>
            <a:picLocks noChangeAspect="1"/>
          </p:cNvPicPr>
          <p:nvPr/>
        </p:nvPicPr>
        <p:blipFill>
          <a:blip r:embed="rId6"/>
          <a:stretch>
            <a:fillRect/>
          </a:stretch>
        </p:blipFill>
        <p:spPr>
          <a:xfrm>
            <a:off x="6507968" y="1725656"/>
            <a:ext cx="297729" cy="297729"/>
          </a:xfrm>
          <a:prstGeom prst="rect">
            <a:avLst/>
          </a:prstGeom>
        </p:spPr>
      </p:pic>
      <p:sp>
        <p:nvSpPr>
          <p:cNvPr id="20" name="Text 13"/>
          <p:cNvSpPr txBox="1"/>
          <p:nvPr/>
        </p:nvSpPr>
        <p:spPr>
          <a:xfrm>
            <a:off x="7031736" y="1609344"/>
            <a:ext cx="1254557" cy="512064"/>
          </a:xfrm>
          <a:prstGeom prst="rect">
            <a:avLst/>
          </a:prstGeom>
          <a:noFill/>
          <a:ln/>
        </p:spPr>
        <p:txBody>
          <a:bodyPr wrap="square" lIns="0" tIns="0" rIns="0" bIns="0" rtlCol="0" anchor="ctr"/>
          <a:lstStyle/>
          <a:p>
            <a:pPr indent="0" marL="0">
              <a:lnSpc>
                <a:spcPct val="100000"/>
              </a:lnSpc>
              <a:buNone/>
            </a:pPr>
            <a:r>
              <a:rPr lang="en-US" sz="1150" b="1" dirty="0">
                <a:solidFill>
                  <a:srgbClr val="FFFFFF"/>
                </a:solidFill>
                <a:latin typeface="Calibri" pitchFamily="34" charset="0"/>
                <a:ea typeface="Calibri" pitchFamily="34" charset="-122"/>
                <a:cs typeface="Calibri" pitchFamily="34" charset="-120"/>
              </a:rPr>
              <a:t>Market size</a:t>
            </a:r>
            <a:endParaRPr lang="en-US" sz="1150" dirty="0"/>
          </a:p>
        </p:txBody>
      </p:sp>
      <p:sp>
        <p:nvSpPr>
          <p:cNvPr id="21" name="Text 14"/>
          <p:cNvSpPr txBox="1"/>
          <p:nvPr/>
        </p:nvSpPr>
        <p:spPr>
          <a:xfrm>
            <a:off x="6464808" y="2340864"/>
            <a:ext cx="4928616" cy="274320"/>
          </a:xfrm>
          <a:prstGeom prst="rect">
            <a:avLst/>
          </a:prstGeom>
          <a:noFill/>
          <a:ln/>
        </p:spPr>
        <p:txBody>
          <a:bodyPr wrap="square" lIns="0" tIns="0" rIns="0" bIns="0" rtlCol="0" anchor="ctr"/>
          <a:lstStyle/>
          <a:p>
            <a:pPr indent="0" marL="0">
              <a:lnSpc>
                <a:spcPct val="100000"/>
              </a:lnSpc>
              <a:buNone/>
            </a:pPr>
            <a:r>
              <a:rPr lang="en-US" sz="1100" b="1" dirty="0">
                <a:solidFill>
                  <a:srgbClr val="9FE7C9"/>
                </a:solidFill>
                <a:latin typeface="Calibri" pitchFamily="34" charset="0"/>
                <a:ea typeface="Calibri" pitchFamily="34" charset="-122"/>
                <a:cs typeface="Calibri" pitchFamily="34" charset="-120"/>
              </a:rPr>
              <a:t>Higher-ed &amp; beyond</a:t>
            </a:r>
            <a:endParaRPr lang="en-US" sz="1100" dirty="0"/>
          </a:p>
        </p:txBody>
      </p:sp>
      <p:pic>
        <p:nvPicPr>
          <p:cNvPr id="22" name="Image 5" descr="assets/icons/check_w.png">    </p:cNvPr>
          <p:cNvPicPr>
            <a:picLocks noChangeAspect="1"/>
          </p:cNvPicPr>
          <p:nvPr/>
        </p:nvPicPr>
        <p:blipFill>
          <a:blip r:embed="rId7"/>
          <a:stretch>
            <a:fillRect/>
          </a:stretch>
        </p:blipFill>
        <p:spPr>
          <a:xfrm>
            <a:off x="6464808" y="2724912"/>
            <a:ext cx="155448" cy="155448"/>
          </a:xfrm>
          <a:prstGeom prst="rect">
            <a:avLst/>
          </a:prstGeom>
        </p:spPr>
      </p:pic>
      <p:sp>
        <p:nvSpPr>
          <p:cNvPr id="23" name="Text 15"/>
          <p:cNvSpPr txBox="1"/>
          <p:nvPr/>
        </p:nvSpPr>
        <p:spPr>
          <a:xfrm>
            <a:off x="6702552" y="2679192"/>
            <a:ext cx="4690872" cy="347472"/>
          </a:xfrm>
          <a:prstGeom prst="rect">
            <a:avLst/>
          </a:prstGeom>
          <a:noFill/>
          <a:ln/>
        </p:spPr>
        <p:txBody>
          <a:bodyPr wrap="square" lIns="0" tIns="0" rIns="0" bIns="0" rtlCol="0" anchor="ctr"/>
          <a:lstStyle/>
          <a:p>
            <a:pPr indent="0" marL="0">
              <a:lnSpc>
                <a:spcPct val="92000"/>
              </a:lnSpc>
              <a:buNone/>
            </a:pPr>
            <a:r>
              <a:rPr lang="en-US" sz="1050" dirty="0">
                <a:solidFill>
                  <a:srgbClr val="E7E4FA"/>
                </a:solidFill>
                <a:latin typeface="Calibri" pitchFamily="34" charset="0"/>
                <a:ea typeface="Calibri" pitchFamily="34" charset="-122"/>
                <a:cs typeface="Calibri" pitchFamily="34" charset="-120"/>
              </a:rPr>
              <a:t>Higher-ed CS &amp; SE degree programs globally</a:t>
            </a:r>
            <a:endParaRPr lang="en-US" sz="1050" dirty="0"/>
          </a:p>
        </p:txBody>
      </p:sp>
      <p:pic>
        <p:nvPicPr>
          <p:cNvPr id="24" name="Image 6" descr="assets/icons/check_w.png">    </p:cNvPr>
          <p:cNvPicPr>
            <a:picLocks noChangeAspect="1"/>
          </p:cNvPicPr>
          <p:nvPr/>
        </p:nvPicPr>
        <p:blipFill>
          <a:blip r:embed="rId8"/>
          <a:stretch>
            <a:fillRect/>
          </a:stretch>
        </p:blipFill>
        <p:spPr>
          <a:xfrm>
            <a:off x="6464808" y="3090672"/>
            <a:ext cx="155448" cy="155448"/>
          </a:xfrm>
          <a:prstGeom prst="rect">
            <a:avLst/>
          </a:prstGeom>
        </p:spPr>
      </p:pic>
      <p:sp>
        <p:nvSpPr>
          <p:cNvPr id="25" name="Text 16"/>
          <p:cNvSpPr txBox="1"/>
          <p:nvPr/>
        </p:nvSpPr>
        <p:spPr>
          <a:xfrm>
            <a:off x="6702552" y="3044952"/>
            <a:ext cx="4690872" cy="347472"/>
          </a:xfrm>
          <a:prstGeom prst="rect">
            <a:avLst/>
          </a:prstGeom>
          <a:noFill/>
          <a:ln/>
        </p:spPr>
        <p:txBody>
          <a:bodyPr wrap="square" lIns="0" tIns="0" rIns="0" bIns="0" rtlCol="0" anchor="ctr"/>
          <a:lstStyle/>
          <a:p>
            <a:pPr indent="0" marL="0">
              <a:lnSpc>
                <a:spcPct val="92000"/>
              </a:lnSpc>
              <a:buNone/>
            </a:pPr>
            <a:r>
              <a:rPr lang="en-US" sz="1050" dirty="0">
                <a:solidFill>
                  <a:srgbClr val="E7E4FA"/>
                </a:solidFill>
                <a:latin typeface="Calibri" pitchFamily="34" charset="0"/>
                <a:ea typeface="Calibri" pitchFamily="34" charset="-122"/>
                <a:cs typeface="Calibri" pitchFamily="34" charset="-120"/>
              </a:rPr>
              <a:t>Coding bootcamps &amp; technical academies</a:t>
            </a:r>
            <a:endParaRPr lang="en-US" sz="1050" dirty="0"/>
          </a:p>
        </p:txBody>
      </p:sp>
      <p:pic>
        <p:nvPicPr>
          <p:cNvPr id="26" name="Image 7" descr="assets/icons/check_w.png">    </p:cNvPr>
          <p:cNvPicPr>
            <a:picLocks noChangeAspect="1"/>
          </p:cNvPicPr>
          <p:nvPr/>
        </p:nvPicPr>
        <p:blipFill>
          <a:blip r:embed="rId9"/>
          <a:stretch>
            <a:fillRect/>
          </a:stretch>
        </p:blipFill>
        <p:spPr>
          <a:xfrm>
            <a:off x="6464808" y="3456432"/>
            <a:ext cx="155448" cy="155448"/>
          </a:xfrm>
          <a:prstGeom prst="rect">
            <a:avLst/>
          </a:prstGeom>
        </p:spPr>
      </p:pic>
      <p:sp>
        <p:nvSpPr>
          <p:cNvPr id="27" name="Text 17"/>
          <p:cNvSpPr txBox="1"/>
          <p:nvPr/>
        </p:nvSpPr>
        <p:spPr>
          <a:xfrm>
            <a:off x="6702552" y="3410712"/>
            <a:ext cx="4690872" cy="347472"/>
          </a:xfrm>
          <a:prstGeom prst="rect">
            <a:avLst/>
          </a:prstGeom>
          <a:noFill/>
          <a:ln/>
        </p:spPr>
        <p:txBody>
          <a:bodyPr wrap="square" lIns="0" tIns="0" rIns="0" bIns="0" rtlCol="0" anchor="ctr"/>
          <a:lstStyle/>
          <a:p>
            <a:pPr indent="0" marL="0">
              <a:lnSpc>
                <a:spcPct val="92000"/>
              </a:lnSpc>
              <a:buNone/>
            </a:pPr>
            <a:r>
              <a:rPr lang="en-US" sz="1050" dirty="0">
                <a:solidFill>
                  <a:srgbClr val="E7E4FA"/>
                </a:solidFill>
                <a:latin typeface="Calibri" pitchFamily="34" charset="0"/>
                <a:ea typeface="Calibri" pitchFamily="34" charset="-122"/>
                <a:cs typeface="Calibri" pitchFamily="34" charset="-120"/>
              </a:rPr>
              <a:t>Corporate graduate / junior-developer upskilling</a:t>
            </a:r>
            <a:endParaRPr lang="en-US" sz="1050" dirty="0"/>
          </a:p>
        </p:txBody>
      </p:sp>
      <p:sp>
        <p:nvSpPr>
          <p:cNvPr id="28" name="Shape 18"/>
          <p:cNvSpPr/>
          <p:nvPr/>
        </p:nvSpPr>
        <p:spPr>
          <a:xfrm>
            <a:off x="566928" y="4261104"/>
            <a:ext cx="5440680" cy="1920240"/>
          </a:xfrm>
          <a:prstGeom prst="roundRect">
            <a:avLst>
              <a:gd name="adj" fmla="val 5238"/>
            </a:avLst>
          </a:prstGeom>
          <a:solidFill>
            <a:srgbClr val="FFFFFF">
              <a:alpha val="12000"/>
            </a:srgbClr>
          </a:solidFill>
          <a:ln w="12700">
            <a:solidFill>
              <a:srgbClr val="FFFFFF">
                <a:alpha val="18000"/>
              </a:srgbClr>
            </a:solidFill>
            <a:prstDash val="solid"/>
          </a:ln>
          <a:effectLst>
            <a:outerShdw sx="100000" sy="100000" kx="0" ky="0" algn="bl" rotWithShape="0" blurRad="177800" dist="63500" dir="5400000">
              <a:srgbClr val="0B0920">
                <a:alpha val="45000"/>
              </a:srgbClr>
            </a:outerShdw>
          </a:effectLst>
        </p:spPr>
      </p:sp>
      <p:sp>
        <p:nvSpPr>
          <p:cNvPr id="29" name="Shape 19"/>
          <p:cNvSpPr/>
          <p:nvPr/>
        </p:nvSpPr>
        <p:spPr>
          <a:xfrm>
            <a:off x="932688" y="4005072"/>
            <a:ext cx="2000707" cy="512064"/>
          </a:xfrm>
          <a:prstGeom prst="roundRect">
            <a:avLst>
              <a:gd name="adj" fmla="val 50000"/>
            </a:avLst>
          </a:prstGeom>
          <a:solidFill>
            <a:srgbClr val="F2A740"/>
          </a:solidFill>
          <a:ln/>
          <a:effectLst>
            <a:outerShdw sx="100000" sy="100000" kx="0" ky="0" algn="bl" rotWithShape="0" blurRad="127000" dist="50800" dir="5400000">
              <a:srgbClr val="F2A740">
                <a:alpha val="45000"/>
              </a:srgbClr>
            </a:outerShdw>
          </a:effectLst>
        </p:spPr>
      </p:sp>
      <p:sp>
        <p:nvSpPr>
          <p:cNvPr id="30" name="Shape 20"/>
          <p:cNvSpPr/>
          <p:nvPr/>
        </p:nvSpPr>
        <p:spPr>
          <a:xfrm>
            <a:off x="676656" y="3931920"/>
            <a:ext cx="676656" cy="676656"/>
          </a:xfrm>
          <a:prstGeom prst="ellipse">
            <a:avLst/>
          </a:prstGeom>
          <a:solidFill>
            <a:srgbClr val="E0891C"/>
          </a:solidFill>
          <a:ln w="15240">
            <a:solidFill>
              <a:srgbClr val="FFFFFF">
                <a:alpha val="38000"/>
              </a:srgbClr>
            </a:solidFill>
            <a:prstDash val="solid"/>
          </a:ln>
          <a:effectLst>
            <a:outerShdw sx="100000" sy="100000" kx="0" ky="0" algn="bl" rotWithShape="0" blurRad="127000" dist="50800" dir="5400000">
              <a:srgbClr val="E0891C">
                <a:alpha val="45000"/>
              </a:srgbClr>
            </a:outerShdw>
          </a:effectLst>
        </p:spPr>
      </p:sp>
      <p:pic>
        <p:nvPicPr>
          <p:cNvPr id="31" name="Image 8" descr="assets/icons/star_w.png">    </p:cNvPr>
          <p:cNvPicPr>
            <a:picLocks noChangeAspect="1"/>
          </p:cNvPicPr>
          <p:nvPr/>
        </p:nvPicPr>
        <p:blipFill>
          <a:blip r:embed="rId10"/>
          <a:stretch>
            <a:fillRect/>
          </a:stretch>
        </p:blipFill>
        <p:spPr>
          <a:xfrm>
            <a:off x="866120" y="4121384"/>
            <a:ext cx="297729" cy="297729"/>
          </a:xfrm>
          <a:prstGeom prst="rect">
            <a:avLst/>
          </a:prstGeom>
        </p:spPr>
      </p:pic>
      <p:sp>
        <p:nvSpPr>
          <p:cNvPr id="32" name="Text 21"/>
          <p:cNvSpPr txBox="1"/>
          <p:nvPr/>
        </p:nvSpPr>
        <p:spPr>
          <a:xfrm>
            <a:off x="1389888" y="4005072"/>
            <a:ext cx="1506931" cy="512064"/>
          </a:xfrm>
          <a:prstGeom prst="rect">
            <a:avLst/>
          </a:prstGeom>
          <a:noFill/>
          <a:ln/>
        </p:spPr>
        <p:txBody>
          <a:bodyPr wrap="square" lIns="0" tIns="0" rIns="0" bIns="0" rtlCol="0" anchor="ctr"/>
          <a:lstStyle/>
          <a:p>
            <a:pPr indent="0" marL="0">
              <a:lnSpc>
                <a:spcPct val="100000"/>
              </a:lnSpc>
              <a:buNone/>
            </a:pPr>
            <a:r>
              <a:rPr lang="en-US" sz="1150" b="1" dirty="0">
                <a:solidFill>
                  <a:srgbClr val="FFFFFF"/>
                </a:solidFill>
                <a:latin typeface="Calibri" pitchFamily="34" charset="0"/>
                <a:ea typeface="Calibri" pitchFamily="34" charset="-122"/>
                <a:cs typeface="Calibri" pitchFamily="34" charset="-120"/>
              </a:rPr>
              <a:t>What is unique</a:t>
            </a:r>
            <a:endParaRPr lang="en-US" sz="1150" dirty="0"/>
          </a:p>
        </p:txBody>
      </p:sp>
      <p:sp>
        <p:nvSpPr>
          <p:cNvPr id="33" name="Text 22"/>
          <p:cNvSpPr txBox="1"/>
          <p:nvPr/>
        </p:nvSpPr>
        <p:spPr>
          <a:xfrm>
            <a:off x="822960" y="4736592"/>
            <a:ext cx="4928616" cy="274320"/>
          </a:xfrm>
          <a:prstGeom prst="rect">
            <a:avLst/>
          </a:prstGeom>
          <a:noFill/>
          <a:ln/>
        </p:spPr>
        <p:txBody>
          <a:bodyPr wrap="square" lIns="0" tIns="0" rIns="0" bIns="0" rtlCol="0" anchor="ctr"/>
          <a:lstStyle/>
          <a:p>
            <a:pPr indent="0" marL="0">
              <a:lnSpc>
                <a:spcPct val="100000"/>
              </a:lnSpc>
              <a:buNone/>
            </a:pPr>
            <a:r>
              <a:rPr lang="en-US" sz="1100" b="1" dirty="0">
                <a:solidFill>
                  <a:srgbClr val="9FE7C9"/>
                </a:solidFill>
                <a:latin typeface="Calibri" pitchFamily="34" charset="0"/>
                <a:ea typeface="Calibri" pitchFamily="34" charset="-122"/>
                <a:cs typeface="Calibri" pitchFamily="34" charset="-120"/>
              </a:rPr>
              <a:t>One coordinated framework</a:t>
            </a:r>
            <a:endParaRPr lang="en-US" sz="1100" dirty="0"/>
          </a:p>
        </p:txBody>
      </p:sp>
      <p:pic>
        <p:nvPicPr>
          <p:cNvPr id="34" name="Image 9" descr="assets/icons/check_w.png">    </p:cNvPr>
          <p:cNvPicPr>
            <a:picLocks noChangeAspect="1"/>
          </p:cNvPicPr>
          <p:nvPr/>
        </p:nvPicPr>
        <p:blipFill>
          <a:blip r:embed="rId11"/>
          <a:stretch>
            <a:fillRect/>
          </a:stretch>
        </p:blipFill>
        <p:spPr>
          <a:xfrm>
            <a:off x="822960" y="5120640"/>
            <a:ext cx="155448" cy="155448"/>
          </a:xfrm>
          <a:prstGeom prst="rect">
            <a:avLst/>
          </a:prstGeom>
        </p:spPr>
      </p:pic>
      <p:sp>
        <p:nvSpPr>
          <p:cNvPr id="35" name="Text 23"/>
          <p:cNvSpPr txBox="1"/>
          <p:nvPr/>
        </p:nvSpPr>
        <p:spPr>
          <a:xfrm>
            <a:off x="1060704" y="5074920"/>
            <a:ext cx="4690872" cy="347472"/>
          </a:xfrm>
          <a:prstGeom prst="rect">
            <a:avLst/>
          </a:prstGeom>
          <a:noFill/>
          <a:ln/>
        </p:spPr>
        <p:txBody>
          <a:bodyPr wrap="square" lIns="0" tIns="0" rIns="0" bIns="0" rtlCol="0" anchor="ctr"/>
          <a:lstStyle/>
          <a:p>
            <a:pPr indent="0" marL="0">
              <a:lnSpc>
                <a:spcPct val="92000"/>
              </a:lnSpc>
              <a:buNone/>
            </a:pPr>
            <a:r>
              <a:rPr lang="en-US" sz="1050" dirty="0">
                <a:solidFill>
                  <a:srgbClr val="E7E4FA"/>
                </a:solidFill>
                <a:latin typeface="Calibri" pitchFamily="34" charset="0"/>
                <a:ea typeface="Calibri" pitchFamily="34" charset="-122"/>
                <a:cs typeface="Calibri" pitchFamily="34" charset="-120"/>
              </a:rPr>
              <a:t>Proprietary DART arbitration &amp; routing</a:t>
            </a:r>
            <a:endParaRPr lang="en-US" sz="1050" dirty="0"/>
          </a:p>
        </p:txBody>
      </p:sp>
      <p:pic>
        <p:nvPicPr>
          <p:cNvPr id="36" name="Image 10" descr="assets/icons/check_w.png">    </p:cNvPr>
          <p:cNvPicPr>
            <a:picLocks noChangeAspect="1"/>
          </p:cNvPicPr>
          <p:nvPr/>
        </p:nvPicPr>
        <p:blipFill>
          <a:blip r:embed="rId12"/>
          <a:stretch>
            <a:fillRect/>
          </a:stretch>
        </p:blipFill>
        <p:spPr>
          <a:xfrm>
            <a:off x="822960" y="5486400"/>
            <a:ext cx="155448" cy="155448"/>
          </a:xfrm>
          <a:prstGeom prst="rect">
            <a:avLst/>
          </a:prstGeom>
        </p:spPr>
      </p:pic>
      <p:sp>
        <p:nvSpPr>
          <p:cNvPr id="37" name="Text 24"/>
          <p:cNvSpPr txBox="1"/>
          <p:nvPr/>
        </p:nvSpPr>
        <p:spPr>
          <a:xfrm>
            <a:off x="1060704" y="5440680"/>
            <a:ext cx="4690872" cy="347472"/>
          </a:xfrm>
          <a:prstGeom prst="rect">
            <a:avLst/>
          </a:prstGeom>
          <a:noFill/>
          <a:ln/>
        </p:spPr>
        <p:txBody>
          <a:bodyPr wrap="square" lIns="0" tIns="0" rIns="0" bIns="0" rtlCol="0" anchor="ctr"/>
          <a:lstStyle/>
          <a:p>
            <a:pPr indent="0" marL="0">
              <a:lnSpc>
                <a:spcPct val="92000"/>
              </a:lnSpc>
              <a:buNone/>
            </a:pPr>
            <a:r>
              <a:rPr lang="en-US" sz="1050" dirty="0">
                <a:solidFill>
                  <a:srgbClr val="E7E4FA"/>
                </a:solidFill>
                <a:latin typeface="Calibri" pitchFamily="34" charset="0"/>
                <a:ea typeface="Calibri" pitchFamily="34" charset="-122"/>
                <a:cs typeface="Calibri" pitchFamily="34" charset="-120"/>
              </a:rPr>
              <a:t>7-factor explainable scoring + ownership probe</a:t>
            </a:r>
            <a:endParaRPr lang="en-US" sz="1050" dirty="0"/>
          </a:p>
        </p:txBody>
      </p:sp>
      <p:pic>
        <p:nvPicPr>
          <p:cNvPr id="38" name="Image 11" descr="assets/icons/check_w.png">    </p:cNvPr>
          <p:cNvPicPr>
            <a:picLocks noChangeAspect="1"/>
          </p:cNvPicPr>
          <p:nvPr/>
        </p:nvPicPr>
        <p:blipFill>
          <a:blip r:embed="rId13"/>
          <a:stretch>
            <a:fillRect/>
          </a:stretch>
        </p:blipFill>
        <p:spPr>
          <a:xfrm>
            <a:off x="822960" y="5852160"/>
            <a:ext cx="155448" cy="155448"/>
          </a:xfrm>
          <a:prstGeom prst="rect">
            <a:avLst/>
          </a:prstGeom>
        </p:spPr>
      </p:pic>
      <p:sp>
        <p:nvSpPr>
          <p:cNvPr id="39" name="Text 25"/>
          <p:cNvSpPr txBox="1"/>
          <p:nvPr/>
        </p:nvSpPr>
        <p:spPr>
          <a:xfrm>
            <a:off x="1060704" y="5806440"/>
            <a:ext cx="4690872" cy="347472"/>
          </a:xfrm>
          <a:prstGeom prst="rect">
            <a:avLst/>
          </a:prstGeom>
          <a:noFill/>
          <a:ln/>
        </p:spPr>
        <p:txBody>
          <a:bodyPr wrap="square" lIns="0" tIns="0" rIns="0" bIns="0" rtlCol="0" anchor="ctr"/>
          <a:lstStyle/>
          <a:p>
            <a:pPr indent="0" marL="0">
              <a:lnSpc>
                <a:spcPct val="92000"/>
              </a:lnSpc>
              <a:buNone/>
            </a:pPr>
            <a:r>
              <a:rPr lang="en-US" sz="1050" dirty="0">
                <a:solidFill>
                  <a:srgbClr val="E7E4FA"/>
                </a:solidFill>
                <a:latin typeface="Calibri" pitchFamily="34" charset="0"/>
                <a:ea typeface="Calibri" pitchFamily="34" charset="-122"/>
                <a:cs typeface="Calibri" pitchFamily="34" charset="-120"/>
              </a:rPr>
              <a:t>Project-context security traceability</a:t>
            </a:r>
            <a:endParaRPr lang="en-US" sz="1050" dirty="0"/>
          </a:p>
        </p:txBody>
      </p:sp>
      <p:sp>
        <p:nvSpPr>
          <p:cNvPr id="40" name="Shape 26"/>
          <p:cNvSpPr/>
          <p:nvPr/>
        </p:nvSpPr>
        <p:spPr>
          <a:xfrm>
            <a:off x="6208776" y="4261104"/>
            <a:ext cx="5440680" cy="1920240"/>
          </a:xfrm>
          <a:prstGeom prst="roundRect">
            <a:avLst>
              <a:gd name="adj" fmla="val 5238"/>
            </a:avLst>
          </a:prstGeom>
          <a:solidFill>
            <a:srgbClr val="FFFFFF">
              <a:alpha val="12000"/>
            </a:srgbClr>
          </a:solidFill>
          <a:ln w="12700">
            <a:solidFill>
              <a:srgbClr val="FFFFFF">
                <a:alpha val="18000"/>
              </a:srgbClr>
            </a:solidFill>
            <a:prstDash val="solid"/>
          </a:ln>
          <a:effectLst>
            <a:outerShdw sx="100000" sy="100000" kx="0" ky="0" algn="bl" rotWithShape="0" blurRad="177800" dist="63500" dir="5400000">
              <a:srgbClr val="0B0920">
                <a:alpha val="45000"/>
              </a:srgbClr>
            </a:outerShdw>
          </a:effectLst>
        </p:spPr>
      </p:sp>
      <p:sp>
        <p:nvSpPr>
          <p:cNvPr id="41" name="Shape 27"/>
          <p:cNvSpPr/>
          <p:nvPr/>
        </p:nvSpPr>
        <p:spPr>
          <a:xfrm>
            <a:off x="6574536" y="4005072"/>
            <a:ext cx="1916582" cy="512064"/>
          </a:xfrm>
          <a:prstGeom prst="roundRect">
            <a:avLst>
              <a:gd name="adj" fmla="val 50000"/>
            </a:avLst>
          </a:prstGeom>
          <a:solidFill>
            <a:srgbClr val="39BC7A"/>
          </a:solidFill>
          <a:ln/>
          <a:effectLst>
            <a:outerShdw sx="100000" sy="100000" kx="0" ky="0" algn="bl" rotWithShape="0" blurRad="127000" dist="50800" dir="5400000">
              <a:srgbClr val="39BC7A">
                <a:alpha val="45000"/>
              </a:srgbClr>
            </a:outerShdw>
          </a:effectLst>
        </p:spPr>
      </p:sp>
      <p:sp>
        <p:nvSpPr>
          <p:cNvPr id="42" name="Shape 28"/>
          <p:cNvSpPr/>
          <p:nvPr/>
        </p:nvSpPr>
        <p:spPr>
          <a:xfrm>
            <a:off x="6318504" y="3931920"/>
            <a:ext cx="676656" cy="676656"/>
          </a:xfrm>
          <a:prstGeom prst="ellipse">
            <a:avLst/>
          </a:prstGeom>
          <a:solidFill>
            <a:srgbClr val="23925B"/>
          </a:solidFill>
          <a:ln w="15240">
            <a:solidFill>
              <a:srgbClr val="FFFFFF">
                <a:alpha val="38000"/>
              </a:srgbClr>
            </a:solidFill>
            <a:prstDash val="solid"/>
          </a:ln>
          <a:effectLst>
            <a:outerShdw sx="100000" sy="100000" kx="0" ky="0" algn="bl" rotWithShape="0" blurRad="127000" dist="50800" dir="5400000">
              <a:srgbClr val="23925B">
                <a:alpha val="45000"/>
              </a:srgbClr>
            </a:outerShdw>
          </a:effectLst>
        </p:spPr>
      </p:sp>
      <p:pic>
        <p:nvPicPr>
          <p:cNvPr id="43" name="Image 12" descr="assets/icons/dollarsign_w.png">    </p:cNvPr>
          <p:cNvPicPr>
            <a:picLocks noChangeAspect="1"/>
          </p:cNvPicPr>
          <p:nvPr/>
        </p:nvPicPr>
        <p:blipFill>
          <a:blip r:embed="rId14"/>
          <a:stretch>
            <a:fillRect/>
          </a:stretch>
        </p:blipFill>
        <p:spPr>
          <a:xfrm>
            <a:off x="6507968" y="4121384"/>
            <a:ext cx="297729" cy="297729"/>
          </a:xfrm>
          <a:prstGeom prst="rect">
            <a:avLst/>
          </a:prstGeom>
        </p:spPr>
      </p:pic>
      <p:sp>
        <p:nvSpPr>
          <p:cNvPr id="44" name="Text 29"/>
          <p:cNvSpPr txBox="1"/>
          <p:nvPr/>
        </p:nvSpPr>
        <p:spPr>
          <a:xfrm>
            <a:off x="7031736" y="4005072"/>
            <a:ext cx="1422806" cy="512064"/>
          </a:xfrm>
          <a:prstGeom prst="rect">
            <a:avLst/>
          </a:prstGeom>
          <a:noFill/>
          <a:ln/>
        </p:spPr>
        <p:txBody>
          <a:bodyPr wrap="square" lIns="0" tIns="0" rIns="0" bIns="0" rtlCol="0" anchor="ctr"/>
          <a:lstStyle/>
          <a:p>
            <a:pPr indent="0" marL="0">
              <a:lnSpc>
                <a:spcPct val="100000"/>
              </a:lnSpc>
              <a:buNone/>
            </a:pPr>
            <a:r>
              <a:rPr lang="en-US" sz="1150" b="1" dirty="0">
                <a:solidFill>
                  <a:srgbClr val="FFFFFF"/>
                </a:solidFill>
                <a:latin typeface="Calibri" pitchFamily="34" charset="0"/>
                <a:ea typeface="Calibri" pitchFamily="34" charset="-122"/>
                <a:cs typeface="Calibri" pitchFamily="34" charset="-120"/>
              </a:rPr>
              <a:t>Cost recovery</a:t>
            </a:r>
            <a:endParaRPr lang="en-US" sz="1150" dirty="0"/>
          </a:p>
        </p:txBody>
      </p:sp>
      <p:sp>
        <p:nvSpPr>
          <p:cNvPr id="45" name="Text 30"/>
          <p:cNvSpPr txBox="1"/>
          <p:nvPr/>
        </p:nvSpPr>
        <p:spPr>
          <a:xfrm>
            <a:off x="6464808" y="4736592"/>
            <a:ext cx="4928616" cy="274320"/>
          </a:xfrm>
          <a:prstGeom prst="rect">
            <a:avLst/>
          </a:prstGeom>
          <a:noFill/>
          <a:ln/>
        </p:spPr>
        <p:txBody>
          <a:bodyPr wrap="square" lIns="0" tIns="0" rIns="0" bIns="0" rtlCol="0" anchor="ctr"/>
          <a:lstStyle/>
          <a:p>
            <a:pPr indent="0" marL="0">
              <a:lnSpc>
                <a:spcPct val="100000"/>
              </a:lnSpc>
              <a:buNone/>
            </a:pPr>
            <a:r>
              <a:rPr lang="en-US" sz="1100" b="1" dirty="0">
                <a:solidFill>
                  <a:srgbClr val="9FE7C9"/>
                </a:solidFill>
                <a:latin typeface="Calibri" pitchFamily="34" charset="0"/>
                <a:ea typeface="Calibri" pitchFamily="34" charset="-122"/>
                <a:cs typeface="Calibri" pitchFamily="34" charset="-120"/>
              </a:rPr>
              <a:t>Tiered SaaS, &gt;75% margin</a:t>
            </a:r>
            <a:endParaRPr lang="en-US" sz="1100" dirty="0"/>
          </a:p>
        </p:txBody>
      </p:sp>
      <p:pic>
        <p:nvPicPr>
          <p:cNvPr id="46" name="Image 13" descr="assets/icons/check_w.png">    </p:cNvPr>
          <p:cNvPicPr>
            <a:picLocks noChangeAspect="1"/>
          </p:cNvPicPr>
          <p:nvPr/>
        </p:nvPicPr>
        <p:blipFill>
          <a:blip r:embed="rId15"/>
          <a:stretch>
            <a:fillRect/>
          </a:stretch>
        </p:blipFill>
        <p:spPr>
          <a:xfrm>
            <a:off x="6464808" y="5120640"/>
            <a:ext cx="155448" cy="155448"/>
          </a:xfrm>
          <a:prstGeom prst="rect">
            <a:avLst/>
          </a:prstGeom>
        </p:spPr>
      </p:pic>
      <p:sp>
        <p:nvSpPr>
          <p:cNvPr id="47" name="Text 31"/>
          <p:cNvSpPr txBox="1"/>
          <p:nvPr/>
        </p:nvSpPr>
        <p:spPr>
          <a:xfrm>
            <a:off x="6702552" y="5074920"/>
            <a:ext cx="4690872" cy="347472"/>
          </a:xfrm>
          <a:prstGeom prst="rect">
            <a:avLst/>
          </a:prstGeom>
          <a:noFill/>
          <a:ln/>
        </p:spPr>
        <p:txBody>
          <a:bodyPr wrap="square" lIns="0" tIns="0" rIns="0" bIns="0" rtlCol="0" anchor="ctr"/>
          <a:lstStyle/>
          <a:p>
            <a:pPr indent="0" marL="0">
              <a:lnSpc>
                <a:spcPct val="92000"/>
              </a:lnSpc>
              <a:buNone/>
            </a:pPr>
            <a:r>
              <a:rPr lang="en-US" sz="1050" dirty="0">
                <a:solidFill>
                  <a:srgbClr val="E7E4FA"/>
                </a:solidFill>
                <a:latin typeface="Calibri" pitchFamily="34" charset="0"/>
                <a:ea typeface="Calibri" pitchFamily="34" charset="-122"/>
                <a:cs typeface="Calibri" pitchFamily="34" charset="-120"/>
              </a:rPr>
              <a:t>$15–25 / student / semester or $8–15k / yr license</a:t>
            </a:r>
            <a:endParaRPr lang="en-US" sz="1050" dirty="0"/>
          </a:p>
        </p:txBody>
      </p:sp>
      <p:pic>
        <p:nvPicPr>
          <p:cNvPr id="48" name="Image 14" descr="assets/icons/check_w.png">    </p:cNvPr>
          <p:cNvPicPr>
            <a:picLocks noChangeAspect="1"/>
          </p:cNvPicPr>
          <p:nvPr/>
        </p:nvPicPr>
        <p:blipFill>
          <a:blip r:embed="rId16"/>
          <a:stretch>
            <a:fillRect/>
          </a:stretch>
        </p:blipFill>
        <p:spPr>
          <a:xfrm>
            <a:off x="6464808" y="5486400"/>
            <a:ext cx="155448" cy="155448"/>
          </a:xfrm>
          <a:prstGeom prst="rect">
            <a:avLst/>
          </a:prstGeom>
        </p:spPr>
      </p:pic>
      <p:sp>
        <p:nvSpPr>
          <p:cNvPr id="49" name="Text 32"/>
          <p:cNvSpPr txBox="1"/>
          <p:nvPr/>
        </p:nvSpPr>
        <p:spPr>
          <a:xfrm>
            <a:off x="6702552" y="5440680"/>
            <a:ext cx="4690872" cy="347472"/>
          </a:xfrm>
          <a:prstGeom prst="rect">
            <a:avLst/>
          </a:prstGeom>
          <a:noFill/>
          <a:ln/>
        </p:spPr>
        <p:txBody>
          <a:bodyPr wrap="square" lIns="0" tIns="0" rIns="0" bIns="0" rtlCol="0" anchor="ctr"/>
          <a:lstStyle/>
          <a:p>
            <a:pPr indent="0" marL="0">
              <a:lnSpc>
                <a:spcPct val="92000"/>
              </a:lnSpc>
              <a:buNone/>
            </a:pPr>
            <a:r>
              <a:rPr lang="en-US" sz="1050" dirty="0">
                <a:solidFill>
                  <a:srgbClr val="E7E4FA"/>
                </a:solidFill>
                <a:latin typeface="Calibri" pitchFamily="34" charset="0"/>
                <a:ea typeface="Calibri" pitchFamily="34" charset="-122"/>
                <a:cs typeface="Calibri" pitchFamily="34" charset="-120"/>
              </a:rPr>
              <a:t>Small specialized models keep cost &lt; $0.80 / student</a:t>
            </a:r>
            <a:endParaRPr lang="en-US" sz="1050" dirty="0"/>
          </a:p>
        </p:txBody>
      </p:sp>
      <p:pic>
        <p:nvPicPr>
          <p:cNvPr id="50" name="Image 15" descr="assets/icons/check_w.png">    </p:cNvPr>
          <p:cNvPicPr>
            <a:picLocks noChangeAspect="1"/>
          </p:cNvPicPr>
          <p:nvPr/>
        </p:nvPicPr>
        <p:blipFill>
          <a:blip r:embed="rId17"/>
          <a:stretch>
            <a:fillRect/>
          </a:stretch>
        </p:blipFill>
        <p:spPr>
          <a:xfrm>
            <a:off x="6464808" y="5852160"/>
            <a:ext cx="155448" cy="155448"/>
          </a:xfrm>
          <a:prstGeom prst="rect">
            <a:avLst/>
          </a:prstGeom>
        </p:spPr>
      </p:pic>
      <p:sp>
        <p:nvSpPr>
          <p:cNvPr id="51" name="Text 33"/>
          <p:cNvSpPr txBox="1"/>
          <p:nvPr/>
        </p:nvSpPr>
        <p:spPr>
          <a:xfrm>
            <a:off x="6702552" y="5806440"/>
            <a:ext cx="4690872" cy="347472"/>
          </a:xfrm>
          <a:prstGeom prst="rect">
            <a:avLst/>
          </a:prstGeom>
          <a:noFill/>
          <a:ln/>
        </p:spPr>
        <p:txBody>
          <a:bodyPr wrap="square" lIns="0" tIns="0" rIns="0" bIns="0" rtlCol="0" anchor="ctr"/>
          <a:lstStyle/>
          <a:p>
            <a:pPr indent="0" marL="0">
              <a:lnSpc>
                <a:spcPct val="92000"/>
              </a:lnSpc>
              <a:buNone/>
            </a:pPr>
            <a:r>
              <a:rPr lang="en-US" sz="1050" dirty="0">
                <a:solidFill>
                  <a:srgbClr val="E7E4FA"/>
                </a:solidFill>
                <a:latin typeface="Calibri" pitchFamily="34" charset="0"/>
                <a:ea typeface="Calibri" pitchFamily="34" charset="-122"/>
                <a:cs typeface="Calibri" pitchFamily="34" charset="-120"/>
              </a:rPr>
              <a:t>Break-even in 18–24 months (8–10 pilots)</a:t>
            </a:r>
            <a:endParaRPr lang="en-US" sz="1050" dirty="0"/>
          </a:p>
        </p:txBody>
      </p:sp>
      <p:sp>
        <p:nvSpPr>
          <p:cNvPr id="52" name="Text 34"/>
          <p:cNvSpPr txBox="1"/>
          <p:nvPr/>
        </p:nvSpPr>
        <p:spPr>
          <a:xfrm>
            <a:off x="603504" y="6528816"/>
            <a:ext cx="6400800" cy="256032"/>
          </a:xfrm>
          <a:prstGeom prst="rect">
            <a:avLst/>
          </a:prstGeom>
          <a:noFill/>
          <a:ln/>
        </p:spPr>
        <p:txBody>
          <a:bodyPr wrap="square" lIns="0" tIns="0" rIns="0" bIns="0" rtlCol="0" anchor="ctr"/>
          <a:lstStyle/>
          <a:p>
            <a:pPr indent="0" marL="0">
              <a:lnSpc>
                <a:spcPct val="100000"/>
              </a:lnSpc>
              <a:buNone/>
            </a:pPr>
            <a:r>
              <a:rPr lang="en-US" sz="850" dirty="0">
                <a:solidFill>
                  <a:srgbClr val="726CA6"/>
                </a:solidFill>
                <a:latin typeface="Calibri" pitchFamily="34" charset="0"/>
                <a:ea typeface="Calibri" pitchFamily="34" charset="-122"/>
                <a:cs typeface="Calibri" pitchFamily="34" charset="-120"/>
              </a:rPr>
              <a:t>J26-SE-363  ·  Progress Presentation 1</a:t>
            </a:r>
            <a:endParaRPr lang="en-US" sz="850" dirty="0"/>
          </a:p>
        </p:txBody>
      </p:sp>
      <p:sp>
        <p:nvSpPr>
          <p:cNvPr id="53" name="Text 35"/>
          <p:cNvSpPr txBox="1"/>
          <p:nvPr/>
        </p:nvSpPr>
        <p:spPr>
          <a:xfrm>
            <a:off x="10972800" y="6528816"/>
            <a:ext cx="640080" cy="256032"/>
          </a:xfrm>
          <a:prstGeom prst="rect">
            <a:avLst/>
          </a:prstGeom>
          <a:noFill/>
          <a:ln/>
        </p:spPr>
        <p:txBody>
          <a:bodyPr wrap="square" lIns="0" tIns="0" rIns="0" bIns="0" rtlCol="0" anchor="ctr"/>
          <a:lstStyle/>
          <a:p>
            <a:pPr algn="r" indent="0" marL="0">
              <a:lnSpc>
                <a:spcPct val="100000"/>
              </a:lnSpc>
              <a:buNone/>
            </a:pPr>
            <a:r>
              <a:rPr lang="en-US" sz="850" dirty="0">
                <a:solidFill>
                  <a:srgbClr val="726CA6"/>
                </a:solidFill>
                <a:latin typeface="Calibri" pitchFamily="34" charset="0"/>
                <a:ea typeface="Calibri" pitchFamily="34" charset="-122"/>
                <a:cs typeface="Calibri" pitchFamily="34" charset="-120"/>
              </a:rPr>
              <a:t>20</a:t>
            </a:r>
            <a:endParaRPr lang="en-US" sz="85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ext 0"/>
          <p:cNvSpPr txBox="1"/>
          <p:nvPr/>
        </p:nvSpPr>
        <p:spPr>
          <a:xfrm>
            <a:off x="594360" y="2286000"/>
            <a:ext cx="7315200" cy="457200"/>
          </a:xfrm>
          <a:prstGeom prst="rect">
            <a:avLst/>
          </a:prstGeom>
          <a:noFill/>
          <a:ln/>
        </p:spPr>
        <p:txBody>
          <a:bodyPr wrap="square" lIns="0" tIns="0" rIns="0" bIns="0" rtlCol="0" anchor="ctr"/>
          <a:lstStyle/>
          <a:p>
            <a:pPr indent="0" marL="0">
              <a:lnSpc>
                <a:spcPct val="100000"/>
              </a:lnSpc>
              <a:buNone/>
            </a:pPr>
            <a:r>
              <a:rPr lang="en-US" sz="1500" b="1" spc="300" kern="0" dirty="0">
                <a:solidFill>
                  <a:srgbClr val="9FE7C9"/>
                </a:solidFill>
                <a:latin typeface="Calibri" pitchFamily="34" charset="0"/>
                <a:ea typeface="Calibri" pitchFamily="34" charset="-122"/>
                <a:cs typeface="Calibri" pitchFamily="34" charset="-120"/>
              </a:rPr>
              <a:t>THANK YOU</a:t>
            </a:r>
            <a:endParaRPr lang="en-US" sz="1500" dirty="0"/>
          </a:p>
        </p:txBody>
      </p:sp>
      <p:sp>
        <p:nvSpPr>
          <p:cNvPr id="3" name="Text 1"/>
          <p:cNvSpPr txBox="1"/>
          <p:nvPr/>
        </p:nvSpPr>
        <p:spPr>
          <a:xfrm>
            <a:off x="566928" y="2697480"/>
            <a:ext cx="10058400" cy="914400"/>
          </a:xfrm>
          <a:prstGeom prst="rect">
            <a:avLst/>
          </a:prstGeom>
          <a:noFill/>
          <a:ln/>
        </p:spPr>
        <p:txBody>
          <a:bodyPr wrap="square" lIns="0" tIns="0" rIns="0" bIns="0" rtlCol="0" anchor="ctr"/>
          <a:lstStyle/>
          <a:p>
            <a:pPr indent="0" marL="0">
              <a:lnSpc>
                <a:spcPct val="100000"/>
              </a:lnSpc>
              <a:buNone/>
            </a:pPr>
            <a:r>
              <a:rPr lang="en-US" sz="4400" b="1" dirty="0">
                <a:solidFill>
                  <a:srgbClr val="FFFFFF"/>
                </a:solidFill>
                <a:latin typeface="Calibri" pitchFamily="34" charset="0"/>
                <a:ea typeface="Calibri" pitchFamily="34" charset="-122"/>
                <a:cs typeface="Calibri" pitchFamily="34" charset="-120"/>
              </a:rPr>
              <a:t>Questions &amp; Discussion</a:t>
            </a:r>
            <a:endParaRPr lang="en-US" sz="4400" dirty="0"/>
          </a:p>
        </p:txBody>
      </p:sp>
      <p:sp>
        <p:nvSpPr>
          <p:cNvPr id="4" name="Text 2"/>
          <p:cNvSpPr txBox="1"/>
          <p:nvPr/>
        </p:nvSpPr>
        <p:spPr>
          <a:xfrm>
            <a:off x="585216" y="3749040"/>
            <a:ext cx="10515600" cy="365760"/>
          </a:xfrm>
          <a:prstGeom prst="rect">
            <a:avLst/>
          </a:prstGeom>
          <a:noFill/>
          <a:ln/>
        </p:spPr>
        <p:txBody>
          <a:bodyPr wrap="square" lIns="0" tIns="0" rIns="0" bIns="0" rtlCol="0" anchor="ctr"/>
          <a:lstStyle/>
          <a:p>
            <a:pPr indent="0" marL="0">
              <a:lnSpc>
                <a:spcPct val="100000"/>
              </a:lnSpc>
              <a:buNone/>
            </a:pPr>
            <a:r>
              <a:rPr lang="en-US" sz="1300" dirty="0">
                <a:solidFill>
                  <a:srgbClr val="CFCBEF"/>
                </a:solidFill>
                <a:latin typeface="Calibri" pitchFamily="34" charset="0"/>
                <a:ea typeface="Calibri" pitchFamily="34" charset="-122"/>
                <a:cs typeface="Calibri" pitchFamily="34" charset="-120"/>
              </a:rPr>
              <a:t>J26-SE-363  ·  A Multi-Agent Generative AI Framework for Project-Based Learning &amp; Lecturer Monitoring</a:t>
            </a:r>
            <a:endParaRPr lang="en-US" sz="1300" dirty="0"/>
          </a:p>
        </p:txBody>
      </p:sp>
      <p:sp>
        <p:nvSpPr>
          <p:cNvPr id="5" name="Shape 3"/>
          <p:cNvSpPr/>
          <p:nvPr/>
        </p:nvSpPr>
        <p:spPr>
          <a:xfrm>
            <a:off x="548640" y="4617720"/>
            <a:ext cx="640080" cy="640080"/>
          </a:xfrm>
          <a:prstGeom prst="ellipse">
            <a:avLst/>
          </a:prstGeom>
          <a:solidFill>
            <a:srgbClr val="1A1640"/>
          </a:solidFill>
          <a:ln w="25400">
            <a:solidFill>
              <a:srgbClr val="A99FF0"/>
            </a:solidFill>
            <a:prstDash val="solid"/>
          </a:ln>
          <a:effectLst>
            <a:outerShdw sx="100000" sy="100000" kx="0" ky="0" algn="bl" rotWithShape="0" blurRad="127000" dist="50800" dir="5400000">
              <a:srgbClr val="4A3DC2">
                <a:alpha val="45000"/>
              </a:srgbClr>
            </a:outerShdw>
          </a:effectLst>
        </p:spPr>
      </p:sp>
      <p:pic>
        <p:nvPicPr>
          <p:cNvPr id="6" name="Image 0" descr="assets/rajapaksha.jpg">    </p:cNvPr>
          <p:cNvPicPr>
            <a:picLocks noChangeAspect="1"/>
          </p:cNvPicPr>
          <p:nvPr/>
        </p:nvPicPr>
        <p:blipFill>
          <a:blip r:embed="rId2"/>
          <a:stretch>
            <a:fillRect/>
          </a:stretch>
        </p:blipFill>
        <p:spPr>
          <a:xfrm>
            <a:off x="594360" y="4663440"/>
            <a:ext cx="548640" cy="548640"/>
          </a:xfrm>
          <a:prstGeom prst="ellipse">
            <a:avLst/>
          </a:prstGeom>
        </p:spPr>
      </p:pic>
      <p:sp>
        <p:nvSpPr>
          <p:cNvPr id="7" name="Shape 4"/>
          <p:cNvSpPr/>
          <p:nvPr/>
        </p:nvSpPr>
        <p:spPr>
          <a:xfrm>
            <a:off x="1207008" y="4617720"/>
            <a:ext cx="640080" cy="640080"/>
          </a:xfrm>
          <a:prstGeom prst="ellipse">
            <a:avLst/>
          </a:prstGeom>
          <a:solidFill>
            <a:srgbClr val="1A1640"/>
          </a:solidFill>
          <a:ln w="25400">
            <a:solidFill>
              <a:srgbClr val="A99FF0"/>
            </a:solidFill>
            <a:prstDash val="solid"/>
          </a:ln>
          <a:effectLst>
            <a:outerShdw sx="100000" sy="100000" kx="0" ky="0" algn="bl" rotWithShape="0" blurRad="127000" dist="50800" dir="5400000">
              <a:srgbClr val="4A3DC2">
                <a:alpha val="45000"/>
              </a:srgbClr>
            </a:outerShdw>
          </a:effectLst>
        </p:spPr>
      </p:sp>
      <p:pic>
        <p:nvPicPr>
          <p:cNvPr id="8" name="Image 1" descr="assets/kumbukage.jpg">    </p:cNvPr>
          <p:cNvPicPr>
            <a:picLocks noChangeAspect="1"/>
          </p:cNvPicPr>
          <p:nvPr/>
        </p:nvPicPr>
        <p:blipFill>
          <a:blip r:embed="rId3"/>
          <a:stretch>
            <a:fillRect/>
          </a:stretch>
        </p:blipFill>
        <p:spPr>
          <a:xfrm>
            <a:off x="1252728" y="4663440"/>
            <a:ext cx="548640" cy="548640"/>
          </a:xfrm>
          <a:prstGeom prst="ellipse">
            <a:avLst/>
          </a:prstGeom>
        </p:spPr>
      </p:pic>
      <p:sp>
        <p:nvSpPr>
          <p:cNvPr id="9" name="Shape 5"/>
          <p:cNvSpPr/>
          <p:nvPr/>
        </p:nvSpPr>
        <p:spPr>
          <a:xfrm>
            <a:off x="1865376" y="4617720"/>
            <a:ext cx="640080" cy="640080"/>
          </a:xfrm>
          <a:prstGeom prst="ellipse">
            <a:avLst/>
          </a:prstGeom>
          <a:solidFill>
            <a:srgbClr val="1A1640"/>
          </a:solidFill>
          <a:ln w="25400">
            <a:solidFill>
              <a:srgbClr val="A99FF0"/>
            </a:solidFill>
            <a:prstDash val="solid"/>
          </a:ln>
          <a:effectLst>
            <a:outerShdw sx="100000" sy="100000" kx="0" ky="0" algn="bl" rotWithShape="0" blurRad="127000" dist="50800" dir="5400000">
              <a:srgbClr val="4A3DC2">
                <a:alpha val="45000"/>
              </a:srgbClr>
            </a:outerShdw>
          </a:effectLst>
        </p:spPr>
      </p:sp>
      <p:pic>
        <p:nvPicPr>
          <p:cNvPr id="10" name="Image 2" descr="assets/ekanayake.jpg">    </p:cNvPr>
          <p:cNvPicPr>
            <a:picLocks noChangeAspect="1"/>
          </p:cNvPicPr>
          <p:nvPr/>
        </p:nvPicPr>
        <p:blipFill>
          <a:blip r:embed="rId4"/>
          <a:stretch>
            <a:fillRect/>
          </a:stretch>
        </p:blipFill>
        <p:spPr>
          <a:xfrm>
            <a:off x="1911096" y="4663440"/>
            <a:ext cx="548640" cy="548640"/>
          </a:xfrm>
          <a:prstGeom prst="ellipse">
            <a:avLst/>
          </a:prstGeom>
        </p:spPr>
      </p:pic>
      <p:sp>
        <p:nvSpPr>
          <p:cNvPr id="11" name="Shape 6"/>
          <p:cNvSpPr/>
          <p:nvPr/>
        </p:nvSpPr>
        <p:spPr>
          <a:xfrm>
            <a:off x="2523744" y="4617720"/>
            <a:ext cx="640080" cy="640080"/>
          </a:xfrm>
          <a:prstGeom prst="ellipse">
            <a:avLst/>
          </a:prstGeom>
          <a:solidFill>
            <a:srgbClr val="1A1640"/>
          </a:solidFill>
          <a:ln w="25400">
            <a:solidFill>
              <a:srgbClr val="A99FF0"/>
            </a:solidFill>
            <a:prstDash val="solid"/>
          </a:ln>
          <a:effectLst>
            <a:outerShdw sx="100000" sy="100000" kx="0" ky="0" algn="bl" rotWithShape="0" blurRad="127000" dist="50800" dir="5400000">
              <a:srgbClr val="4A3DC2">
                <a:alpha val="45000"/>
              </a:srgbClr>
            </a:outerShdw>
          </a:effectLst>
        </p:spPr>
      </p:sp>
      <p:pic>
        <p:nvPicPr>
          <p:cNvPr id="12" name="Image 3" descr="assets/croos.jpg">    </p:cNvPr>
          <p:cNvPicPr>
            <a:picLocks noChangeAspect="1"/>
          </p:cNvPicPr>
          <p:nvPr/>
        </p:nvPicPr>
        <p:blipFill>
          <a:blip r:embed="rId5"/>
          <a:stretch>
            <a:fillRect/>
          </a:stretch>
        </p:blipFill>
        <p:spPr>
          <a:xfrm>
            <a:off x="2569464" y="4663440"/>
            <a:ext cx="548640" cy="548640"/>
          </a:xfrm>
          <a:prstGeom prst="ellipse">
            <a:avLst/>
          </a:prstGeom>
        </p:spPr>
      </p:pic>
      <p:sp>
        <p:nvSpPr>
          <p:cNvPr id="13" name="Text 7"/>
          <p:cNvSpPr txBox="1"/>
          <p:nvPr/>
        </p:nvSpPr>
        <p:spPr>
          <a:xfrm>
            <a:off x="594360" y="5440680"/>
            <a:ext cx="10058400" cy="274320"/>
          </a:xfrm>
          <a:prstGeom prst="rect">
            <a:avLst/>
          </a:prstGeom>
          <a:noFill/>
          <a:ln/>
        </p:spPr>
        <p:txBody>
          <a:bodyPr wrap="square" lIns="0" tIns="0" rIns="0" bIns="0" rtlCol="0" anchor="ctr"/>
          <a:lstStyle/>
          <a:p>
            <a:pPr indent="0" marL="0">
              <a:lnSpc>
                <a:spcPct val="100000"/>
              </a:lnSpc>
              <a:buNone/>
            </a:pPr>
            <a:r>
              <a:rPr lang="en-US" sz="1100" dirty="0">
                <a:solidFill>
                  <a:srgbClr val="B9B5DE"/>
                </a:solidFill>
                <a:latin typeface="Calibri" pitchFamily="34" charset="0"/>
                <a:ea typeface="Calibri" pitchFamily="34" charset="-122"/>
                <a:cs typeface="Calibri" pitchFamily="34" charset="-120"/>
              </a:rPr>
              <a:t>Supervisor: Dr. Kalpani Manathunga   ·   Co-Supervisor: Ms. Aparna Jayawardane</a:t>
            </a:r>
            <a:endParaRPr lang="en-US" sz="11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21</Slides>
  <Notes>21</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21</vt:i4>
      </vt:variant>
    </vt:vector>
  </HeadingPairs>
  <TitlesOfParts>
    <vt:vector size="24"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2026-10-21T17:09:12Z</dcterms:created>
  <dcterms:modified xsi:type="dcterms:W3CDTF">2026-10-21T17:09:12Z</dcterms:modified>
</cp:coreProperties>
</file>